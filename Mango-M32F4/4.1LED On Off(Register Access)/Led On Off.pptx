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308" r:id="rId2"/>
    <p:sldId id="331" r:id="rId3"/>
    <p:sldId id="332" r:id="rId4"/>
    <p:sldId id="333" r:id="rId5"/>
    <p:sldId id="334" r:id="rId6"/>
    <p:sldId id="335" r:id="rId7"/>
    <p:sldId id="336" r:id="rId8"/>
    <p:sldId id="309" r:id="rId9"/>
    <p:sldId id="310" r:id="rId10"/>
    <p:sldId id="320" r:id="rId11"/>
    <p:sldId id="321" r:id="rId12"/>
    <p:sldId id="322" r:id="rId13"/>
    <p:sldId id="337" r:id="rId14"/>
    <p:sldId id="338" r:id="rId15"/>
    <p:sldId id="327" r:id="rId16"/>
    <p:sldId id="326" r:id="rId17"/>
    <p:sldId id="339" r:id="rId18"/>
    <p:sldId id="329" r:id="rId19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Led On Off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연결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3D584F-7035-0685-850A-6C34A952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7" y="1124744"/>
            <a:ext cx="8752265" cy="467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STM32CubeIDE </a:t>
            </a:r>
            <a:r>
              <a:rPr lang="ko-KR" altLang="en-US" dirty="0"/>
              <a:t>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DD394-30DD-195E-FD76-041C612E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10" y="1340768"/>
            <a:ext cx="6912808" cy="311019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040FF-5E50-5589-415F-828520A45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Default Directory </a:t>
            </a:r>
            <a:r>
              <a:rPr lang="ko-KR" altLang="en-US" dirty="0"/>
              <a:t>지정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380FC1-9518-23F0-55B4-97596FC8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8064896" cy="530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1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03745D-2452-7C9B-2B4D-A9F3378C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30038"/>
            <a:ext cx="5256584" cy="45982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769E8E-CE84-1AFE-65C9-7D32344E7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STM32CubeIDE Empty Project </a:t>
            </a:r>
            <a:r>
              <a:rPr lang="ko-KR" altLang="en-US" dirty="0"/>
              <a:t>선택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6880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</a:t>
            </a:r>
            <a:r>
              <a:rPr lang="ko-KR" altLang="en-US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2720F8-0CE2-AC10-3B75-B47FDC18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81" y="1338524"/>
            <a:ext cx="8295238" cy="418095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6B209-1815-17F0-6741-6F815FC7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STM32F407ZET6 LQFP144</a:t>
            </a:r>
          </a:p>
        </p:txBody>
      </p:sp>
    </p:spTree>
    <p:extLst>
      <p:ext uri="{BB962C8B-B14F-4D97-AF65-F5344CB8AC3E}">
        <p14:creationId xmlns:p14="http://schemas.microsoft.com/office/powerpoint/2010/main" val="74101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Name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7D5AE5-BAE8-2D5C-3B1D-30E8508A2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333333" cy="50285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C326F-3BD6-B908-232E-885E0A408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Test_01_LED_Control</a:t>
            </a:r>
          </a:p>
        </p:txBody>
      </p:sp>
    </p:spTree>
    <p:extLst>
      <p:ext uri="{BB962C8B-B14F-4D97-AF65-F5344CB8AC3E}">
        <p14:creationId xmlns:p14="http://schemas.microsoft.com/office/powerpoint/2010/main" val="109823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회로 및 보드 위치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996EDD-12EB-2912-2C2E-6987D0A35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" y="759666"/>
            <a:ext cx="8523809" cy="16095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BAC161-332A-F0B7-E552-281AE0F1A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707" y="2536367"/>
            <a:ext cx="5230436" cy="3867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program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int main(void)</a:t>
            </a:r>
          </a:p>
          <a:p>
            <a:pPr>
              <a:buNone/>
            </a:pPr>
            <a:r>
              <a:rPr lang="en-US" altLang="ko-KR" dirty="0"/>
              <a:t>{</a:t>
            </a:r>
          </a:p>
          <a:p>
            <a:pPr>
              <a:buNone/>
            </a:pPr>
            <a:r>
              <a:rPr lang="en-US" altLang="ko-KR" b="1" dirty="0"/>
              <a:t>    </a:t>
            </a:r>
            <a:r>
              <a:rPr lang="it-IT" altLang="ko-KR" b="1" dirty="0"/>
              <a:t>(*(volatile unsigned *)0x40023830) |= 0x20;</a:t>
            </a:r>
          </a:p>
          <a:p>
            <a:pPr>
              <a:buNone/>
            </a:pPr>
            <a:r>
              <a:rPr lang="it-IT" altLang="ko-KR" b="1" dirty="0"/>
              <a:t>    (*(volatile unsigned *)0x40021400) |= 0x1000;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    /* Loop forever */</a:t>
            </a:r>
          </a:p>
          <a:p>
            <a:pPr>
              <a:buNone/>
            </a:pPr>
            <a:r>
              <a:rPr lang="en-US" altLang="ko-KR" dirty="0"/>
              <a:t>	for(;;);</a:t>
            </a:r>
          </a:p>
          <a:p>
            <a:pPr>
              <a:buNone/>
            </a:pPr>
            <a:r>
              <a:rPr lang="en-US" altLang="ko-KR"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Peripheral Memory Map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D59F87-863A-64E6-C9C4-5D37CCAD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12776"/>
            <a:ext cx="7409524" cy="44285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5C8FC-9C49-69A1-D798-817718A5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RCC, GPIOF </a:t>
            </a:r>
            <a:r>
              <a:rPr lang="ko-KR" altLang="en-US" dirty="0"/>
              <a:t>레지스터</a:t>
            </a:r>
            <a:endParaRPr lang="en-US" alt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AHB1 - GPIOF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C4DCAF-4153-C6B4-BCA7-1A2CBBB5F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6" y="980728"/>
            <a:ext cx="8095238" cy="5295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Reset and clock control (RCC) </a:t>
            </a:r>
            <a:r>
              <a:rPr lang="ko-KR" altLang="en-US" dirty="0"/>
              <a:t>레지스터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APB2 peripheral clock enable register (RCC_AHB1ENR)</a:t>
            </a:r>
          </a:p>
          <a:p>
            <a:pPr lvl="1"/>
            <a:r>
              <a:rPr lang="en-US" altLang="ko-KR" dirty="0"/>
              <a:t>Address: 0x30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IO Port F</a:t>
            </a:r>
            <a:r>
              <a:rPr lang="ko-KR" altLang="en-US" dirty="0"/>
              <a:t>를 나타내는 것은 </a:t>
            </a:r>
            <a:r>
              <a:rPr lang="en-US" altLang="ko-KR" dirty="0"/>
              <a:t>5</a:t>
            </a:r>
            <a:r>
              <a:rPr lang="ko-KR" altLang="en-US" dirty="0"/>
              <a:t>번 비트</a:t>
            </a:r>
            <a:endParaRPr lang="en-US" altLang="ko-KR" dirty="0"/>
          </a:p>
          <a:p>
            <a:r>
              <a:rPr lang="en-US" altLang="ko-KR" dirty="0"/>
              <a:t>Bit 5 GPIOFEN: IO port F clock enable</a:t>
            </a:r>
          </a:p>
          <a:p>
            <a:pPr lvl="1"/>
            <a:r>
              <a:rPr lang="en-US" altLang="ko-KR" dirty="0"/>
              <a:t>0: IO port F clock disabled</a:t>
            </a:r>
          </a:p>
          <a:p>
            <a:pPr lvl="1"/>
            <a:r>
              <a:rPr lang="en-US" altLang="ko-KR" dirty="0"/>
              <a:t>1: IO port F clock enabled</a:t>
            </a:r>
          </a:p>
          <a:p>
            <a:r>
              <a:rPr lang="en-US" altLang="ko-KR" dirty="0"/>
              <a:t>GPIO F</a:t>
            </a:r>
            <a:r>
              <a:rPr lang="ko-KR" altLang="en-US" dirty="0"/>
              <a:t>를 사용하기 위해서 이것에 </a:t>
            </a:r>
            <a:r>
              <a:rPr lang="en-US" altLang="ko-KR" dirty="0"/>
              <a:t>Clock</a:t>
            </a:r>
            <a:r>
              <a:rPr lang="ko-KR" altLang="en-US" dirty="0"/>
              <a:t>을 공급할 수 있도록 </a:t>
            </a:r>
            <a:r>
              <a:rPr lang="en-US" altLang="ko-KR" dirty="0"/>
              <a:t>enable </a:t>
            </a:r>
            <a:r>
              <a:rPr lang="ko-KR" altLang="en-US" dirty="0"/>
              <a:t>시키려고 하는 것이고 이것이 </a:t>
            </a:r>
            <a:r>
              <a:rPr lang="en-US" altLang="ko-KR" dirty="0"/>
              <a:t>RCC_AHB1ENR </a:t>
            </a:r>
            <a:r>
              <a:rPr lang="ko-KR" altLang="en-US" dirty="0"/>
              <a:t>레지스터의 </a:t>
            </a:r>
            <a:r>
              <a:rPr lang="en-US" altLang="ko-KR" dirty="0"/>
              <a:t>5</a:t>
            </a:r>
            <a:r>
              <a:rPr lang="ko-KR" altLang="en-US" dirty="0"/>
              <a:t>번 비트를 </a:t>
            </a:r>
            <a:r>
              <a:rPr lang="en-US" altLang="ko-KR" dirty="0"/>
              <a:t>1</a:t>
            </a:r>
            <a:r>
              <a:rPr lang="ko-KR" altLang="en-US" dirty="0"/>
              <a:t>로 설정하는 것이다</a:t>
            </a:r>
            <a:r>
              <a:rPr lang="en-US" altLang="ko-KR" dirty="0"/>
              <a:t>. </a:t>
            </a:r>
            <a:r>
              <a:rPr lang="en-US" altLang="ko-KR" b="1" u="sng" dirty="0">
                <a:solidFill>
                  <a:srgbClr val="C00000"/>
                </a:solidFill>
              </a:rPr>
              <a:t>5</a:t>
            </a:r>
            <a:r>
              <a:rPr lang="ko-KR" altLang="en-US" b="1" u="sng" dirty="0">
                <a:solidFill>
                  <a:srgbClr val="C00000"/>
                </a:solidFill>
              </a:rPr>
              <a:t>번 비트를 </a:t>
            </a:r>
            <a:r>
              <a:rPr lang="en-US" altLang="ko-KR" b="1" u="sng" dirty="0">
                <a:solidFill>
                  <a:srgbClr val="C00000"/>
                </a:solidFill>
              </a:rPr>
              <a:t>1</a:t>
            </a:r>
            <a:r>
              <a:rPr lang="ko-KR" altLang="en-US" b="1" u="sng" dirty="0">
                <a:solidFill>
                  <a:srgbClr val="C00000"/>
                </a:solidFill>
              </a:rPr>
              <a:t>로 만들기 위해서 </a:t>
            </a:r>
            <a:r>
              <a:rPr lang="en-US" altLang="ko-KR" b="1" u="sng" dirty="0">
                <a:solidFill>
                  <a:srgbClr val="C00000"/>
                </a:solidFill>
              </a:rPr>
              <a:t>0x20</a:t>
            </a:r>
            <a:r>
              <a:rPr lang="ko-KR" altLang="en-US" b="1" u="sng" dirty="0">
                <a:solidFill>
                  <a:srgbClr val="C00000"/>
                </a:solidFill>
              </a:rPr>
              <a:t>을 </a:t>
            </a:r>
            <a:r>
              <a:rPr lang="en-US" altLang="ko-KR" b="1" u="sng" dirty="0">
                <a:solidFill>
                  <a:srgbClr val="C00000"/>
                </a:solidFill>
              </a:rPr>
              <a:t>OR </a:t>
            </a:r>
            <a:r>
              <a:rPr lang="ko-KR" altLang="en-US" b="1" u="sng" dirty="0">
                <a:solidFill>
                  <a:srgbClr val="C00000"/>
                </a:solidFill>
              </a:rPr>
              <a:t>연산</a:t>
            </a:r>
            <a:r>
              <a:rPr lang="ko-KR" altLang="en-US" dirty="0"/>
              <a:t> 하는 것이다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312475-6FDF-B740-CB23-94F829C0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89" y="1484784"/>
            <a:ext cx="7001379" cy="1705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GPIO port mode register (</a:t>
            </a:r>
            <a:r>
              <a:rPr lang="en-US" altLang="ko-KR" dirty="0" err="1"/>
              <a:t>GPIOx_MODER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140968"/>
            <a:ext cx="8858250" cy="3288428"/>
          </a:xfrm>
        </p:spPr>
        <p:txBody>
          <a:bodyPr/>
          <a:lstStyle/>
          <a:p>
            <a:r>
              <a:rPr lang="en-US" altLang="ko-KR" dirty="0" err="1"/>
              <a:t>MODERy</a:t>
            </a:r>
            <a:r>
              <a:rPr lang="en-US" altLang="ko-KR" dirty="0"/>
              <a:t>[1:0]: Port x configuration bits (y = 0..15)</a:t>
            </a:r>
          </a:p>
          <a:p>
            <a:pPr lvl="1"/>
            <a:r>
              <a:rPr lang="en-US" altLang="ko-KR" dirty="0"/>
              <a:t>00: Input (reset state)</a:t>
            </a:r>
          </a:p>
          <a:p>
            <a:pPr lvl="1"/>
            <a:r>
              <a:rPr lang="en-US" altLang="ko-KR" b="1" dirty="0">
                <a:solidFill>
                  <a:srgbClr val="0000FF"/>
                </a:solidFill>
              </a:rPr>
              <a:t>01: General purpose output mode</a:t>
            </a:r>
          </a:p>
          <a:p>
            <a:pPr lvl="1"/>
            <a:r>
              <a:rPr lang="en-US" altLang="ko-KR" dirty="0"/>
              <a:t>10: Alternate function mode</a:t>
            </a:r>
          </a:p>
          <a:p>
            <a:pPr lvl="1"/>
            <a:r>
              <a:rPr lang="en-US" altLang="ko-KR" dirty="0"/>
              <a:t>11: Analog mode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5B2065-4E59-023C-EE1C-AF38368C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30" y="1015513"/>
            <a:ext cx="8476190" cy="1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9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LED1 Green On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D66195-864B-1113-42AE-DF08A02A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8524"/>
            <a:ext cx="6419048" cy="3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9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Off ...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780928"/>
            <a:ext cx="8858250" cy="3648468"/>
          </a:xfrm>
        </p:spPr>
        <p:txBody>
          <a:bodyPr/>
          <a:lstStyle/>
          <a:p>
            <a:r>
              <a:rPr lang="en-US" altLang="ko-KR" dirty="0"/>
              <a:t>LED</a:t>
            </a:r>
            <a:r>
              <a:rPr lang="ko-KR" altLang="en-US" dirty="0"/>
              <a:t>의 한쪽은 </a:t>
            </a:r>
            <a:r>
              <a:rPr lang="en-US" altLang="ko-KR" dirty="0"/>
              <a:t>VDD 3.3 V</a:t>
            </a:r>
            <a:r>
              <a:rPr lang="ko-KR" altLang="en-US" dirty="0"/>
              <a:t>에 연결</a:t>
            </a:r>
            <a:r>
              <a:rPr lang="en-US" altLang="ko-KR" dirty="0"/>
              <a:t>, </a:t>
            </a:r>
            <a:r>
              <a:rPr lang="ko-KR" altLang="en-US" dirty="0"/>
              <a:t>다른 한쪽은 </a:t>
            </a:r>
            <a:r>
              <a:rPr lang="en-US" altLang="ko-KR" dirty="0"/>
              <a:t>STM32 CPU</a:t>
            </a:r>
            <a:r>
              <a:rPr lang="ko-KR" altLang="en-US" dirty="0"/>
              <a:t>에 연결</a:t>
            </a:r>
            <a:endParaRPr lang="en-US" altLang="ko-KR" dirty="0"/>
          </a:p>
          <a:p>
            <a:r>
              <a:rPr lang="ko-KR" altLang="en-US" dirty="0"/>
              <a:t>핀에 </a:t>
            </a:r>
            <a:r>
              <a:rPr lang="en-US" altLang="ko-KR" dirty="0"/>
              <a:t>0</a:t>
            </a:r>
            <a:r>
              <a:rPr lang="ko-KR" altLang="en-US" dirty="0"/>
              <a:t>이 인가되어야 </a:t>
            </a:r>
            <a:r>
              <a:rPr lang="en-US" altLang="ko-KR" dirty="0"/>
              <a:t>VDD 3.3 V</a:t>
            </a:r>
            <a:r>
              <a:rPr lang="ko-KR" altLang="en-US" dirty="0"/>
              <a:t>에서 시작된 전류가 </a:t>
            </a:r>
            <a:r>
              <a:rPr lang="en-US" altLang="ko-KR" dirty="0"/>
              <a:t>LED</a:t>
            </a:r>
            <a:r>
              <a:rPr lang="ko-KR" altLang="en-US" dirty="0"/>
              <a:t>를 타고 흐르게 되고 그것이 </a:t>
            </a:r>
            <a:r>
              <a:rPr lang="en-US" altLang="ko-KR" dirty="0"/>
              <a:t>LED</a:t>
            </a:r>
            <a:r>
              <a:rPr lang="ko-KR" altLang="en-US" dirty="0"/>
              <a:t>의 불을 들어오게 만드는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반대로 전기가 흐르지 않게 만들어야 </a:t>
            </a:r>
            <a:r>
              <a:rPr lang="en-US" altLang="ko-KR" dirty="0"/>
              <a:t>LED</a:t>
            </a:r>
            <a:r>
              <a:rPr lang="ko-KR" altLang="en-US" dirty="0"/>
              <a:t>를 끌 수 있는 것이다</a:t>
            </a:r>
            <a:r>
              <a:rPr lang="en-US" altLang="ko-KR" dirty="0"/>
              <a:t>. </a:t>
            </a:r>
            <a:r>
              <a:rPr lang="ko-KR" altLang="en-US" dirty="0"/>
              <a:t>그러려면 </a:t>
            </a:r>
            <a:r>
              <a:rPr lang="en-US" altLang="ko-KR" dirty="0"/>
              <a:t>1</a:t>
            </a:r>
            <a:r>
              <a:rPr lang="ko-KR" altLang="en-US" dirty="0"/>
              <a:t>을 인가해야 한다</a:t>
            </a:r>
            <a:r>
              <a:rPr lang="en-US" altLang="ko-KR" dirty="0"/>
              <a:t>.</a:t>
            </a:r>
          </a:p>
          <a:p>
            <a:r>
              <a:rPr lang="en-US" altLang="ko-KR" b="1" u="sng" dirty="0">
                <a:solidFill>
                  <a:srgbClr val="0000FF"/>
                </a:solidFill>
              </a:rPr>
              <a:t>GPIO</a:t>
            </a:r>
            <a:r>
              <a:rPr lang="ko-KR" altLang="en-US" b="1" u="sng" dirty="0">
                <a:solidFill>
                  <a:srgbClr val="0000FF"/>
                </a:solidFill>
              </a:rPr>
              <a:t>의 특정 핀에 </a:t>
            </a:r>
            <a:r>
              <a:rPr lang="en-US" altLang="ko-KR" b="1" u="sng" dirty="0">
                <a:solidFill>
                  <a:srgbClr val="0000FF"/>
                </a:solidFill>
              </a:rPr>
              <a:t>1</a:t>
            </a:r>
            <a:r>
              <a:rPr lang="ko-KR" altLang="en-US" b="1" u="sng" dirty="0">
                <a:solidFill>
                  <a:srgbClr val="0000FF"/>
                </a:solidFill>
              </a:rPr>
              <a:t>을 넣는 것을 </a:t>
            </a:r>
            <a:r>
              <a:rPr lang="en-US" altLang="ko-KR" b="1" u="sng" dirty="0">
                <a:solidFill>
                  <a:srgbClr val="0000FF"/>
                </a:solidFill>
              </a:rPr>
              <a:t>Set</a:t>
            </a:r>
            <a:r>
              <a:rPr lang="ko-KR" altLang="en-US" b="1" u="sng" dirty="0">
                <a:solidFill>
                  <a:srgbClr val="0000FF"/>
                </a:solidFill>
              </a:rPr>
              <a:t>이라 부르고</a:t>
            </a:r>
            <a:r>
              <a:rPr lang="en-US" altLang="ko-KR" b="1" u="sng" dirty="0">
                <a:solidFill>
                  <a:srgbClr val="0000FF"/>
                </a:solidFill>
              </a:rPr>
              <a:t>, 0</a:t>
            </a:r>
            <a:r>
              <a:rPr lang="ko-KR" altLang="en-US" b="1" u="sng" dirty="0">
                <a:solidFill>
                  <a:srgbClr val="0000FF"/>
                </a:solidFill>
              </a:rPr>
              <a:t>을 넣는 것을 </a:t>
            </a:r>
            <a:r>
              <a:rPr lang="en-US" altLang="ko-KR" b="1" u="sng" dirty="0">
                <a:solidFill>
                  <a:srgbClr val="0000FF"/>
                </a:solidFill>
              </a:rPr>
              <a:t>Reset</a:t>
            </a:r>
            <a:r>
              <a:rPr lang="ko-KR" altLang="en-US" b="1" u="sng" dirty="0">
                <a:solidFill>
                  <a:srgbClr val="0000FF"/>
                </a:solidFill>
              </a:rPr>
              <a:t>이라고 부른다</a:t>
            </a:r>
            <a:r>
              <a:rPr lang="en-US" altLang="ko-KR" b="1" u="sng" dirty="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DB8669-BB94-0A2A-3198-06ED2928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" y="759666"/>
            <a:ext cx="8523809" cy="16095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Off Test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956319"/>
          </a:xfrm>
        </p:spPr>
        <p:txBody>
          <a:bodyPr/>
          <a:lstStyle/>
          <a:p>
            <a:pPr>
              <a:buNone/>
            </a:pPr>
            <a:r>
              <a:rPr lang="en-US" altLang="ko-KR" sz="1800" dirty="0"/>
              <a:t>static void delay_int_count(</a:t>
            </a:r>
            <a:r>
              <a:rPr lang="en-US" altLang="ko-KR" sz="1800" b="1" dirty="0">
                <a:solidFill>
                  <a:srgbClr val="0000FF"/>
                </a:solidFill>
              </a:rPr>
              <a:t>volatile</a:t>
            </a:r>
            <a:r>
              <a:rPr lang="en-US" altLang="ko-KR" sz="1800" dirty="0"/>
              <a:t> unsigned int </a:t>
            </a:r>
            <a:r>
              <a:rPr lang="en-US" altLang="ko-KR" sz="1800" dirty="0" err="1"/>
              <a:t>nTime</a:t>
            </a:r>
            <a:r>
              <a:rPr lang="en-US" altLang="ko-KR" sz="1800" dirty="0"/>
              <a:t>)</a:t>
            </a:r>
          </a:p>
          <a:p>
            <a:pPr>
              <a:buNone/>
            </a:pPr>
            <a:r>
              <a:rPr lang="en-US" altLang="ko-KR" sz="1800" dirty="0"/>
              <a:t>{</a:t>
            </a:r>
          </a:p>
          <a:p>
            <a:pPr>
              <a:buNone/>
            </a:pPr>
            <a:r>
              <a:rPr lang="en-US" altLang="ko-KR" sz="1800" dirty="0"/>
              <a:t>    for(; </a:t>
            </a:r>
            <a:r>
              <a:rPr lang="en-US" altLang="ko-KR" sz="1800" dirty="0" err="1"/>
              <a:t>nTime</a:t>
            </a:r>
            <a:r>
              <a:rPr lang="en-US" altLang="ko-KR" sz="1800" dirty="0"/>
              <a:t> &gt; 0; </a:t>
            </a:r>
            <a:r>
              <a:rPr lang="en-US" altLang="ko-KR" sz="1800" dirty="0" err="1"/>
              <a:t>nTime</a:t>
            </a:r>
            <a:r>
              <a:rPr lang="en-US" altLang="ko-KR" sz="1800" dirty="0"/>
              <a:t>--);</a:t>
            </a:r>
          </a:p>
          <a:p>
            <a:pPr>
              <a:buNone/>
            </a:pPr>
            <a:r>
              <a:rPr lang="en-US" altLang="ko-KR" sz="1800" dirty="0"/>
              <a:t>}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int main(void)</a:t>
            </a:r>
          </a:p>
          <a:p>
            <a:pPr>
              <a:buNone/>
            </a:pPr>
            <a:r>
              <a:rPr lang="en-US" altLang="ko-KR" sz="1800" dirty="0"/>
              <a:t>{</a:t>
            </a:r>
          </a:p>
          <a:p>
            <a:pPr>
              <a:buNone/>
            </a:pPr>
            <a:r>
              <a:rPr lang="en-US" altLang="ko-KR" sz="1800" dirty="0"/>
              <a:t>    (*(volatile unsigned *)0x40023830) |= 0x20;</a:t>
            </a:r>
          </a:p>
          <a:p>
            <a:pPr>
              <a:buNone/>
            </a:pPr>
            <a:r>
              <a:rPr lang="en-US" altLang="ko-KR" sz="1800" dirty="0"/>
              <a:t>    (*(volatile unsigned *)0x40021400) |= 0x1000;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delay_int_count</a:t>
            </a:r>
            <a:r>
              <a:rPr lang="en-US" altLang="ko-KR" sz="1800" dirty="0"/>
              <a:t>(806596);  // about 1 second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</a:rPr>
              <a:t>    (*(volatile unsigned *)0x40021418) |= 0x40;</a:t>
            </a:r>
          </a:p>
          <a:p>
            <a:pPr>
              <a:buNone/>
            </a:pPr>
            <a:endParaRPr lang="en-US" altLang="ko-KR" sz="1800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delay_int_count</a:t>
            </a:r>
            <a:r>
              <a:rPr lang="en-US" altLang="ko-KR" sz="1800" dirty="0"/>
              <a:t>(806596);  // about 1 second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</a:rPr>
              <a:t>    (*(volatile unsigned *)0x40021418) |= 0x400000;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	for(;;);</a:t>
            </a:r>
          </a:p>
          <a:p>
            <a:pPr>
              <a:buNone/>
            </a:pPr>
            <a:r>
              <a:rPr lang="en-US" altLang="ko-KR" sz="1800" dirty="0"/>
              <a:t>}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Port bit Set Reset register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071810"/>
            <a:ext cx="8858250" cy="3357586"/>
          </a:xfrm>
        </p:spPr>
        <p:txBody>
          <a:bodyPr/>
          <a:lstStyle/>
          <a:p>
            <a:r>
              <a:rPr lang="en-US" altLang="ko-KR" dirty="0"/>
              <a:t>GPIO port bit set/reset register (</a:t>
            </a:r>
            <a:r>
              <a:rPr lang="en-US" altLang="ko-KR" dirty="0" err="1"/>
              <a:t>GPIOx_BSRR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Address offset: 0x18, Reset value: 0x0000 0000</a:t>
            </a:r>
          </a:p>
          <a:p>
            <a:r>
              <a:rPr lang="en-US" altLang="ko-KR" dirty="0"/>
              <a:t>0x40021400 GPIO Port F base +</a:t>
            </a:r>
            <a:r>
              <a:rPr lang="ko-KR" altLang="en-US" dirty="0"/>
              <a:t> </a:t>
            </a:r>
            <a:r>
              <a:rPr lang="en-US" altLang="ko-KR" dirty="0"/>
              <a:t>address offset 0x18</a:t>
            </a:r>
          </a:p>
          <a:p>
            <a:r>
              <a:rPr lang="ko-KR" altLang="en-US" dirty="0"/>
              <a:t>왜 </a:t>
            </a:r>
            <a:r>
              <a:rPr lang="en-US" altLang="ko-KR" dirty="0"/>
              <a:t>Set Reset </a:t>
            </a:r>
            <a:r>
              <a:rPr lang="ko-KR" altLang="en-US" dirty="0"/>
              <a:t>레지스터일까</a:t>
            </a:r>
            <a:r>
              <a:rPr lang="en-US" altLang="ko-KR" dirty="0"/>
              <a:t>? </a:t>
            </a:r>
            <a:r>
              <a:rPr lang="ko-KR" altLang="en-US" b="1" u="sng" dirty="0">
                <a:solidFill>
                  <a:srgbClr val="C00000"/>
                </a:solidFill>
              </a:rPr>
              <a:t>이 레지스터 하나로 </a:t>
            </a:r>
            <a:r>
              <a:rPr lang="en-US" altLang="ko-KR" b="1" u="sng" dirty="0">
                <a:solidFill>
                  <a:srgbClr val="C00000"/>
                </a:solidFill>
              </a:rPr>
              <a:t>Set</a:t>
            </a:r>
            <a:r>
              <a:rPr lang="ko-KR" altLang="en-US" b="1" u="sng" dirty="0">
                <a:solidFill>
                  <a:srgbClr val="C00000"/>
                </a:solidFill>
              </a:rPr>
              <a:t>도 처리하고 </a:t>
            </a:r>
            <a:r>
              <a:rPr lang="en-US" altLang="ko-KR" b="1" u="sng" dirty="0">
                <a:solidFill>
                  <a:srgbClr val="C00000"/>
                </a:solidFill>
              </a:rPr>
              <a:t>Reset</a:t>
            </a:r>
            <a:r>
              <a:rPr lang="ko-KR" altLang="en-US" b="1" u="sng" dirty="0">
                <a:solidFill>
                  <a:srgbClr val="C00000"/>
                </a:solidFill>
              </a:rPr>
              <a:t>도 처리할 수 있다</a:t>
            </a:r>
            <a:r>
              <a:rPr lang="en-US" altLang="ko-KR" b="1" u="sng" dirty="0">
                <a:solidFill>
                  <a:srgbClr val="C00000"/>
                </a:solidFill>
              </a:rPr>
              <a:t>.</a:t>
            </a:r>
          </a:p>
          <a:p>
            <a:r>
              <a:rPr lang="en-US" altLang="ko-KR" dirty="0"/>
              <a:t>(*(volatile unsigned *) 0x40021418) |= 0x40; </a:t>
            </a:r>
            <a:r>
              <a:rPr lang="ko-KR" altLang="en-US" dirty="0"/>
              <a:t>처리는 결국 </a:t>
            </a:r>
            <a:r>
              <a:rPr lang="en-US" altLang="ko-KR" dirty="0"/>
              <a:t>6</a:t>
            </a:r>
            <a:r>
              <a:rPr lang="ko-KR" altLang="en-US" dirty="0"/>
              <a:t>번 비트를 </a:t>
            </a:r>
            <a:r>
              <a:rPr lang="en-US" altLang="ko-KR" dirty="0"/>
              <a:t>1</a:t>
            </a:r>
            <a:r>
              <a:rPr lang="ko-KR" altLang="en-US" dirty="0"/>
              <a:t>로 만들어서 </a:t>
            </a:r>
            <a:r>
              <a:rPr lang="en-US" altLang="ko-KR" dirty="0"/>
              <a:t>Set </a:t>
            </a:r>
            <a:r>
              <a:rPr lang="ko-KR" altLang="en-US" dirty="0"/>
              <a:t>작업을 수행하는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작업으로 인해서 </a:t>
            </a:r>
            <a:r>
              <a:rPr lang="en-US" altLang="ko-KR" dirty="0"/>
              <a:t>LED</a:t>
            </a:r>
            <a:r>
              <a:rPr lang="ko-KR" altLang="en-US" dirty="0"/>
              <a:t>가 꺼지게 되는 것이다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37E63B-4648-2182-9D4D-C67B9B46F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4" y="1048037"/>
            <a:ext cx="8561905" cy="1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42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Port bit Set Reset register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071810"/>
            <a:ext cx="8858250" cy="3357586"/>
          </a:xfrm>
        </p:spPr>
        <p:txBody>
          <a:bodyPr/>
          <a:lstStyle/>
          <a:p>
            <a:r>
              <a:rPr lang="en-US" altLang="ko-KR" dirty="0"/>
              <a:t>GPIO port bit set/reset register (</a:t>
            </a:r>
            <a:r>
              <a:rPr lang="en-US" altLang="ko-KR" dirty="0" err="1"/>
              <a:t>GPIOx_BSRR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Address offset: 0x18, Reset value: 0x0000 0000</a:t>
            </a:r>
          </a:p>
          <a:p>
            <a:r>
              <a:rPr lang="en-US" altLang="ko-KR" dirty="0"/>
              <a:t>0x40021400 GPIO Port F base +</a:t>
            </a:r>
            <a:r>
              <a:rPr lang="ko-KR" altLang="en-US" dirty="0"/>
              <a:t> </a:t>
            </a:r>
            <a:r>
              <a:rPr lang="en-US" altLang="ko-KR" dirty="0"/>
              <a:t>address offset 0x18</a:t>
            </a:r>
          </a:p>
          <a:p>
            <a:r>
              <a:rPr lang="en-US" altLang="ko-KR" dirty="0"/>
              <a:t>(*(volatile unsigned *) 0x40021418) |= 0x400000; </a:t>
            </a:r>
            <a:r>
              <a:rPr lang="ko-KR" altLang="en-US" dirty="0"/>
              <a:t>처리는 결국 </a:t>
            </a:r>
            <a:r>
              <a:rPr lang="en-US" altLang="ko-KR" dirty="0"/>
              <a:t>22</a:t>
            </a:r>
            <a:r>
              <a:rPr lang="ko-KR" altLang="en-US" dirty="0"/>
              <a:t>번 비트를 </a:t>
            </a:r>
            <a:r>
              <a:rPr lang="en-US" altLang="ko-KR" dirty="0"/>
              <a:t>1</a:t>
            </a:r>
            <a:r>
              <a:rPr lang="ko-KR" altLang="en-US" dirty="0"/>
              <a:t>로 만들어서 </a:t>
            </a:r>
            <a:r>
              <a:rPr lang="en-US" altLang="ko-KR" dirty="0"/>
              <a:t>Reset </a:t>
            </a:r>
            <a:r>
              <a:rPr lang="ko-KR" altLang="en-US" dirty="0"/>
              <a:t>작업을 수행하는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작업으로 인해서 다시 </a:t>
            </a:r>
            <a:r>
              <a:rPr lang="en-US" altLang="ko-KR" dirty="0"/>
              <a:t>LED</a:t>
            </a:r>
            <a:r>
              <a:rPr lang="ko-KR" altLang="en-US" dirty="0"/>
              <a:t>가 켜지게 되는 것이다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37E63B-4648-2182-9D4D-C67B9B46F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4" y="1048037"/>
            <a:ext cx="8561905" cy="1571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17531</TotalTime>
  <Words>567</Words>
  <Application>Microsoft Office PowerPoint</Application>
  <PresentationFormat>화면 슬라이드 쇼(4:3)</PresentationFormat>
  <Paragraphs>84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Led On Off</vt:lpstr>
      <vt:lpstr>하드웨어 연결</vt:lpstr>
      <vt:lpstr>STM32CubeIDE 실행</vt:lpstr>
      <vt:lpstr>Project 생성</vt:lpstr>
      <vt:lpstr>Project 생성</vt:lpstr>
      <vt:lpstr>Device 선택</vt:lpstr>
      <vt:lpstr>Project Name 설정</vt:lpstr>
      <vt:lpstr>LED 회로 및 보드 위치</vt:lpstr>
      <vt:lpstr>main program</vt:lpstr>
      <vt:lpstr>Peripheral Memory Map</vt:lpstr>
      <vt:lpstr>AHB1 - GPIOF</vt:lpstr>
      <vt:lpstr>Reset and clock control (RCC) 레지스터</vt:lpstr>
      <vt:lpstr>GPIO port mode register (GPIOx_MODER)</vt:lpstr>
      <vt:lpstr>시험 결과</vt:lpstr>
      <vt:lpstr>LED Off ...</vt:lpstr>
      <vt:lpstr>LED Off Test Code</vt:lpstr>
      <vt:lpstr>Port bit Set Reset register</vt:lpstr>
      <vt:lpstr>Port bit Set Reset register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595</cp:revision>
  <dcterms:created xsi:type="dcterms:W3CDTF">2006-02-08T03:00:46Z</dcterms:created>
  <dcterms:modified xsi:type="dcterms:W3CDTF">2026-01-19T02:36:27Z</dcterms:modified>
</cp:coreProperties>
</file>