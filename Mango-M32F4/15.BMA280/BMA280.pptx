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34"/>
  </p:notesMasterIdLst>
  <p:handoutMasterIdLst>
    <p:handoutMasterId r:id="rId35"/>
  </p:handoutMasterIdLst>
  <p:sldIdLst>
    <p:sldId id="308" r:id="rId2"/>
    <p:sldId id="332" r:id="rId3"/>
    <p:sldId id="352" r:id="rId4"/>
    <p:sldId id="349" r:id="rId5"/>
    <p:sldId id="354" r:id="rId6"/>
    <p:sldId id="358" r:id="rId7"/>
    <p:sldId id="353" r:id="rId8"/>
    <p:sldId id="356" r:id="rId9"/>
    <p:sldId id="361" r:id="rId10"/>
    <p:sldId id="363" r:id="rId11"/>
    <p:sldId id="364" r:id="rId12"/>
    <p:sldId id="365" r:id="rId13"/>
    <p:sldId id="367" r:id="rId14"/>
    <p:sldId id="368" r:id="rId15"/>
    <p:sldId id="399" r:id="rId16"/>
    <p:sldId id="401" r:id="rId17"/>
    <p:sldId id="402" r:id="rId18"/>
    <p:sldId id="403" r:id="rId19"/>
    <p:sldId id="404" r:id="rId20"/>
    <p:sldId id="405" r:id="rId21"/>
    <p:sldId id="406" r:id="rId22"/>
    <p:sldId id="369" r:id="rId23"/>
    <p:sldId id="393" r:id="rId24"/>
    <p:sldId id="407" r:id="rId25"/>
    <p:sldId id="400" r:id="rId26"/>
    <p:sldId id="372" r:id="rId27"/>
    <p:sldId id="373" r:id="rId28"/>
    <p:sldId id="374" r:id="rId29"/>
    <p:sldId id="375" r:id="rId30"/>
    <p:sldId id="376" r:id="rId31"/>
    <p:sldId id="377" r:id="rId32"/>
    <p:sldId id="378" r:id="rId33"/>
  </p:sldIdLst>
  <p:sldSz cx="9144000" cy="6858000" type="screen4x3"/>
  <p:notesSz cx="6799263" cy="992981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5pPr>
    <a:lvl6pPr marL="2286000" algn="l" defTabSz="914400" rtl="0" eaLnBrk="1" latinLnBrk="1" hangingPunct="1"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6pPr>
    <a:lvl7pPr marL="2743200" algn="l" defTabSz="914400" rtl="0" eaLnBrk="1" latinLnBrk="1" hangingPunct="1"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7pPr>
    <a:lvl8pPr marL="3200400" algn="l" defTabSz="914400" rtl="0" eaLnBrk="1" latinLnBrk="1" hangingPunct="1"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8pPr>
    <a:lvl9pPr marL="3657600" algn="l" defTabSz="914400" rtl="0" eaLnBrk="1" latinLnBrk="1" hangingPunct="1"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38">
          <p15:clr>
            <a:srgbClr val="A4A3A4"/>
          </p15:clr>
        </p15:guide>
        <p15:guide id="2" pos="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8">
          <p15:clr>
            <a:srgbClr val="A4A3A4"/>
          </p15:clr>
        </p15:guide>
        <p15:guide id="2" pos="214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99"/>
    <a:srgbClr val="C0C0C0"/>
    <a:srgbClr val="CCECFF"/>
    <a:srgbClr val="FF99CC"/>
    <a:srgbClr val="99FF99"/>
    <a:srgbClr val="660033"/>
    <a:srgbClr val="66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843" autoAdjust="0"/>
    <p:restoredTop sz="95183" autoAdjust="0"/>
  </p:normalViewPr>
  <p:slideViewPr>
    <p:cSldViewPr snapToObjects="1">
      <p:cViewPr varScale="1">
        <p:scale>
          <a:sx n="88" d="100"/>
          <a:sy n="88" d="100"/>
        </p:scale>
        <p:origin x="1435" y="288"/>
      </p:cViewPr>
      <p:guideLst>
        <p:guide orient="horz" pos="3838"/>
        <p:guide pos="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Objects="1">
      <p:cViewPr varScale="1">
        <p:scale>
          <a:sx n="57" d="100"/>
          <a:sy n="57" d="100"/>
        </p:scale>
        <p:origin x="-2616" y="-96"/>
      </p:cViewPr>
      <p:guideLst>
        <p:guide orient="horz" pos="3128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algn="r"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algn="r"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fld id="{3E359F8D-C241-43DD-BB7A-EE3CBF36867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algn="r"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74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6125"/>
            <a:ext cx="4964113" cy="37226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74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6463"/>
            <a:ext cx="5440363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algn="r"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fld id="{DE4C13C3-4C20-49FA-8F88-6FD9575FBAAE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9E6B64B-D8C4-466A-BB6C-3C01BAF15E52}" type="slidenum">
              <a:rPr lang="en-US" altLang="ko-KR"/>
              <a:pPr/>
              <a:t>1</a:t>
            </a:fld>
            <a:endParaRPr lang="en-US" altLang="ko-KR"/>
          </a:p>
        </p:txBody>
      </p:sp>
      <p:sp>
        <p:nvSpPr>
          <p:cNvPr id="68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1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875" name="Rectangle 11"/>
          <p:cNvSpPr>
            <a:spLocks noChangeArrowheads="1"/>
          </p:cNvSpPr>
          <p:nvPr userDrawn="1"/>
        </p:nvSpPr>
        <p:spPr bwMode="auto">
          <a:xfrm>
            <a:off x="88900" y="85725"/>
            <a:ext cx="8959850" cy="6689725"/>
          </a:xfrm>
          <a:prstGeom prst="rect">
            <a:avLst/>
          </a:prstGeom>
          <a:noFill/>
          <a:ln w="3175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76876" name="Rectangle 12"/>
          <p:cNvSpPr>
            <a:spLocks noChangeArrowheads="1"/>
          </p:cNvSpPr>
          <p:nvPr userDrawn="1"/>
        </p:nvSpPr>
        <p:spPr bwMode="auto">
          <a:xfrm>
            <a:off x="88900" y="2636838"/>
            <a:ext cx="7146925" cy="1095375"/>
          </a:xfrm>
          <a:prstGeom prst="rect">
            <a:avLst/>
          </a:prstGeom>
          <a:solidFill>
            <a:srgbClr val="92D050"/>
          </a:solidFill>
          <a:ln w="9525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76877" name="Line 13"/>
          <p:cNvSpPr>
            <a:spLocks noChangeShapeType="1"/>
          </p:cNvSpPr>
          <p:nvPr userDrawn="1"/>
        </p:nvSpPr>
        <p:spPr bwMode="auto">
          <a:xfrm>
            <a:off x="88900" y="2552700"/>
            <a:ext cx="7146925" cy="1588"/>
          </a:xfrm>
          <a:prstGeom prst="line">
            <a:avLst/>
          </a:prstGeom>
          <a:noFill/>
          <a:ln w="9525">
            <a:solidFill>
              <a:srgbClr val="00B050"/>
            </a:solidFill>
            <a:round/>
            <a:headEnd/>
            <a:tailEnd/>
          </a:ln>
          <a:effectLst/>
        </p:spPr>
        <p:txBody>
          <a:bodyPr/>
          <a:lstStyle/>
          <a:p>
            <a:endParaRPr lang="ko-KR" altLang="en-US"/>
          </a:p>
        </p:txBody>
      </p:sp>
      <p:sp>
        <p:nvSpPr>
          <p:cNvPr id="6768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27088" y="3860800"/>
            <a:ext cx="6257925" cy="1152525"/>
          </a:xfrm>
        </p:spPr>
        <p:txBody>
          <a:bodyPr/>
          <a:lstStyle>
            <a:lvl1pPr marL="0" indent="0">
              <a:buFontTx/>
              <a:buNone/>
              <a:defRPr b="1">
                <a:latin typeface="Verdana" pitchFamily="34" charset="0"/>
              </a:defRPr>
            </a:lvl1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67686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4213" y="2708275"/>
            <a:ext cx="6551612" cy="1023938"/>
          </a:xfrm>
        </p:spPr>
        <p:txBody>
          <a:bodyPr/>
          <a:lstStyle>
            <a:lvl1pPr>
              <a:defRPr sz="3200">
                <a:latin typeface="Verdana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676881" name="Rectangle 17"/>
          <p:cNvSpPr>
            <a:spLocks noChangeArrowheads="1"/>
          </p:cNvSpPr>
          <p:nvPr userDrawn="1"/>
        </p:nvSpPr>
        <p:spPr bwMode="auto">
          <a:xfrm>
            <a:off x="107950" y="6381750"/>
            <a:ext cx="4679950" cy="3603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ko-KR" dirty="0"/>
              <a:t>http://cafe.naver.com/embeddedcrazyboys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77800" y="785793"/>
            <a:ext cx="8858250" cy="5643603"/>
          </a:xfrm>
        </p:spPr>
        <p:txBody>
          <a:bodyPr/>
          <a:lstStyle>
            <a:lvl1pPr>
              <a:defRPr>
                <a:latin typeface="Verdana" pitchFamily="34" charset="0"/>
              </a:defRPr>
            </a:lvl1pPr>
            <a:lvl2pPr>
              <a:defRPr>
                <a:latin typeface="Verdana" pitchFamily="34" charset="0"/>
              </a:defRPr>
            </a:lvl2pPr>
            <a:lvl3pPr>
              <a:defRPr>
                <a:latin typeface="Verdana" pitchFamily="34" charset="0"/>
              </a:defRPr>
            </a:lvl3pPr>
            <a:lvl4pPr>
              <a:defRPr>
                <a:latin typeface="Verdana" pitchFamily="34" charset="0"/>
              </a:defRPr>
            </a:lvl4pPr>
            <a:lvl5pPr>
              <a:defRPr>
                <a:latin typeface="Verdana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77800" y="665163"/>
            <a:ext cx="4352925" cy="58594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83125" y="665163"/>
            <a:ext cx="4352925" cy="58594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21488" y="115888"/>
            <a:ext cx="2214562" cy="640873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77800" y="115888"/>
            <a:ext cx="6491288" cy="640873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4" name="Rectangle 70"/>
          <p:cNvSpPr>
            <a:spLocks noChangeArrowheads="1"/>
          </p:cNvSpPr>
          <p:nvPr userDrawn="1"/>
        </p:nvSpPr>
        <p:spPr bwMode="auto">
          <a:xfrm>
            <a:off x="88900" y="85725"/>
            <a:ext cx="8959850" cy="534988"/>
          </a:xfrm>
          <a:prstGeom prst="rect">
            <a:avLst/>
          </a:prstGeom>
          <a:solidFill>
            <a:srgbClr val="92D050">
              <a:alpha val="50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7800" y="665163"/>
            <a:ext cx="8858250" cy="5859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77800" y="115888"/>
            <a:ext cx="8858250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Main Title</a:t>
            </a:r>
          </a:p>
        </p:txBody>
      </p:sp>
      <p:sp>
        <p:nvSpPr>
          <p:cNvPr id="6178" name="Rectangle 34"/>
          <p:cNvSpPr>
            <a:spLocks noChangeArrowheads="1"/>
          </p:cNvSpPr>
          <p:nvPr userDrawn="1"/>
        </p:nvSpPr>
        <p:spPr bwMode="auto">
          <a:xfrm rot="-21600000">
            <a:off x="8388350" y="6453188"/>
            <a:ext cx="647700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 latinLnBrk="0"/>
            <a:fld id="{4FDD7156-F552-46EC-968D-BB66E3283A22}" type="slidenum">
              <a:rPr kumimoji="0" lang="en-US" altLang="ko-KR" sz="1300" i="0">
                <a:solidFill>
                  <a:srgbClr val="333333"/>
                </a:solidFill>
                <a:latin typeface="Century Gothic" pitchFamily="34" charset="0"/>
              </a:rPr>
              <a:pPr algn="r" latinLnBrk="0"/>
              <a:t>‹#›</a:t>
            </a:fld>
            <a:endParaRPr kumimoji="0" lang="en-US" altLang="ko-KR" sz="1300" i="0">
              <a:solidFill>
                <a:srgbClr val="333333"/>
              </a:solidFill>
              <a:latin typeface="Century Gothic" pitchFamily="34" charset="0"/>
            </a:endParaRPr>
          </a:p>
        </p:txBody>
      </p:sp>
      <p:sp>
        <p:nvSpPr>
          <p:cNvPr id="6200" name="Text Box 56"/>
          <p:cNvSpPr txBox="1">
            <a:spLocks noChangeArrowheads="1"/>
          </p:cNvSpPr>
          <p:nvPr userDrawn="1"/>
        </p:nvSpPr>
        <p:spPr bwMode="auto">
          <a:xfrm>
            <a:off x="5422900" y="6480175"/>
            <a:ext cx="31654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US" altLang="ko-KR" sz="1000" i="0" dirty="0">
                <a:solidFill>
                  <a:srgbClr val="5F5F5F"/>
                </a:solidFill>
                <a:latin typeface="Century Gothic" pitchFamily="34" charset="0"/>
              </a:rPr>
              <a:t>https://www.crz-tech.com/</a:t>
            </a:r>
          </a:p>
        </p:txBody>
      </p:sp>
      <p:sp>
        <p:nvSpPr>
          <p:cNvPr id="6211" name="Rectangle 67"/>
          <p:cNvSpPr>
            <a:spLocks noChangeArrowheads="1"/>
          </p:cNvSpPr>
          <p:nvPr userDrawn="1"/>
        </p:nvSpPr>
        <p:spPr bwMode="auto">
          <a:xfrm>
            <a:off x="88900" y="85725"/>
            <a:ext cx="8959850" cy="6689725"/>
          </a:xfrm>
          <a:prstGeom prst="rect">
            <a:avLst/>
          </a:prstGeom>
          <a:noFill/>
          <a:ln w="3175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212" name="Line 68"/>
          <p:cNvSpPr>
            <a:spLocks noChangeShapeType="1"/>
          </p:cNvSpPr>
          <p:nvPr userDrawn="1"/>
        </p:nvSpPr>
        <p:spPr bwMode="auto">
          <a:xfrm>
            <a:off x="5583238" y="6480175"/>
            <a:ext cx="3452812" cy="0"/>
          </a:xfrm>
          <a:prstGeom prst="line">
            <a:avLst/>
          </a:prstGeom>
          <a:noFill/>
          <a:ln w="3175">
            <a:solidFill>
              <a:srgbClr val="00B050"/>
            </a:solidFill>
            <a:round/>
            <a:headEnd/>
            <a:tailEnd/>
          </a:ln>
          <a:effectLst/>
        </p:spPr>
        <p:txBody>
          <a:bodyPr/>
          <a:lstStyle/>
          <a:p>
            <a:endParaRPr lang="ko-KR" altLang="en-US"/>
          </a:p>
        </p:txBody>
      </p:sp>
      <p:sp>
        <p:nvSpPr>
          <p:cNvPr id="6215" name="Line 71"/>
          <p:cNvSpPr>
            <a:spLocks noChangeShapeType="1"/>
          </p:cNvSpPr>
          <p:nvPr userDrawn="1"/>
        </p:nvSpPr>
        <p:spPr bwMode="auto">
          <a:xfrm>
            <a:off x="88900" y="620713"/>
            <a:ext cx="8959850" cy="0"/>
          </a:xfrm>
          <a:prstGeom prst="line">
            <a:avLst/>
          </a:prstGeom>
          <a:noFill/>
          <a:ln w="9525">
            <a:solidFill>
              <a:srgbClr val="00B050"/>
            </a:solidFill>
            <a:round/>
            <a:headEnd/>
            <a:tailEnd/>
          </a:ln>
          <a:effectLst/>
        </p:spPr>
        <p:txBody>
          <a:bodyPr/>
          <a:lstStyle/>
          <a:p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Verdana" pitchFamily="34" charset="0"/>
          <a:ea typeface="+mj-ea"/>
          <a:cs typeface="+mj-cs"/>
        </a:defRPr>
      </a:lvl1pPr>
      <a:lvl2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2pPr>
      <a:lvl3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3pPr>
      <a:lvl4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4pPr>
      <a:lvl5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9pPr>
    </p:titleStyle>
    <p:bodyStyle>
      <a:lvl1pPr marL="342900" indent="-342900" algn="l" rtl="0" fontAlgn="base" latinLnBrk="1">
        <a:spcBef>
          <a:spcPct val="20000"/>
        </a:spcBef>
        <a:spcAft>
          <a:spcPct val="0"/>
        </a:spcAft>
        <a:buClr>
          <a:schemeClr val="tx1"/>
        </a:buClr>
        <a:buChar char="•"/>
        <a:defRPr kumimoji="1" sz="2000">
          <a:solidFill>
            <a:schemeClr val="tx1"/>
          </a:solidFill>
          <a:latin typeface="Verdana" pitchFamily="34" charset="0"/>
          <a:ea typeface="+mn-ea"/>
          <a:cs typeface="+mn-cs"/>
        </a:defRPr>
      </a:lvl1pPr>
      <a:lvl2pPr marL="742950" indent="-285750" algn="l" rtl="0" fontAlgn="base" latinLnBrk="1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Ø"/>
        <a:defRPr kumimoji="1">
          <a:solidFill>
            <a:schemeClr val="tx1"/>
          </a:solidFill>
          <a:latin typeface="Verdana" pitchFamily="34" charset="0"/>
          <a:ea typeface="+mn-ea"/>
        </a:defRPr>
      </a:lvl2pPr>
      <a:lvl3pPr marL="1143000" indent="-228600" algn="l" rtl="0" fontAlgn="base" latinLnBrk="1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kumimoji="1" sz="1600">
          <a:solidFill>
            <a:schemeClr val="tx1"/>
          </a:solidFill>
          <a:latin typeface="Verdana" pitchFamily="34" charset="0"/>
          <a:ea typeface="+mn-ea"/>
        </a:defRPr>
      </a:lvl3pPr>
      <a:lvl4pPr marL="16002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Wingdings 2" pitchFamily="18" charset="2"/>
        <a:buChar char=""/>
        <a:defRPr kumimoji="1" sz="2000">
          <a:solidFill>
            <a:schemeClr val="tx1"/>
          </a:solidFill>
          <a:latin typeface="Arial" charset="0"/>
          <a:ea typeface="+mn-ea"/>
        </a:defRPr>
      </a:lvl4pPr>
      <a:lvl5pPr marL="20574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916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4213" y="2674938"/>
            <a:ext cx="6551612" cy="1023937"/>
          </a:xfrm>
        </p:spPr>
        <p:txBody>
          <a:bodyPr/>
          <a:lstStyle/>
          <a:p>
            <a:r>
              <a:rPr lang="en-US" altLang="ko-KR" dirty="0"/>
              <a:t>BMA280 – 3 Axis </a:t>
            </a:r>
            <a:r>
              <a:rPr lang="ko-KR" altLang="en-US" dirty="0"/>
              <a:t>센서</a:t>
            </a:r>
            <a:r>
              <a:rPr lang="en-US" altLang="ko-KR" dirty="0"/>
              <a:t> </a:t>
            </a:r>
            <a:r>
              <a:rPr lang="ko-KR" altLang="en-US" dirty="0"/>
              <a:t>실습</a:t>
            </a:r>
            <a:endParaRPr lang="en-US" altLang="ko-KR" dirty="0"/>
          </a:p>
        </p:txBody>
      </p:sp>
      <p:sp>
        <p:nvSpPr>
          <p:cNvPr id="678917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827088" y="3860800"/>
            <a:ext cx="6257925" cy="1211274"/>
          </a:xfrm>
        </p:spPr>
        <p:txBody>
          <a:bodyPr/>
          <a:lstStyle/>
          <a:p>
            <a:r>
              <a:rPr lang="en-US" altLang="ko-KR" dirty="0"/>
              <a:t>2026.01.21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A59166-90EC-43EA-C1CC-D0373F9804AD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STM32CubeMX </a:t>
            </a:r>
            <a:r>
              <a:rPr lang="ko-KR" altLang="en-US" b="0" i="0" kern="0" dirty="0"/>
              <a:t>실행 후 </a:t>
            </a:r>
            <a:r>
              <a:rPr lang="en-US" altLang="ko-KR" b="0" i="0" kern="0" dirty="0"/>
              <a:t>"ACCESS TO MCU SELECTOR” </a:t>
            </a:r>
            <a:r>
              <a:rPr lang="ko-KR" altLang="en-US" b="0" i="0" kern="0" dirty="0"/>
              <a:t>선택</a:t>
            </a:r>
            <a:endParaRPr lang="en-US" altLang="ko-KR" b="0" i="0" kern="0" dirty="0"/>
          </a:p>
        </p:txBody>
      </p:sp>
      <p:pic>
        <p:nvPicPr>
          <p:cNvPr id="8" name="그림 7" descr="텍스트, 스크린샷, 소프트웨어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E10C5A9-85A6-0E27-29A9-B5CB79BFB2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80" y="1327047"/>
            <a:ext cx="5543340" cy="4982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7887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B03C7-A48A-126F-9530-3B88896A8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4E170D-18D7-0564-83B9-57A854213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15354-5026-C919-B1B7-E6E853310421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endParaRPr lang="en-US" altLang="ko-KR" b="0" i="0" kern="0" dirty="0"/>
          </a:p>
          <a:p>
            <a:r>
              <a:rPr lang="en-US" altLang="ko-KR" b="0" i="0" kern="0" dirty="0"/>
              <a:t>STM32F407ZET6 </a:t>
            </a:r>
            <a:r>
              <a:rPr lang="ko-KR" altLang="en-US" b="0" i="0" kern="0" dirty="0"/>
              <a:t>선택 후 </a:t>
            </a:r>
            <a:r>
              <a:rPr lang="en-US" altLang="ko-KR" b="0" i="0" kern="0" dirty="0"/>
              <a:t>"Start Project” </a:t>
            </a:r>
            <a:r>
              <a:rPr lang="ko-KR" altLang="en-US" b="0" i="0" kern="0" dirty="0"/>
              <a:t>클릭</a:t>
            </a:r>
            <a:endParaRPr lang="en-US" altLang="ko-KR" b="0" i="0" kern="0" dirty="0"/>
          </a:p>
        </p:txBody>
      </p:sp>
      <p:pic>
        <p:nvPicPr>
          <p:cNvPr id="5" name="그림 4" descr="텍스트, 소프트웨어, 웹 페이지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34DC471-EBB0-7B13-CB84-EA944AE4E0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973" y="1844824"/>
            <a:ext cx="8028384" cy="4207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6452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DCFF4-1FCE-9767-54F6-B4B2759FC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FB6238-B047-C9B8-FFF0-928DA0DEA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1C4366-9F84-AC61-925C-FCEF5F8FF2A2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HSE(25MHz) </a:t>
            </a:r>
            <a:r>
              <a:rPr lang="ko-KR" altLang="en-US" b="0" i="0" kern="0" dirty="0"/>
              <a:t>핀 설정 </a:t>
            </a:r>
            <a:r>
              <a:rPr lang="en-US" altLang="ko-KR" b="0" i="0" kern="0" dirty="0"/>
              <a:t>– </a:t>
            </a:r>
            <a:r>
              <a:rPr lang="ko-KR" altLang="en-US" b="0" i="0" kern="0" dirty="0"/>
              <a:t>회로도 참조</a:t>
            </a:r>
            <a:endParaRPr lang="en-US" altLang="ko-KR" b="0" i="0" kern="0" dirty="0"/>
          </a:p>
          <a:p>
            <a:r>
              <a:rPr lang="en-US" altLang="ko-KR" b="0" i="0" kern="0" dirty="0"/>
              <a:t>HSE : PH0-OSC_IN, PH1-OSC_OUT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17" name="그림 16" descr="텍스트, 스크린샷, 폰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69E31AD-9D7B-7821-9A1B-2C5047CA64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2040" y="1454996"/>
            <a:ext cx="3157463" cy="4684602"/>
          </a:xfrm>
          <a:prstGeom prst="rect">
            <a:avLst/>
          </a:prstGeom>
        </p:spPr>
      </p:pic>
      <p:pic>
        <p:nvPicPr>
          <p:cNvPr id="19" name="그림 18" descr="텍스트, 스크린샷, 라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D538979-475A-EFB0-4B70-331B8002A7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808" y="1898528"/>
            <a:ext cx="4892972" cy="1181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7954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4908E-B983-9E5F-8CEE-8D7A0C7DD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138FFB-B8DF-0F5B-55F2-4C770A230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91E97-5A2F-CFAA-A121-98120DCFE283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USART1</a:t>
            </a:r>
            <a:r>
              <a:rPr lang="ko-KR" altLang="en-US" b="0" i="0" kern="0" dirty="0"/>
              <a:t>핀 설정 </a:t>
            </a:r>
            <a:r>
              <a:rPr lang="en-US" altLang="ko-KR" b="0" i="0" kern="0" dirty="0"/>
              <a:t>– </a:t>
            </a:r>
            <a:r>
              <a:rPr lang="ko-KR" altLang="en-US" b="0" i="0" kern="0" dirty="0"/>
              <a:t>회로도 참조</a:t>
            </a:r>
            <a:endParaRPr lang="en-US" altLang="ko-KR" b="0" i="0" kern="0" dirty="0"/>
          </a:p>
          <a:p>
            <a:r>
              <a:rPr lang="en-US" altLang="ko-KR" b="0" i="0" kern="0" dirty="0"/>
              <a:t>UART1 : PA9-USART1_TXD, PA10-USART1_RXD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507BCCF-BB54-D1A2-0FC3-1AD9B39A32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700808"/>
            <a:ext cx="5438775" cy="466725"/>
          </a:xfrm>
          <a:prstGeom prst="rect">
            <a:avLst/>
          </a:prstGeom>
        </p:spPr>
      </p:pic>
      <p:pic>
        <p:nvPicPr>
          <p:cNvPr id="7" name="그림 6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3C4E2E9-A850-C5D9-6337-039CA1F876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1840" y="2464246"/>
            <a:ext cx="2638425" cy="3676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3584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F87FC-0925-9D41-D7AB-1B17FFDE8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33C89D-E188-9B63-4012-FE1D9871A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CC3ED2-C8B6-5AA9-5B3B-88EA0B43ABA7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I2C </a:t>
            </a:r>
            <a:r>
              <a:rPr lang="ko-KR" altLang="en-US" b="0" i="0" kern="0" dirty="0"/>
              <a:t>핀 설정 </a:t>
            </a:r>
            <a:r>
              <a:rPr lang="en-US" altLang="ko-KR" b="0" i="0" kern="0" dirty="0"/>
              <a:t>– </a:t>
            </a:r>
            <a:r>
              <a:rPr lang="ko-KR" altLang="en-US" b="0" i="0" kern="0" dirty="0"/>
              <a:t>회로도 참조</a:t>
            </a:r>
            <a:endParaRPr lang="en-US" altLang="ko-KR" b="0" i="0" kern="0" dirty="0"/>
          </a:p>
          <a:p>
            <a:r>
              <a:rPr lang="en-US" altLang="ko-KR" b="0" i="0" kern="0" dirty="0"/>
              <a:t>I2C : PB6-I2C1_SCL, PB7-I2C1_SDA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텍스트, 폰트, 스크린샷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A22C3E8-3F7A-5C8C-211B-F9A726892C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720" y="1628800"/>
            <a:ext cx="3816424" cy="839750"/>
          </a:xfrm>
          <a:prstGeom prst="rect">
            <a:avLst/>
          </a:prstGeom>
        </p:spPr>
      </p:pic>
      <p:pic>
        <p:nvPicPr>
          <p:cNvPr id="9" name="그림 8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5226E7E-9260-F1C1-B72F-96BAE5F9A7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7824" y="2509916"/>
            <a:ext cx="2206550" cy="3410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9138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2C661-CE60-5080-1B91-2E4067A89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D095D2-C28A-3E39-3E18-12D8B3AE3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236276-5DE1-3D41-98AB-64F9D5B3E36F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System Core -&gt; RCC</a:t>
            </a:r>
            <a:r>
              <a:rPr lang="ko-KR" altLang="en-US" b="0" i="0" kern="0" dirty="0"/>
              <a:t>에서 </a:t>
            </a:r>
            <a:r>
              <a:rPr lang="en-US" altLang="ko-KR" b="0" i="0" kern="0" dirty="0"/>
              <a:t>HSE </a:t>
            </a:r>
            <a:r>
              <a:rPr lang="ko-KR" altLang="en-US" b="0" i="0" kern="0" dirty="0"/>
              <a:t>활성화 </a:t>
            </a:r>
            <a:r>
              <a:rPr lang="en-US" altLang="ko-KR" b="0" i="0" kern="0" dirty="0"/>
              <a:t>-&gt; Crystal/Ceramic Resonator </a:t>
            </a:r>
            <a:r>
              <a:rPr lang="ko-KR" altLang="en-US" b="0" i="0" kern="0" dirty="0"/>
              <a:t>선택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텍스트, 소프트웨어, 웹 페이지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89EDAE2-6230-FAC9-BA67-23E46DAFA3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646" y="1916832"/>
            <a:ext cx="7282011" cy="382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7799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92289-75F3-6FA8-A41F-64713E5782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DC48AA-23D6-8CD1-45C9-21E3CD42B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40C3C-E670-01AE-EBB6-F04863B5DC31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Connectivity -&gt; USART1 -&gt; Asynchronous </a:t>
            </a:r>
            <a:r>
              <a:rPr lang="ko-KR" altLang="en-US" b="0" i="0" kern="0" dirty="0"/>
              <a:t>선택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스크린샷, 소프트웨어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05F22FC-30F9-B3D8-17B6-B4C967BDDB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330" y="1194405"/>
            <a:ext cx="6167340" cy="5184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6726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47888-09F0-9735-0166-610D9CF94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4067E5-F4B3-14A6-E859-D7FE91E89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59010-2CD0-0383-AD2E-25A9A9A0AE90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Connectivity -&gt; I2C1 -&gt; Mode -&gt; I2C</a:t>
            </a:r>
            <a:r>
              <a:rPr lang="ko-KR" altLang="en-US" b="0" i="0" kern="0" dirty="0"/>
              <a:t> 선택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소프트웨어, 웹 페이지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C1D9240-C486-2D85-9419-E07EDA1AEE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466" y="1556791"/>
            <a:ext cx="8059068" cy="4608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4395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827B0-020C-D166-66A7-3FF68D97F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4B695D-FC11-903E-11ED-4C2BEB1CF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1BC485-8C6C-D240-71B1-9A2A180C284A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Clock Configuration </a:t>
            </a:r>
            <a:r>
              <a:rPr lang="ko-KR" altLang="en-US" b="0" i="0" kern="0" dirty="0"/>
              <a:t>클릭 </a:t>
            </a:r>
            <a:r>
              <a:rPr lang="en-US" altLang="ko-KR" b="0" i="0" kern="0" dirty="0"/>
              <a:t>-&gt; Yes </a:t>
            </a:r>
            <a:r>
              <a:rPr lang="ko-KR" altLang="en-US" b="0" i="0" kern="0" dirty="0"/>
              <a:t>클릭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번호, 도표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F377413-6010-4C89-0117-A390ADA59A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913593"/>
            <a:ext cx="7886700" cy="3536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220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24445E-939B-0152-FDFC-D4B9B8056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A14DB7-7A58-4303-9250-8F35BE929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B07A81-A129-5B29-DC02-1E054DC2EDF1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Project Manager</a:t>
            </a:r>
            <a:r>
              <a:rPr lang="ko-KR" altLang="en-US" b="0" i="0" kern="0" dirty="0"/>
              <a:t>에서 </a:t>
            </a:r>
            <a:r>
              <a:rPr lang="en-US" altLang="ko-KR" b="0" i="0" kern="0" dirty="0"/>
              <a:t>Project Name </a:t>
            </a:r>
            <a:r>
              <a:rPr lang="ko-KR" altLang="en-US" b="0" i="0" kern="0" dirty="0"/>
              <a:t>기입</a:t>
            </a:r>
            <a:r>
              <a:rPr lang="en-US" altLang="ko-KR" b="0" i="0" kern="0" dirty="0"/>
              <a:t>, IDE</a:t>
            </a:r>
            <a:r>
              <a:rPr lang="ko-KR" altLang="en-US" b="0" i="0" kern="0" dirty="0"/>
              <a:t>를 </a:t>
            </a:r>
            <a:r>
              <a:rPr lang="en-US" altLang="ko-KR" b="0" i="0" kern="0" dirty="0"/>
              <a:t>STM32CubeIDE</a:t>
            </a:r>
            <a:r>
              <a:rPr lang="ko-KR" altLang="en-US" b="0" i="0" kern="0" dirty="0"/>
              <a:t>로 선택 후 </a:t>
            </a:r>
            <a:r>
              <a:rPr lang="en-US" altLang="ko-KR" b="0" i="0" kern="0" dirty="0"/>
              <a:t>GENERATE CODE </a:t>
            </a:r>
            <a:r>
              <a:rPr lang="ko-KR" altLang="en-US" b="0" i="0" kern="0" dirty="0"/>
              <a:t>클릭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텍스트, 스크린샷, 소프트웨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D54E60D-28FF-8BBF-CD05-26DF2C267C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2348880"/>
            <a:ext cx="8324123" cy="180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6843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31A51-F930-5937-DE78-DB4F58D22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2D24C4-5304-7E45-DDD5-333E85347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Project </a:t>
            </a:r>
            <a:r>
              <a:rPr lang="ko-KR" altLang="en-US" dirty="0"/>
              <a:t>생성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C26DCB-9D3C-A824-25C8-A869C33AAE0C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Open Project </a:t>
            </a:r>
            <a:r>
              <a:rPr lang="ko-KR" altLang="en-US" b="0" i="0" kern="0" dirty="0"/>
              <a:t>클릭하여 </a:t>
            </a:r>
            <a:r>
              <a:rPr lang="en-US" altLang="ko-KR" b="0" i="0" kern="0" dirty="0"/>
              <a:t>STM32CubeIDE </a:t>
            </a:r>
            <a:r>
              <a:rPr lang="ko-KR" altLang="en-US" b="0" i="0" kern="0" dirty="0"/>
              <a:t>실행</a:t>
            </a:r>
            <a:r>
              <a:rPr lang="en-US" altLang="ko-KR" b="0" i="0" kern="0" dirty="0"/>
              <a:t>, workspace</a:t>
            </a:r>
            <a:r>
              <a:rPr lang="ko-KR" altLang="en-US" b="0" i="0" kern="0" dirty="0"/>
              <a:t>는 </a:t>
            </a:r>
            <a:r>
              <a:rPr lang="en-US" altLang="ko-KR" b="0" i="0" kern="0" dirty="0" err="1"/>
              <a:t>CubeMX</a:t>
            </a:r>
            <a:r>
              <a:rPr lang="ko-KR" altLang="en-US" b="0" i="0" kern="0" dirty="0"/>
              <a:t>와 다른 폴더로 지정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폰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D5E1090-7FA7-61B4-9111-3049CBCCB9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696" y="1482424"/>
            <a:ext cx="5161534" cy="2120561"/>
          </a:xfrm>
          <a:prstGeom prst="rect">
            <a:avLst/>
          </a:prstGeom>
        </p:spPr>
      </p:pic>
      <p:pic>
        <p:nvPicPr>
          <p:cNvPr id="9" name="그림 8" descr="텍스트, 스크린샷, 소프트웨어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5E5A5C4-8FFD-15ED-CC64-44BDB3EBE9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0455" y="3818912"/>
            <a:ext cx="5191824" cy="2527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3511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1B3EA-4B49-A517-8F82-7DEAE95F9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B9DCE1-3677-AF2C-9BB4-5C95B3E03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BIN </a:t>
            </a:r>
            <a:r>
              <a:rPr lang="ko-KR" altLang="en-US" dirty="0"/>
              <a:t>파일 생성 설정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484B20-C09D-0E15-58E5-26283B50F565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STM32CubeProgrammer</a:t>
            </a:r>
            <a:r>
              <a:rPr lang="ko-KR" altLang="en-US" b="0" i="0" kern="0" dirty="0"/>
              <a:t>로 시리얼 다운로드하기 위해서는 </a:t>
            </a:r>
            <a:r>
              <a:rPr lang="en-US" altLang="ko-KR" b="0" i="0" kern="0" dirty="0"/>
              <a:t>BIN</a:t>
            </a:r>
            <a:r>
              <a:rPr lang="ko-KR" altLang="en-US" b="0" i="0" kern="0" dirty="0"/>
              <a:t>파일이 필요</a:t>
            </a:r>
            <a:r>
              <a:rPr lang="en-US" altLang="ko-KR" b="0" i="0" kern="0" dirty="0"/>
              <a:t>. </a:t>
            </a:r>
          </a:p>
          <a:p>
            <a:r>
              <a:rPr lang="en-US" altLang="ko-KR" b="0" i="0" kern="0" dirty="0"/>
              <a:t>Project -&gt; Properties </a:t>
            </a:r>
            <a:r>
              <a:rPr lang="ko-KR" altLang="en-US" b="0" i="0" kern="0" dirty="0"/>
              <a:t>클릭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C09BEC0-504B-70B6-2BD1-A446E87396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2002879"/>
            <a:ext cx="6543675" cy="416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7952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61F8B-4273-774E-7581-4C710E63F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A4BB0D-2C3A-F494-9276-5A1B438CC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BIN </a:t>
            </a:r>
            <a:r>
              <a:rPr lang="ko-KR" altLang="en-US" dirty="0"/>
              <a:t>파일 생성 설정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D5756C-2415-65C0-7190-FA64B75F39C2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C/C++ Build -&gt; Settings -&gt; Tool Settings -&gt; MCU/MPU Post build outputs =&gt; Convert to binary file(-O binary) </a:t>
            </a:r>
            <a:r>
              <a:rPr lang="ko-KR" altLang="en-US" b="0" i="0" kern="0" dirty="0"/>
              <a:t>클릭</a:t>
            </a:r>
            <a:r>
              <a:rPr lang="en-US" altLang="ko-KR" b="0" i="0" kern="0" dirty="0"/>
              <a:t>.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소프트웨어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97D4D96-8F4D-A979-4A1D-D3FC9C06B1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057" y="2204864"/>
            <a:ext cx="7965886" cy="288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2381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8A252-6C61-A018-0BE8-16B749D83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56B542-FAB2-273A-33EC-3720BD102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빌드 설정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4B6D05-D914-0D60-626D-83C219470904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C/C++ Build -&gt; Settings -&gt; Tool Settings -&gt; MCU/MPU Settings =&gt; Use float with </a:t>
            </a:r>
            <a:r>
              <a:rPr lang="en-US" altLang="ko-KR" b="0" i="0" kern="0" dirty="0" err="1"/>
              <a:t>printf</a:t>
            </a:r>
            <a:r>
              <a:rPr lang="en-US" altLang="ko-KR" b="0" i="0" kern="0" dirty="0"/>
              <a:t> from </a:t>
            </a:r>
            <a:r>
              <a:rPr lang="en-US" altLang="ko-KR" b="0" i="0" kern="0" dirty="0" err="1"/>
              <a:t>newlib</a:t>
            </a:r>
            <a:r>
              <a:rPr lang="en-US" altLang="ko-KR" b="0" i="0" kern="0" dirty="0"/>
              <a:t>-nano(-u _</a:t>
            </a:r>
            <a:r>
              <a:rPr lang="en-US" altLang="ko-KR" b="0" i="0" kern="0" dirty="0" err="1"/>
              <a:t>printf_float</a:t>
            </a:r>
            <a:r>
              <a:rPr lang="en-US" altLang="ko-KR" b="0" i="0" kern="0" dirty="0"/>
              <a:t>) </a:t>
            </a:r>
            <a:r>
              <a:rPr lang="ko-KR" altLang="en-US" b="0" i="0" kern="0" dirty="0"/>
              <a:t>클릭</a:t>
            </a:r>
            <a:r>
              <a:rPr lang="en-US" altLang="ko-KR" b="0" i="0" kern="0" dirty="0"/>
              <a:t>.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텍스트, 스크린샷, 소프트웨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4499227-A16B-8566-9228-1A6AE1E49D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1" y="1772816"/>
            <a:ext cx="7468569" cy="4571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8465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8F44E-8CAD-8AF2-1B3C-5943F8D79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0C1949-DA15-9908-F1DA-8C470DD15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BMA280 </a:t>
            </a:r>
            <a:r>
              <a:rPr lang="ko-KR" altLang="en-US" dirty="0"/>
              <a:t>데이터시트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0F9B54-51DF-C400-2399-FFC26B1F029A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Slave Address : 0x18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r>
              <a:rPr lang="en-US" altLang="ko-KR" b="0" i="0" kern="0" dirty="0"/>
              <a:t>Chip ID -&gt; Reg0 : 0xFB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6873991-A070-1529-8225-A710DC4368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1124744"/>
            <a:ext cx="7775848" cy="698876"/>
          </a:xfrm>
          <a:prstGeom prst="rect">
            <a:avLst/>
          </a:prstGeom>
        </p:spPr>
      </p:pic>
      <p:pic>
        <p:nvPicPr>
          <p:cNvPr id="7" name="그림 6" descr="텍스트, 번호, 폰트, 영수증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7ABA4B5-D300-0C79-CD04-F1AEC56860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3" y="2708920"/>
            <a:ext cx="7417489" cy="3456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6776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63AE0-B1DB-59CD-C1E7-16C5ACE289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F75611-62D5-97B3-8C29-1BA6ED996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BMA280 </a:t>
            </a:r>
            <a:r>
              <a:rPr lang="ko-KR" altLang="en-US" dirty="0"/>
              <a:t>데이터시트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429CA-435A-D30E-A68A-A750A80C7BF7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BW </a:t>
            </a:r>
            <a:r>
              <a:rPr lang="ko-KR" altLang="en-US" b="0" i="0" kern="0" dirty="0"/>
              <a:t>설정</a:t>
            </a:r>
            <a:r>
              <a:rPr lang="en-US" altLang="ko-KR" b="0" i="0" kern="0" dirty="0"/>
              <a:t> : Reg 0x10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4" name="그림 3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9DEE7BE-8A2C-A07C-D471-347A75FCC8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753" y="1556792"/>
            <a:ext cx="7668344" cy="3918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4613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C0F42-E741-F3B6-0D22-A350ADCF6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3655C2-9A17-8962-1751-B920AEF27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BMA280 </a:t>
            </a:r>
            <a:r>
              <a:rPr lang="ko-KR" altLang="en-US" dirty="0"/>
              <a:t>데이터시트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AECC0A-BAE1-790F-63B7-7B716C7FAA42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Measurement Range : 0x0F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4" name="그림 3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03234E5-6C6A-758F-7681-30F8B13606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778" y="2006353"/>
            <a:ext cx="8036444" cy="3220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1455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CCFB1-CBC7-0611-4B96-4803E9C85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CEB0D4-2E86-7345-67BF-0BBD15EA5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BMA280 </a:t>
            </a:r>
            <a:r>
              <a:rPr lang="ko-KR" altLang="en-US" dirty="0"/>
              <a:t>데이터시트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1BB47F-9335-B3AA-C433-25F4CFDC2E6E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AXIS data read : 0x02 ~ 0x07</a:t>
            </a:r>
          </a:p>
          <a:p>
            <a:r>
              <a:rPr lang="en-US" altLang="ko-KR" b="0" i="0" kern="0" dirty="0"/>
              <a:t>Register address is automatically increased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9D65DE1-8A4C-C9F1-3C1E-7199067AB5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2204864"/>
            <a:ext cx="8244408" cy="196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486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78A91-8BD0-4F75-0837-7AA2E6E9E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CB9FEF-73F1-CE4F-8549-08E2009AA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BMA280 </a:t>
            </a:r>
            <a:r>
              <a:rPr lang="ko-KR" altLang="en-US" dirty="0"/>
              <a:t>데이터시트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89260D-E219-C1B3-305F-D8E0A451107E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AXIS data LSB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텍스트, 폰트, 번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EB9B686-F059-0FDD-827E-7C46652EC1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828" y="1484784"/>
            <a:ext cx="7933888" cy="4680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4790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BC337-9B40-1021-B535-1D991D5C1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1D6303-0AAA-9572-194C-C1DE4948E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BMA280 </a:t>
            </a:r>
            <a:r>
              <a:rPr lang="ko-KR" altLang="en-US" dirty="0"/>
              <a:t>데이터시트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C3EBD0-85F7-12FF-2C06-8A5EC2B923DB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AXIS data MSB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번호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D98E170-C96F-63F2-DA3A-887E729BC6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678" y="1840957"/>
            <a:ext cx="8124493" cy="3528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6629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F5102-5FCD-CBCB-6D82-988471984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52508E-62AD-FEBE-7A53-2E952A759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Code </a:t>
            </a:r>
            <a:r>
              <a:rPr lang="ko-KR" altLang="en-US" dirty="0"/>
              <a:t>수정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3C459-9058-A3BF-01D8-DF785D0D3A90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2500" lnSpcReduction="20000"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UART1</a:t>
            </a:r>
            <a:r>
              <a:rPr lang="ko-KR" altLang="en-US" b="0" i="0" kern="0" dirty="0"/>
              <a:t>으로 로그를 내 보내기 위해 아래 코드 추가 </a:t>
            </a:r>
            <a:r>
              <a:rPr lang="en-US" altLang="ko-KR" b="0" i="0" kern="0" dirty="0"/>
              <a:t>: core/</a:t>
            </a:r>
            <a:r>
              <a:rPr lang="en-US" altLang="ko-KR" b="0" i="0" kern="0" dirty="0" err="1"/>
              <a:t>src</a:t>
            </a:r>
            <a:r>
              <a:rPr lang="en-US" altLang="ko-KR" b="0" i="0" kern="0" dirty="0"/>
              <a:t>/</a:t>
            </a:r>
            <a:r>
              <a:rPr lang="en-US" altLang="ko-KR" b="0" i="0" kern="0" dirty="0" err="1"/>
              <a:t>main.c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pPr marL="0" indent="0">
              <a:buNone/>
            </a:pPr>
            <a:r>
              <a:rPr lang="en-US" altLang="ko-KR" sz="1400" b="0" i="0" dirty="0"/>
              <a:t>/* Private user code ---------------------------------------------------------*/</a:t>
            </a:r>
          </a:p>
          <a:p>
            <a:pPr marL="0" indent="0">
              <a:buNone/>
            </a:pPr>
            <a:r>
              <a:rPr lang="en-US" altLang="ko-KR" sz="1400" b="0" i="0" dirty="0"/>
              <a:t>/* USER CODE BEGIN 0 */</a:t>
            </a:r>
          </a:p>
          <a:p>
            <a:pPr marL="0" indent="0">
              <a:buNone/>
            </a:pPr>
            <a:r>
              <a:rPr lang="en-US" altLang="ko-KR" sz="1400" i="0" dirty="0"/>
              <a:t>#define </a:t>
            </a:r>
            <a:r>
              <a:rPr lang="en-US" altLang="ko-KR" sz="1400" i="0" dirty="0" err="1"/>
              <a:t>hUART</a:t>
            </a:r>
            <a:r>
              <a:rPr lang="en-US" altLang="ko-KR" sz="1400" i="0" dirty="0"/>
              <a:t> huart1</a:t>
            </a:r>
          </a:p>
          <a:p>
            <a:pPr marL="0" indent="0">
              <a:buNone/>
            </a:pPr>
            <a:r>
              <a:rPr lang="en-US" altLang="ko-KR" sz="1400" i="0" dirty="0"/>
              <a:t>int _write( int32_t file , uint8_t *</a:t>
            </a:r>
            <a:r>
              <a:rPr lang="en-US" altLang="ko-KR" sz="1400" i="0" dirty="0" err="1"/>
              <a:t>ptr</a:t>
            </a:r>
            <a:r>
              <a:rPr lang="en-US" altLang="ko-KR" sz="1400" i="0" dirty="0"/>
              <a:t> , int32_t </a:t>
            </a:r>
            <a:r>
              <a:rPr lang="en-US" altLang="ko-KR" sz="1400" i="0" dirty="0" err="1"/>
              <a:t>len</a:t>
            </a:r>
            <a:r>
              <a:rPr lang="en-US" altLang="ko-KR" sz="1400" i="0" dirty="0"/>
              <a:t> )</a:t>
            </a:r>
          </a:p>
          <a:p>
            <a:pPr marL="0" indent="0">
              <a:buNone/>
            </a:pPr>
            <a:r>
              <a:rPr lang="en-US" altLang="ko-KR" sz="1400" i="0" dirty="0"/>
              <a:t>{</a:t>
            </a:r>
          </a:p>
          <a:p>
            <a:pPr marL="0" indent="0">
              <a:buNone/>
            </a:pPr>
            <a:r>
              <a:rPr lang="en-US" altLang="ko-KR" sz="1400" i="0" dirty="0"/>
              <a:t>    /* Implement your write code here, this is used by puts and </a:t>
            </a:r>
            <a:r>
              <a:rPr lang="en-US" altLang="ko-KR" sz="1400" i="0" u="sng" dirty="0" err="1"/>
              <a:t>printf</a:t>
            </a:r>
            <a:r>
              <a:rPr lang="en-US" altLang="ko-KR" sz="1400" i="0" dirty="0"/>
              <a:t> for example */</a:t>
            </a:r>
          </a:p>
          <a:p>
            <a:pPr marL="0" indent="0">
              <a:buNone/>
            </a:pPr>
            <a:r>
              <a:rPr lang="en-US" altLang="ko-KR" sz="1400" i="0" dirty="0"/>
              <a:t>    for ( int16_t </a:t>
            </a:r>
            <a:r>
              <a:rPr lang="en-US" altLang="ko-KR" sz="1400" i="0" dirty="0" err="1"/>
              <a:t>i</a:t>
            </a:r>
            <a:r>
              <a:rPr lang="en-US" altLang="ko-KR" sz="1400" i="0" dirty="0"/>
              <a:t> = 0 ; </a:t>
            </a:r>
            <a:r>
              <a:rPr lang="en-US" altLang="ko-KR" sz="1400" i="0" dirty="0" err="1"/>
              <a:t>i</a:t>
            </a:r>
            <a:r>
              <a:rPr lang="en-US" altLang="ko-KR" sz="1400" i="0" dirty="0"/>
              <a:t> &lt; </a:t>
            </a:r>
            <a:r>
              <a:rPr lang="en-US" altLang="ko-KR" sz="1400" i="0" dirty="0" err="1"/>
              <a:t>len</a:t>
            </a:r>
            <a:r>
              <a:rPr lang="en-US" altLang="ko-KR" sz="1400" i="0" dirty="0"/>
              <a:t> ; ++</a:t>
            </a:r>
            <a:r>
              <a:rPr lang="en-US" altLang="ko-KR" sz="1400" i="0" dirty="0" err="1"/>
              <a:t>i</a:t>
            </a:r>
            <a:r>
              <a:rPr lang="en-US" altLang="ko-KR" sz="1400" i="0" dirty="0"/>
              <a:t> )</a:t>
            </a:r>
          </a:p>
          <a:p>
            <a:pPr marL="0" indent="0">
              <a:buNone/>
            </a:pPr>
            <a:r>
              <a:rPr lang="en-US" altLang="ko-KR" sz="1400" i="0" dirty="0"/>
              <a:t>    {</a:t>
            </a:r>
          </a:p>
          <a:p>
            <a:pPr marL="0" indent="0">
              <a:buNone/>
            </a:pPr>
            <a:r>
              <a:rPr lang="en-US" altLang="ko-KR" sz="1400" i="0" dirty="0"/>
              <a:t>         </a:t>
            </a:r>
            <a:r>
              <a:rPr lang="en-US" altLang="ko-KR" sz="1400" i="0" dirty="0" err="1"/>
              <a:t>HAL_UART_Transmit</a:t>
            </a:r>
            <a:r>
              <a:rPr lang="en-US" altLang="ko-KR" sz="1400" i="0" dirty="0"/>
              <a:t>( &amp;</a:t>
            </a:r>
            <a:r>
              <a:rPr lang="en-US" altLang="ko-KR" sz="1400" i="0" dirty="0" err="1"/>
              <a:t>hUART</a:t>
            </a:r>
            <a:r>
              <a:rPr lang="en-US" altLang="ko-KR" sz="1400" i="0" dirty="0"/>
              <a:t>, </a:t>
            </a:r>
            <a:r>
              <a:rPr lang="en-US" altLang="ko-KR" sz="1400" i="0" dirty="0" err="1"/>
              <a:t>ptr</a:t>
            </a:r>
            <a:r>
              <a:rPr lang="en-US" altLang="ko-KR" sz="1400" i="0" dirty="0"/>
              <a:t>++, 1, 100);</a:t>
            </a:r>
          </a:p>
          <a:p>
            <a:pPr marL="0" indent="0">
              <a:buNone/>
            </a:pPr>
            <a:r>
              <a:rPr lang="en-US" altLang="ko-KR" sz="1400" i="0" dirty="0"/>
              <a:t>    }</a:t>
            </a:r>
          </a:p>
          <a:p>
            <a:pPr marL="0" indent="0">
              <a:buNone/>
            </a:pPr>
            <a:r>
              <a:rPr lang="en-US" altLang="ko-KR" sz="1400" i="0" dirty="0"/>
              <a:t>    return </a:t>
            </a:r>
            <a:r>
              <a:rPr lang="en-US" altLang="ko-KR" sz="1400" i="0" dirty="0" err="1"/>
              <a:t>len</a:t>
            </a:r>
            <a:r>
              <a:rPr lang="en-US" altLang="ko-KR" sz="1400" i="0" dirty="0"/>
              <a:t>;</a:t>
            </a:r>
          </a:p>
          <a:p>
            <a:pPr marL="0" indent="0">
              <a:buNone/>
            </a:pPr>
            <a:r>
              <a:rPr lang="en-US" altLang="ko-KR" sz="1400" i="0" dirty="0"/>
              <a:t>}</a:t>
            </a:r>
          </a:p>
          <a:p>
            <a:pPr marL="0" indent="0">
              <a:buNone/>
            </a:pPr>
            <a:r>
              <a:rPr lang="en-US" altLang="ko-KR" sz="1400" b="0" i="0" dirty="0"/>
              <a:t>/* USER CODE END 0 */</a:t>
            </a:r>
          </a:p>
          <a:p>
            <a:pPr marL="0" indent="0">
              <a:buNone/>
            </a:pPr>
            <a:br>
              <a:rPr lang="en-US" altLang="ko-KR" sz="1400" b="0" i="0" dirty="0"/>
            </a:br>
            <a:endParaRPr lang="en-US" altLang="ko-KR" sz="1400" b="0" i="0" dirty="0"/>
          </a:p>
          <a:p>
            <a:pPr marL="0" indent="0">
              <a:buNone/>
            </a:pPr>
            <a:r>
              <a:rPr lang="en-US" altLang="ko-KR" sz="1400" b="0" i="0" dirty="0"/>
              <a:t>/**</a:t>
            </a:r>
          </a:p>
          <a:p>
            <a:pPr marL="0" indent="0">
              <a:buNone/>
            </a:pPr>
            <a:r>
              <a:rPr lang="en-US" altLang="ko-KR" sz="1400" b="0" i="0" dirty="0"/>
              <a:t>* @brief The application entry point.</a:t>
            </a:r>
          </a:p>
          <a:p>
            <a:pPr marL="0" indent="0">
              <a:buNone/>
            </a:pPr>
            <a:r>
              <a:rPr lang="en-US" altLang="ko-KR" sz="1400" b="0" i="0" dirty="0"/>
              <a:t>* @</a:t>
            </a:r>
            <a:r>
              <a:rPr lang="en-US" altLang="ko-KR" sz="1400" b="0" i="0" u="sng" dirty="0"/>
              <a:t>retval</a:t>
            </a:r>
            <a:r>
              <a:rPr lang="en-US" altLang="ko-KR" sz="1400" b="0" i="0" dirty="0"/>
              <a:t> </a:t>
            </a:r>
            <a:r>
              <a:rPr lang="en-US" altLang="ko-KR" sz="1400" b="0" i="0" u="sng" dirty="0"/>
              <a:t>int</a:t>
            </a:r>
            <a:endParaRPr lang="en-US" altLang="ko-KR" sz="1400" b="0" i="0" dirty="0"/>
          </a:p>
          <a:p>
            <a:pPr marL="0" indent="0">
              <a:buNone/>
            </a:pPr>
            <a:r>
              <a:rPr lang="en-US" altLang="ko-KR" sz="1400" b="0" i="0" dirty="0"/>
              <a:t>*/</a:t>
            </a:r>
          </a:p>
          <a:p>
            <a:pPr marL="0" indent="0">
              <a:buNone/>
            </a:pPr>
            <a:r>
              <a:rPr lang="en-US" altLang="ko-KR" sz="1400" b="0" i="0" dirty="0"/>
              <a:t>int main(void)</a:t>
            </a:r>
          </a:p>
          <a:p>
            <a:pPr marL="0" indent="0">
              <a:buNone/>
            </a:pPr>
            <a:r>
              <a:rPr lang="en-US" altLang="ko-KR" sz="1400" b="0" i="0" dirty="0"/>
              <a:t>{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</p:spTree>
    <p:extLst>
      <p:ext uri="{BB962C8B-B14F-4D97-AF65-F5344CB8AC3E}">
        <p14:creationId xmlns:p14="http://schemas.microsoft.com/office/powerpoint/2010/main" val="34519299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8AF21-BFD4-50A6-252E-75FE81D9B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25BBC2-0553-AAAB-ECDB-CAF91ED92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Code </a:t>
            </a:r>
            <a:r>
              <a:rPr lang="ko-KR" altLang="en-US" dirty="0"/>
              <a:t>수정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D529E7-84D7-A536-CD89-1414855BD7DB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lnSpcReduction="10000"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BMA280</a:t>
            </a:r>
            <a:r>
              <a:rPr lang="ko-KR" altLang="en-US" b="0" i="0" kern="0" dirty="0"/>
              <a:t>의 </a:t>
            </a:r>
            <a:r>
              <a:rPr lang="en-US" altLang="ko-KR" b="0" i="0" kern="0" dirty="0"/>
              <a:t>slave address</a:t>
            </a:r>
            <a:r>
              <a:rPr lang="ko-KR" altLang="en-US" b="0" i="0" kern="0" dirty="0"/>
              <a:t>는 </a:t>
            </a:r>
            <a:r>
              <a:rPr lang="en-US" altLang="ko-KR" b="0" i="0" kern="0" dirty="0"/>
              <a:t>0x18</a:t>
            </a:r>
            <a:r>
              <a:rPr lang="ko-KR" altLang="en-US" b="0" i="0" kern="0" dirty="0"/>
              <a:t>이다</a:t>
            </a:r>
            <a:r>
              <a:rPr lang="en-US" altLang="ko-KR" b="0" i="0" kern="0" dirty="0"/>
              <a:t>. </a:t>
            </a:r>
          </a:p>
          <a:p>
            <a:endParaRPr lang="en-US" altLang="ko-KR" b="0" i="0" kern="0" dirty="0"/>
          </a:p>
          <a:p>
            <a:pPr marL="0" indent="0">
              <a:buNone/>
            </a:pPr>
            <a:r>
              <a:rPr lang="en-US" altLang="ko-KR" sz="1200" b="0" i="0" dirty="0"/>
              <a:t>/* Private define ------------------------------------------------------------*/</a:t>
            </a:r>
          </a:p>
          <a:p>
            <a:pPr marL="0" indent="0">
              <a:buNone/>
            </a:pPr>
            <a:r>
              <a:rPr lang="en-US" altLang="ko-KR" sz="1200" b="0" i="0" dirty="0"/>
              <a:t>/* USER CODE BEGIN PD */</a:t>
            </a:r>
          </a:p>
          <a:p>
            <a:pPr marL="0" indent="0">
              <a:buNone/>
            </a:pPr>
            <a:r>
              <a:rPr lang="en-US" altLang="ko-KR" sz="1200" b="0" i="0" dirty="0"/>
              <a:t>#define BMA280_I2C_ADDR (0x18 &lt;&lt; 1)</a:t>
            </a:r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#define BMA280_RA_CHIP_ID           0x00</a:t>
            </a:r>
          </a:p>
          <a:p>
            <a:pPr marL="0" indent="0">
              <a:buNone/>
            </a:pPr>
            <a:r>
              <a:rPr lang="en-US" altLang="ko-KR" sz="1200" b="0" i="0" dirty="0"/>
              <a:t>#define BMA280_RA_X_AXIS_LSB        0x02</a:t>
            </a:r>
          </a:p>
          <a:p>
            <a:pPr marL="0" indent="0">
              <a:buNone/>
            </a:pPr>
            <a:r>
              <a:rPr lang="en-US" altLang="ko-KR" sz="1200" b="0" i="0" dirty="0"/>
              <a:t>#define BMA280_RA_BANDWIDTH       0x10</a:t>
            </a:r>
          </a:p>
          <a:p>
            <a:pPr marL="0" indent="0">
              <a:buNone/>
            </a:pPr>
            <a:r>
              <a:rPr lang="en-US" altLang="ko-KR" sz="1200" b="0" i="0" dirty="0"/>
              <a:t>#define BMA280_RA_RANGE_BWIDTH      0x0f</a:t>
            </a:r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/* range and bandwidth */</a:t>
            </a:r>
          </a:p>
          <a:p>
            <a:pPr marL="0" indent="0">
              <a:buNone/>
            </a:pPr>
            <a:r>
              <a:rPr lang="en-US" altLang="ko-KR" sz="1200" b="0" i="0" dirty="0"/>
              <a:t>#define BMA280_RANGE_2G                0x3</a:t>
            </a:r>
          </a:p>
          <a:p>
            <a:pPr marL="0" indent="0">
              <a:buNone/>
            </a:pPr>
            <a:r>
              <a:rPr lang="en-US" altLang="ko-KR" sz="1200" b="0" i="0" dirty="0"/>
              <a:t>#define BMA280_RANGE_4G                0x5</a:t>
            </a:r>
          </a:p>
          <a:p>
            <a:pPr marL="0" indent="0">
              <a:buNone/>
            </a:pPr>
            <a:r>
              <a:rPr lang="en-US" altLang="ko-KR" sz="1200" b="0" i="0" dirty="0"/>
              <a:t>#define BMA280_RANGE_8G                0x8</a:t>
            </a:r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#define BMA280_BW_7HZ                 0</a:t>
            </a:r>
          </a:p>
          <a:p>
            <a:pPr marL="0" indent="0">
              <a:buNone/>
            </a:pPr>
            <a:r>
              <a:rPr lang="en-US" altLang="ko-KR" sz="1200" b="0" i="0" dirty="0"/>
              <a:t>#define BMA280_BW_7_81HZ                 0x8</a:t>
            </a:r>
          </a:p>
          <a:p>
            <a:pPr marL="0" indent="0">
              <a:buNone/>
            </a:pPr>
            <a:r>
              <a:rPr lang="en-US" altLang="ko-KR" sz="1200" b="0" i="0" dirty="0"/>
              <a:t>#define BMA280_BW_15_13HZ                0x9</a:t>
            </a:r>
          </a:p>
          <a:p>
            <a:pPr marL="0" indent="0">
              <a:buNone/>
            </a:pPr>
            <a:r>
              <a:rPr lang="en-US" altLang="ko-KR" sz="1200" b="0" i="0" dirty="0"/>
              <a:t>#define BMA280_BW_125HZ                12</a:t>
            </a:r>
          </a:p>
          <a:p>
            <a:pPr marL="0" indent="0">
              <a:buNone/>
            </a:pPr>
            <a:r>
              <a:rPr lang="en-US" altLang="ko-KR" sz="1200" b="0" i="0" dirty="0"/>
              <a:t>#define BMA280_BW_250HZ                13</a:t>
            </a:r>
          </a:p>
          <a:p>
            <a:pPr marL="0" indent="0">
              <a:buNone/>
            </a:pPr>
            <a:r>
              <a:rPr lang="en-US" altLang="ko-KR" sz="1200" b="0" i="0" dirty="0"/>
              <a:t>#define BMA280_BW_500HZ                14</a:t>
            </a:r>
          </a:p>
          <a:p>
            <a:pPr marL="0" indent="0">
              <a:buNone/>
            </a:pPr>
            <a:r>
              <a:rPr lang="en-US" altLang="ko-KR" sz="1200" b="0" i="0" dirty="0"/>
              <a:t>#define BMA280_BW_MAX              0xF</a:t>
            </a:r>
          </a:p>
          <a:p>
            <a:pPr marL="0" indent="0">
              <a:buNone/>
            </a:pPr>
            <a:r>
              <a:rPr lang="en-US" altLang="ko-KR" sz="1200" b="0" i="0" dirty="0"/>
              <a:t>/* USER CODE END PD */</a:t>
            </a:r>
          </a:p>
        </p:txBody>
      </p:sp>
    </p:spTree>
    <p:extLst>
      <p:ext uri="{BB962C8B-B14F-4D97-AF65-F5344CB8AC3E}">
        <p14:creationId xmlns:p14="http://schemas.microsoft.com/office/powerpoint/2010/main" val="32072605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F7367-59C3-149F-3C79-B390EB318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3D2876-250B-05C0-11A5-5D998108D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Code </a:t>
            </a:r>
            <a:r>
              <a:rPr lang="ko-KR" altLang="en-US" dirty="0"/>
              <a:t>수정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56E57-BD15-33D7-EA15-28DD97769828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70000" lnSpcReduction="20000"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Chip ID / 3-AXIS </a:t>
            </a:r>
            <a:r>
              <a:rPr lang="ko-KR" altLang="en-US" b="0" i="0" kern="0" dirty="0"/>
              <a:t>데이터 </a:t>
            </a:r>
            <a:r>
              <a:rPr lang="en-US" altLang="ko-KR" b="0" i="0" kern="0" dirty="0"/>
              <a:t>read </a:t>
            </a:r>
            <a:r>
              <a:rPr lang="ko-KR" altLang="en-US" b="0" i="0" kern="0" dirty="0"/>
              <a:t>루틴</a:t>
            </a:r>
            <a:r>
              <a:rPr lang="en-US" altLang="ko-KR" b="0" i="0" kern="0" dirty="0"/>
              <a:t> </a:t>
            </a:r>
          </a:p>
          <a:p>
            <a:endParaRPr lang="en-US" altLang="ko-KR" b="0" i="0" kern="0" dirty="0"/>
          </a:p>
          <a:p>
            <a:pPr marL="0" indent="0">
              <a:buNone/>
            </a:pPr>
            <a:r>
              <a:rPr lang="en-US" altLang="ko-KR" sz="1200" b="0" i="0" dirty="0"/>
              <a:t>static uint8_t Read_1_Byte(uint8_t address)</a:t>
            </a:r>
          </a:p>
          <a:p>
            <a:pPr marL="0" indent="0">
              <a:buNone/>
            </a:pPr>
            <a:r>
              <a:rPr lang="en-US" altLang="ko-KR" sz="1200" b="0" i="0" dirty="0"/>
              <a:t>{</a:t>
            </a:r>
          </a:p>
          <a:p>
            <a:pPr marL="0" indent="0">
              <a:buNone/>
            </a:pPr>
            <a:r>
              <a:rPr lang="en-US" altLang="ko-KR" sz="1200" b="0" i="0" dirty="0"/>
              <a:t>    uint8_t </a:t>
            </a:r>
            <a:r>
              <a:rPr lang="en-US" altLang="ko-KR" sz="1200" b="0" i="0" dirty="0" err="1"/>
              <a:t>Buffer_Tx</a:t>
            </a:r>
            <a:r>
              <a:rPr lang="en-US" altLang="ko-KR" sz="1200" b="0" i="0" dirty="0"/>
              <a:t>;</a:t>
            </a:r>
          </a:p>
          <a:p>
            <a:pPr marL="0" indent="0">
              <a:buNone/>
            </a:pPr>
            <a:r>
              <a:rPr lang="en-US" altLang="ko-KR" sz="1200" b="0" i="0" dirty="0"/>
              <a:t>    uint8_t </a:t>
            </a:r>
            <a:r>
              <a:rPr lang="en-US" altLang="ko-KR" sz="1200" b="0" i="0" dirty="0" err="1"/>
              <a:t>Buffer_Rx</a:t>
            </a:r>
            <a:r>
              <a:rPr lang="en-US" altLang="ko-KR" sz="1200" b="0" i="0" dirty="0"/>
              <a:t>;</a:t>
            </a:r>
          </a:p>
          <a:p>
            <a:pPr marL="0" indent="0">
              <a:buNone/>
            </a:pPr>
            <a:r>
              <a:rPr lang="fr-FR" altLang="ko-KR" sz="1200" b="0" i="0" dirty="0"/>
              <a:t>    int16_t x, y, z;</a:t>
            </a: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   </a:t>
            </a:r>
          </a:p>
          <a:p>
            <a:pPr marL="0" indent="0">
              <a:buNone/>
            </a:pPr>
            <a:r>
              <a:rPr lang="en-US" altLang="ko-KR" sz="1200" b="0" i="0" dirty="0"/>
              <a:t>    </a:t>
            </a:r>
            <a:r>
              <a:rPr lang="en-US" altLang="ko-KR" sz="1200" b="0" i="0" dirty="0" err="1"/>
              <a:t>Buffer_Tx</a:t>
            </a:r>
            <a:r>
              <a:rPr lang="en-US" altLang="ko-KR" sz="1200" b="0" i="0" dirty="0"/>
              <a:t> = address;</a:t>
            </a:r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    HAL_I2C_Master_Transmit(&amp;hi2c1, BMA280_I2C_ADDR, &amp;</a:t>
            </a:r>
            <a:r>
              <a:rPr lang="en-US" altLang="ko-KR" sz="1200" b="0" i="0" dirty="0" err="1"/>
              <a:t>Buffer_Tx</a:t>
            </a:r>
            <a:r>
              <a:rPr lang="en-US" altLang="ko-KR" sz="1200" b="0" i="0" dirty="0"/>
              <a:t>, 1, 1000);</a:t>
            </a:r>
          </a:p>
          <a:p>
            <a:pPr marL="0" indent="0">
              <a:buNone/>
            </a:pPr>
            <a:r>
              <a:rPr lang="en-US" altLang="ko-KR" sz="1200" b="0" i="0" dirty="0"/>
              <a:t>    HAL_I2C_Master_Receive(&amp;hi2c1, BMA280_I2C_ADDR, &amp;</a:t>
            </a:r>
            <a:r>
              <a:rPr lang="en-US" altLang="ko-KR" sz="1200" b="0" i="0" dirty="0" err="1"/>
              <a:t>Buffer_Rx</a:t>
            </a:r>
            <a:r>
              <a:rPr lang="en-US" altLang="ko-KR" sz="1200" b="0" i="0" dirty="0"/>
              <a:t>, 1, 1000);</a:t>
            </a:r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    return </a:t>
            </a:r>
            <a:r>
              <a:rPr lang="en-US" altLang="ko-KR" sz="1200" b="0" i="0" dirty="0" err="1"/>
              <a:t>Buffer_Rx</a:t>
            </a:r>
            <a:r>
              <a:rPr lang="en-US" altLang="ko-KR" sz="1200" b="0" i="0" dirty="0"/>
              <a:t>;</a:t>
            </a:r>
          </a:p>
          <a:p>
            <a:pPr marL="0" indent="0">
              <a:buNone/>
            </a:pPr>
            <a:r>
              <a:rPr lang="en-US" altLang="ko-KR" sz="1200" b="0" i="0" dirty="0"/>
              <a:t>}</a:t>
            </a:r>
          </a:p>
          <a:p>
            <a:pPr marL="0" indent="0">
              <a:buNone/>
            </a:pPr>
            <a:r>
              <a:rPr lang="en-US" altLang="ko-KR" sz="1200" b="0" i="0" dirty="0"/>
              <a:t>static uint8_t </a:t>
            </a:r>
            <a:r>
              <a:rPr lang="en-US" altLang="ko-KR" sz="1200" b="0" i="0" dirty="0" err="1"/>
              <a:t>Get_ChipID</a:t>
            </a:r>
            <a:r>
              <a:rPr lang="en-US" altLang="ko-KR" sz="1200" b="0" i="0" dirty="0"/>
              <a:t>(void)</a:t>
            </a:r>
          </a:p>
          <a:p>
            <a:pPr marL="0" indent="0">
              <a:buNone/>
            </a:pPr>
            <a:r>
              <a:rPr lang="en-US" altLang="ko-KR" sz="1200" b="0" i="0" dirty="0"/>
              <a:t>{</a:t>
            </a:r>
          </a:p>
          <a:p>
            <a:pPr marL="0" indent="0">
              <a:buNone/>
            </a:pPr>
            <a:r>
              <a:rPr lang="en-US" altLang="ko-KR" sz="1200" b="0" i="0" dirty="0"/>
              <a:t>    return Read_1_Byte(BMA280_RA_CHIP_ID);</a:t>
            </a:r>
          </a:p>
          <a:p>
            <a:pPr marL="0" indent="0">
              <a:buNone/>
            </a:pPr>
            <a:r>
              <a:rPr lang="en-US" altLang="ko-KR" sz="1200" b="0" i="0" dirty="0"/>
              <a:t>}</a:t>
            </a:r>
          </a:p>
          <a:p>
            <a:pPr marL="0" indent="0">
              <a:buNone/>
            </a:pPr>
            <a:r>
              <a:rPr lang="en-US" altLang="ko-KR" sz="1200" b="0" i="0" dirty="0"/>
              <a:t>static void Read_3_Axis_BMA280_Data(int16_t * </a:t>
            </a:r>
            <a:r>
              <a:rPr lang="en-US" altLang="ko-KR" sz="1200" b="0" i="0" dirty="0" err="1"/>
              <a:t>xData_p</a:t>
            </a:r>
            <a:r>
              <a:rPr lang="en-US" altLang="ko-KR" sz="1200" b="0" i="0" dirty="0"/>
              <a:t>, int16_t * </a:t>
            </a:r>
            <a:r>
              <a:rPr lang="en-US" altLang="ko-KR" sz="1200" b="0" i="0" dirty="0" err="1"/>
              <a:t>yData_p</a:t>
            </a:r>
            <a:r>
              <a:rPr lang="en-US" altLang="ko-KR" sz="1200" b="0" i="0" dirty="0"/>
              <a:t>, int16_t * </a:t>
            </a:r>
            <a:r>
              <a:rPr lang="en-US" altLang="ko-KR" sz="1200" b="0" i="0" dirty="0" err="1"/>
              <a:t>zData_p</a:t>
            </a:r>
            <a:r>
              <a:rPr lang="en-US" altLang="ko-KR" sz="1200" b="0" i="0" dirty="0"/>
              <a:t>)</a:t>
            </a:r>
          </a:p>
          <a:p>
            <a:pPr marL="0" indent="0">
              <a:buNone/>
            </a:pPr>
            <a:r>
              <a:rPr lang="en-US" altLang="ko-KR" sz="1200" b="0" i="0" dirty="0"/>
              <a:t>{</a:t>
            </a:r>
          </a:p>
          <a:p>
            <a:pPr marL="0" indent="0">
              <a:buNone/>
            </a:pPr>
            <a:r>
              <a:rPr lang="en-US" altLang="ko-KR" sz="1200" b="0" i="0" dirty="0"/>
              <a:t>    uint8_t </a:t>
            </a:r>
            <a:r>
              <a:rPr lang="en-US" altLang="ko-KR" sz="1200" b="0" i="0" dirty="0" err="1"/>
              <a:t>Buffer_Tx</a:t>
            </a:r>
            <a:r>
              <a:rPr lang="en-US" altLang="ko-KR" sz="1200" b="0" i="0" dirty="0"/>
              <a:t>;</a:t>
            </a:r>
          </a:p>
          <a:p>
            <a:pPr marL="0" indent="0">
              <a:buNone/>
            </a:pPr>
            <a:r>
              <a:rPr lang="en-US" altLang="ko-KR" sz="1200" b="0" i="0" dirty="0"/>
              <a:t>    uint8_t </a:t>
            </a:r>
            <a:r>
              <a:rPr lang="en-US" altLang="ko-KR" sz="1200" b="0" i="0" dirty="0" err="1"/>
              <a:t>Buffer_Rx</a:t>
            </a:r>
            <a:r>
              <a:rPr lang="en-US" altLang="ko-KR" sz="1200" b="0" i="0" dirty="0"/>
              <a:t>[6];</a:t>
            </a:r>
          </a:p>
          <a:p>
            <a:pPr marL="0" indent="0">
              <a:buNone/>
            </a:pPr>
            <a:r>
              <a:rPr lang="en-US" altLang="ko-KR" sz="1200" b="0" i="0" dirty="0"/>
              <a:t>    int16_t x, y, z;</a:t>
            </a:r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    </a:t>
            </a:r>
            <a:r>
              <a:rPr lang="en-US" altLang="ko-KR" sz="1200" b="0" i="0" dirty="0" err="1"/>
              <a:t>Buffer_Tx</a:t>
            </a:r>
            <a:r>
              <a:rPr lang="en-US" altLang="ko-KR" sz="1200" b="0" i="0" dirty="0"/>
              <a:t> = BMA280_RA_X_AXIS_LSB;</a:t>
            </a:r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    HAL_I2C_Master_Transmit(&amp;hi2c1, BMA280_I2C_ADDR, &amp;</a:t>
            </a:r>
            <a:r>
              <a:rPr lang="en-US" altLang="ko-KR" sz="1200" b="0" i="0" dirty="0" err="1"/>
              <a:t>Buffer_Tx</a:t>
            </a:r>
            <a:r>
              <a:rPr lang="en-US" altLang="ko-KR" sz="1200" b="0" i="0" dirty="0"/>
              <a:t>, 1, 1000);</a:t>
            </a:r>
          </a:p>
          <a:p>
            <a:pPr marL="0" indent="0">
              <a:buNone/>
            </a:pPr>
            <a:r>
              <a:rPr lang="en-US" altLang="ko-KR" sz="1200" b="0" i="0" dirty="0"/>
              <a:t>    HAL_I2C_Master_Receive(&amp;hi2c1, BMA280_I2C_ADDR, </a:t>
            </a:r>
            <a:r>
              <a:rPr lang="en-US" altLang="ko-KR" sz="1200" b="0" i="0" dirty="0" err="1"/>
              <a:t>Buffer_Rx</a:t>
            </a:r>
            <a:r>
              <a:rPr lang="en-US" altLang="ko-KR" sz="1200" b="0" i="0" dirty="0"/>
              <a:t>, 6, 1000);</a:t>
            </a:r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    x = ((int16_t)</a:t>
            </a:r>
            <a:r>
              <a:rPr lang="en-US" altLang="ko-KR" sz="1200" b="0" i="0" dirty="0" err="1"/>
              <a:t>Buffer_Rx</a:t>
            </a:r>
            <a:r>
              <a:rPr lang="en-US" altLang="ko-KR" sz="1200" b="0" i="0" dirty="0"/>
              <a:t>[1] &lt;&lt; 6) | (</a:t>
            </a:r>
            <a:r>
              <a:rPr lang="en-US" altLang="ko-KR" sz="1200" b="0" i="0" dirty="0" err="1"/>
              <a:t>Buffer_Rx</a:t>
            </a:r>
            <a:r>
              <a:rPr lang="en-US" altLang="ko-KR" sz="1200" b="0" i="0" dirty="0"/>
              <a:t>[0] &gt;&gt; 2);</a:t>
            </a:r>
          </a:p>
          <a:p>
            <a:pPr marL="0" indent="0">
              <a:buNone/>
            </a:pPr>
            <a:r>
              <a:rPr lang="en-US" altLang="ko-KR" sz="1200" b="0" i="0" dirty="0"/>
              <a:t>    y = ((int16_t)</a:t>
            </a:r>
            <a:r>
              <a:rPr lang="en-US" altLang="ko-KR" sz="1200" b="0" i="0" dirty="0" err="1"/>
              <a:t>Buffer_Rx</a:t>
            </a:r>
            <a:r>
              <a:rPr lang="en-US" altLang="ko-KR" sz="1200" b="0" i="0" dirty="0"/>
              <a:t>[3] &lt;&lt; 6) | (</a:t>
            </a:r>
            <a:r>
              <a:rPr lang="en-US" altLang="ko-KR" sz="1200" b="0" i="0" dirty="0" err="1"/>
              <a:t>Buffer_Rx</a:t>
            </a:r>
            <a:r>
              <a:rPr lang="en-US" altLang="ko-KR" sz="1200" b="0" i="0" dirty="0"/>
              <a:t>[2] &gt;&gt; 2);</a:t>
            </a:r>
          </a:p>
          <a:p>
            <a:pPr marL="0" indent="0">
              <a:buNone/>
            </a:pPr>
            <a:r>
              <a:rPr lang="en-US" altLang="ko-KR" sz="1200" b="0" i="0" dirty="0"/>
              <a:t>    z = ((int16_t)</a:t>
            </a:r>
            <a:r>
              <a:rPr lang="en-US" altLang="ko-KR" sz="1200" b="0" i="0" dirty="0" err="1"/>
              <a:t>Buffer_Rx</a:t>
            </a:r>
            <a:r>
              <a:rPr lang="en-US" altLang="ko-KR" sz="1200" b="0" i="0" dirty="0"/>
              <a:t>[5] &lt;&lt; 6) | (</a:t>
            </a:r>
            <a:r>
              <a:rPr lang="en-US" altLang="ko-KR" sz="1200" b="0" i="0" dirty="0" err="1"/>
              <a:t>Buffer_Rx</a:t>
            </a:r>
            <a:r>
              <a:rPr lang="en-US" altLang="ko-KR" sz="1200" b="0" i="0" dirty="0"/>
              <a:t>[4] &gt;&gt; 2);</a:t>
            </a:r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    if(x &amp; 0x2000) x |= 0xC000;</a:t>
            </a:r>
          </a:p>
          <a:p>
            <a:pPr marL="0" indent="0">
              <a:buNone/>
            </a:pPr>
            <a:r>
              <a:rPr lang="en-US" altLang="ko-KR" sz="1200" b="0" i="0" dirty="0"/>
              <a:t>    if(y &amp; 0x2000) y |= 0xC000;</a:t>
            </a:r>
          </a:p>
          <a:p>
            <a:pPr marL="0" indent="0">
              <a:buNone/>
            </a:pPr>
            <a:r>
              <a:rPr lang="en-US" altLang="ko-KR" sz="1200" b="0" i="0" dirty="0"/>
              <a:t>    if(z &amp; 0x2000) z |= 0xC000;</a:t>
            </a:r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    * </a:t>
            </a:r>
            <a:r>
              <a:rPr lang="en-US" altLang="ko-KR" sz="1200" b="0" i="0" dirty="0" err="1"/>
              <a:t>xData_p</a:t>
            </a:r>
            <a:r>
              <a:rPr lang="en-US" altLang="ko-KR" sz="1200" b="0" i="0" dirty="0"/>
              <a:t> = x;</a:t>
            </a:r>
          </a:p>
          <a:p>
            <a:pPr marL="0" indent="0">
              <a:buNone/>
            </a:pPr>
            <a:r>
              <a:rPr lang="en-US" altLang="ko-KR" sz="1200" b="0" i="0" dirty="0"/>
              <a:t>    * </a:t>
            </a:r>
            <a:r>
              <a:rPr lang="en-US" altLang="ko-KR" sz="1200" b="0" i="0" dirty="0" err="1"/>
              <a:t>yData_p</a:t>
            </a:r>
            <a:r>
              <a:rPr lang="en-US" altLang="ko-KR" sz="1200" b="0" i="0" dirty="0"/>
              <a:t> = y;</a:t>
            </a:r>
          </a:p>
          <a:p>
            <a:pPr marL="0" indent="0">
              <a:buNone/>
            </a:pPr>
            <a:r>
              <a:rPr lang="en-US" altLang="ko-KR" sz="1200" b="0" i="0" dirty="0"/>
              <a:t>    * </a:t>
            </a:r>
            <a:r>
              <a:rPr lang="en-US" altLang="ko-KR" sz="1200" b="0" i="0" dirty="0" err="1"/>
              <a:t>zData_p</a:t>
            </a:r>
            <a:r>
              <a:rPr lang="en-US" altLang="ko-KR" sz="1200" b="0" i="0" dirty="0"/>
              <a:t> = z;</a:t>
            </a:r>
          </a:p>
          <a:p>
            <a:pPr marL="0" indent="0">
              <a:buNone/>
            </a:pPr>
            <a:r>
              <a:rPr lang="en-US" altLang="ko-KR" sz="1200" b="0" i="0" dirty="0"/>
              <a:t>}</a:t>
            </a:r>
          </a:p>
          <a:p>
            <a:pPr marL="0" indent="0">
              <a:buNone/>
            </a:pPr>
            <a:r>
              <a:rPr lang="en-US" altLang="ko-KR" sz="1200" b="0" i="0" dirty="0"/>
              <a:t>/* USER CODE END 0 */</a:t>
            </a:r>
          </a:p>
        </p:txBody>
      </p:sp>
    </p:spTree>
    <p:extLst>
      <p:ext uri="{BB962C8B-B14F-4D97-AF65-F5344CB8AC3E}">
        <p14:creationId xmlns:p14="http://schemas.microsoft.com/office/powerpoint/2010/main" val="32268122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7E0CF-BF87-996D-5C09-4E4F0D6A3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EEECD9-03F6-9330-59FF-D962300B3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Code </a:t>
            </a:r>
            <a:r>
              <a:rPr lang="ko-KR" altLang="en-US" dirty="0"/>
              <a:t>수정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77FC0-BF65-09A1-9526-9B5685086852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544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lnSpcReduction="10000"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Range, BW </a:t>
            </a:r>
            <a:r>
              <a:rPr lang="ko-KR" altLang="en-US" b="0" i="0" kern="0" dirty="0"/>
              <a:t>설정 후 주기적으로 </a:t>
            </a:r>
            <a:r>
              <a:rPr lang="en-US" altLang="ko-KR" b="0" i="0" kern="0" dirty="0"/>
              <a:t>3-Axis </a:t>
            </a:r>
            <a:r>
              <a:rPr lang="ko-KR" altLang="en-US" b="0" i="0" kern="0" dirty="0"/>
              <a:t>데이터를 읽어서 표시</a:t>
            </a:r>
            <a:endParaRPr lang="en-US" altLang="ko-KR" b="0" i="0" kern="0" dirty="0"/>
          </a:p>
          <a:p>
            <a:endParaRPr lang="en-US" altLang="ko-KR" b="0" i="0" kern="0" dirty="0"/>
          </a:p>
          <a:p>
            <a:pPr marL="0" indent="0">
              <a:buNone/>
            </a:pPr>
            <a:r>
              <a:rPr lang="en-US" altLang="ko-KR" sz="1200" b="0" i="0" dirty="0"/>
              <a:t>int main(void)</a:t>
            </a:r>
          </a:p>
          <a:p>
            <a:pPr marL="0" indent="0">
              <a:buNone/>
            </a:pPr>
            <a:r>
              <a:rPr lang="en-US" altLang="ko-KR" sz="1200" b="0" i="0" dirty="0"/>
              <a:t>{</a:t>
            </a:r>
          </a:p>
          <a:p>
            <a:pPr marL="0" indent="0">
              <a:buNone/>
            </a:pPr>
            <a:r>
              <a:rPr lang="en-US" altLang="ko-KR" sz="1200" b="0" i="0" dirty="0"/>
              <a:t>    uint8_t  </a:t>
            </a:r>
            <a:r>
              <a:rPr lang="en-US" altLang="ko-KR" sz="1200" b="0" i="0" dirty="0" err="1"/>
              <a:t>Buffer_Tx</a:t>
            </a:r>
            <a:r>
              <a:rPr lang="en-US" altLang="ko-KR" sz="1200" b="0" i="0" dirty="0"/>
              <a:t>[2];</a:t>
            </a:r>
          </a:p>
          <a:p>
            <a:pPr marL="0" indent="0">
              <a:buNone/>
            </a:pPr>
            <a:r>
              <a:rPr lang="en-US" altLang="ko-KR" sz="1200" b="0" i="0" dirty="0"/>
              <a:t>    int16_t  </a:t>
            </a:r>
            <a:r>
              <a:rPr lang="en-US" altLang="ko-KR" sz="1200" b="0" i="0" dirty="0" err="1"/>
              <a:t>xData</a:t>
            </a:r>
            <a:r>
              <a:rPr lang="en-US" altLang="ko-KR" sz="1200" b="0" i="0" dirty="0"/>
              <a:t>, </a:t>
            </a:r>
            <a:r>
              <a:rPr lang="en-US" altLang="ko-KR" sz="1200" b="0" i="0" dirty="0" err="1"/>
              <a:t>yData</a:t>
            </a:r>
            <a:r>
              <a:rPr lang="en-US" altLang="ko-KR" sz="1200" b="0" i="0" dirty="0"/>
              <a:t>, </a:t>
            </a:r>
            <a:r>
              <a:rPr lang="en-US" altLang="ko-KR" sz="1200" b="0" i="0" dirty="0" err="1"/>
              <a:t>zData</a:t>
            </a:r>
            <a:r>
              <a:rPr lang="en-US" altLang="ko-KR" sz="1200" b="0" i="0" dirty="0"/>
              <a:t>;</a:t>
            </a:r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  </a:t>
            </a:r>
            <a:r>
              <a:rPr lang="en-US" altLang="ko-KR" sz="1200" b="0" i="0" dirty="0" err="1"/>
              <a:t>printf</a:t>
            </a:r>
            <a:r>
              <a:rPr lang="en-US" altLang="ko-KR" sz="1200" b="0" i="0" dirty="0"/>
              <a:t>("I2C-BMA280 test\r\n");</a:t>
            </a:r>
          </a:p>
          <a:p>
            <a:pPr marL="0" indent="0">
              <a:buNone/>
            </a:pPr>
            <a:r>
              <a:rPr lang="en-US" altLang="ko-KR" sz="1200" b="0" i="0" dirty="0"/>
              <a:t>  </a:t>
            </a:r>
            <a:r>
              <a:rPr lang="en-US" altLang="ko-KR" sz="1200" b="0" i="0" dirty="0" err="1"/>
              <a:t>printf</a:t>
            </a:r>
            <a:r>
              <a:rPr lang="en-US" altLang="ko-KR" sz="1200" b="0" i="0" dirty="0"/>
              <a:t>("</a:t>
            </a:r>
            <a:r>
              <a:rPr lang="en-US" altLang="ko-KR" sz="1200" b="0" i="0" dirty="0" err="1"/>
              <a:t>Get_ChipID</a:t>
            </a:r>
            <a:r>
              <a:rPr lang="en-US" altLang="ko-KR" sz="1200" b="0" i="0" dirty="0"/>
              <a:t>: %X\r\n", </a:t>
            </a:r>
            <a:r>
              <a:rPr lang="en-US" altLang="ko-KR" sz="1200" b="0" i="0" dirty="0" err="1"/>
              <a:t>Get_ChipID</a:t>
            </a:r>
            <a:r>
              <a:rPr lang="en-US" altLang="ko-KR" sz="1200" b="0" i="0" dirty="0"/>
              <a:t>());</a:t>
            </a:r>
          </a:p>
          <a:p>
            <a:pPr marL="0" indent="0">
              <a:buNone/>
            </a:pPr>
            <a:r>
              <a:rPr lang="en-US" altLang="ko-KR" sz="1200" b="0" i="0" dirty="0"/>
              <a:t>  </a:t>
            </a:r>
            <a:r>
              <a:rPr lang="en-US" altLang="ko-KR" sz="1200" b="0" i="0" dirty="0" err="1"/>
              <a:t>Buffer_Tx</a:t>
            </a:r>
            <a:r>
              <a:rPr lang="en-US" altLang="ko-KR" sz="1200" b="0" i="0" dirty="0"/>
              <a:t>[0] = BMA280_RA_RANGE_BWIDTH;</a:t>
            </a:r>
          </a:p>
          <a:p>
            <a:pPr marL="0" indent="0">
              <a:buNone/>
            </a:pPr>
            <a:r>
              <a:rPr lang="en-US" altLang="ko-KR" sz="1200" b="0" i="0" dirty="0"/>
              <a:t>  </a:t>
            </a:r>
            <a:r>
              <a:rPr lang="en-US" altLang="ko-KR" sz="1200" b="0" i="0" dirty="0" err="1"/>
              <a:t>Buffer_Tx</a:t>
            </a:r>
            <a:r>
              <a:rPr lang="en-US" altLang="ko-KR" sz="1200" b="0" i="0" dirty="0"/>
              <a:t>[1] = BMA280_RANGE_8G;</a:t>
            </a:r>
          </a:p>
          <a:p>
            <a:pPr marL="0" indent="0">
              <a:buNone/>
            </a:pPr>
            <a:r>
              <a:rPr lang="en-US" altLang="ko-KR" sz="1200" b="0" i="0" dirty="0"/>
              <a:t>  HAL_I2C_Master_Transmit(&amp;hi2c1, BMA280_I2C_ADDR, </a:t>
            </a:r>
            <a:r>
              <a:rPr lang="en-US" altLang="ko-KR" sz="1200" b="0" i="0" dirty="0" err="1"/>
              <a:t>Buffer_Tx</a:t>
            </a:r>
            <a:r>
              <a:rPr lang="en-US" altLang="ko-KR" sz="1200" b="0" i="0" dirty="0"/>
              <a:t>, 2, 1000);</a:t>
            </a:r>
          </a:p>
          <a:p>
            <a:pPr marL="0" indent="0">
              <a:buNone/>
            </a:pPr>
            <a:r>
              <a:rPr lang="en-US" altLang="ko-KR" sz="1200" b="0" i="0" dirty="0"/>
              <a:t>  </a:t>
            </a:r>
            <a:r>
              <a:rPr lang="en-US" altLang="ko-KR" sz="1200" b="0" i="0" dirty="0" err="1"/>
              <a:t>Buffer_Tx</a:t>
            </a:r>
            <a:r>
              <a:rPr lang="en-US" altLang="ko-KR" sz="1200" b="0" i="0" dirty="0"/>
              <a:t>[0] = BMA280_RA_BANDWIDTH;</a:t>
            </a:r>
          </a:p>
          <a:p>
            <a:pPr marL="0" indent="0">
              <a:buNone/>
            </a:pPr>
            <a:r>
              <a:rPr lang="en-US" altLang="ko-KR" sz="1200" b="0" i="0" dirty="0"/>
              <a:t>  </a:t>
            </a:r>
            <a:r>
              <a:rPr lang="en-US" altLang="ko-KR" sz="1200" b="0" i="0" dirty="0" err="1"/>
              <a:t>Buffer_Tx</a:t>
            </a:r>
            <a:r>
              <a:rPr lang="en-US" altLang="ko-KR" sz="1200" b="0" i="0" dirty="0"/>
              <a:t>[1] = BMA280_BW_500HZ;</a:t>
            </a:r>
          </a:p>
          <a:p>
            <a:pPr marL="0" indent="0">
              <a:buNone/>
            </a:pPr>
            <a:r>
              <a:rPr lang="en-US" altLang="ko-KR" sz="1200" b="0" i="0" dirty="0"/>
              <a:t>  HAL_I2C_Master_Transmit(&amp;hi2c1, BMA280_I2C_ADDR, </a:t>
            </a:r>
            <a:r>
              <a:rPr lang="en-US" altLang="ko-KR" sz="1200" b="0" i="0" dirty="0" err="1"/>
              <a:t>Buffer_Tx</a:t>
            </a:r>
            <a:r>
              <a:rPr lang="en-US" altLang="ko-KR" sz="1200" b="0" i="0" dirty="0"/>
              <a:t>, 2, 1000);</a:t>
            </a:r>
          </a:p>
          <a:p>
            <a:pPr marL="0" indent="0">
              <a:buNone/>
            </a:pPr>
            <a:r>
              <a:rPr lang="en-US" altLang="ko-KR" sz="1200" b="0" i="0" dirty="0"/>
              <a:t>  </a:t>
            </a:r>
            <a:r>
              <a:rPr lang="en-US" altLang="ko-KR" sz="1200" b="0" i="0" dirty="0" err="1"/>
              <a:t>printf</a:t>
            </a:r>
            <a:r>
              <a:rPr lang="en-US" altLang="ko-KR" sz="1200" b="0" i="0" dirty="0"/>
              <a:t>("Set Param BMA280_RANGE_8G, BMA280_BW_500HZ\r\n");</a:t>
            </a:r>
          </a:p>
          <a:p>
            <a:pPr marL="0" indent="0">
              <a:buNone/>
            </a:pPr>
            <a:endParaRPr lang="en-US" altLang="ko-KR" sz="1200" b="0" i="0" dirty="0"/>
          </a:p>
          <a:p>
            <a:pPr marL="0" indent="0">
              <a:buNone/>
            </a:pPr>
            <a:r>
              <a:rPr lang="en-US" altLang="ko-KR" sz="1200" b="0" i="0" dirty="0"/>
              <a:t>  while (1)</a:t>
            </a:r>
          </a:p>
          <a:p>
            <a:pPr marL="0" indent="0">
              <a:buNone/>
            </a:pPr>
            <a:r>
              <a:rPr lang="en-US" altLang="ko-KR" sz="1200" b="0" i="0" dirty="0"/>
              <a:t>  {</a:t>
            </a:r>
          </a:p>
          <a:p>
            <a:pPr marL="0" indent="0">
              <a:buNone/>
            </a:pPr>
            <a:r>
              <a:rPr lang="en-US" altLang="ko-KR" sz="1200" b="0" i="0" dirty="0"/>
              <a:t>      </a:t>
            </a:r>
            <a:r>
              <a:rPr lang="en-US" altLang="ko-KR" sz="1200" b="0" i="0" dirty="0" err="1"/>
              <a:t>HAL_Delay</a:t>
            </a:r>
            <a:r>
              <a:rPr lang="en-US" altLang="ko-KR" sz="1200" b="0" i="0" dirty="0"/>
              <a:t>(1000);</a:t>
            </a:r>
          </a:p>
          <a:p>
            <a:pPr marL="0" indent="0">
              <a:buNone/>
            </a:pPr>
            <a:r>
              <a:rPr lang="en-US" altLang="ko-KR" sz="1200" b="0" i="0" dirty="0"/>
              <a:t>      Read_3_Axis_BMA280_Data(&amp;</a:t>
            </a:r>
            <a:r>
              <a:rPr lang="en-US" altLang="ko-KR" sz="1200" b="0" i="0" dirty="0" err="1"/>
              <a:t>xData</a:t>
            </a:r>
            <a:r>
              <a:rPr lang="en-US" altLang="ko-KR" sz="1200" b="0" i="0" dirty="0"/>
              <a:t>, &amp;</a:t>
            </a:r>
            <a:r>
              <a:rPr lang="en-US" altLang="ko-KR" sz="1200" b="0" i="0" dirty="0" err="1"/>
              <a:t>yData</a:t>
            </a:r>
            <a:r>
              <a:rPr lang="en-US" altLang="ko-KR" sz="1200" b="0" i="0" dirty="0"/>
              <a:t>, &amp;</a:t>
            </a:r>
            <a:r>
              <a:rPr lang="en-US" altLang="ko-KR" sz="1200" b="0" i="0" dirty="0" err="1"/>
              <a:t>zData</a:t>
            </a:r>
            <a:r>
              <a:rPr lang="en-US" altLang="ko-KR" sz="1200" b="0" i="0" dirty="0"/>
              <a:t>);</a:t>
            </a:r>
          </a:p>
          <a:p>
            <a:pPr marL="0" indent="0">
              <a:buNone/>
            </a:pPr>
            <a:r>
              <a:rPr lang="en-US" altLang="ko-KR" sz="1200" b="0" i="0" dirty="0"/>
              <a:t>      </a:t>
            </a:r>
            <a:r>
              <a:rPr lang="en-US" altLang="ko-KR" sz="1200" b="0" i="0" dirty="0" err="1"/>
              <a:t>printf</a:t>
            </a:r>
            <a:r>
              <a:rPr lang="en-US" altLang="ko-KR" sz="1200" b="0" i="0" dirty="0"/>
              <a:t>("x: %f, y: %f, z: %f\r\n", </a:t>
            </a:r>
            <a:r>
              <a:rPr lang="en-US" altLang="ko-KR" sz="1200" b="0" i="0" dirty="0" err="1"/>
              <a:t>xData</a:t>
            </a:r>
            <a:r>
              <a:rPr lang="en-US" altLang="ko-KR" sz="1200" b="0" i="0" dirty="0"/>
              <a:t> * 0.244 / 1000, </a:t>
            </a:r>
            <a:r>
              <a:rPr lang="en-US" altLang="ko-KR" sz="1200" b="0" i="0" dirty="0" err="1"/>
              <a:t>yData</a:t>
            </a:r>
            <a:r>
              <a:rPr lang="en-US" altLang="ko-KR" sz="1200" b="0" i="0" dirty="0"/>
              <a:t> * 0.244 / 1000, </a:t>
            </a:r>
            <a:r>
              <a:rPr lang="en-US" altLang="ko-KR" sz="1200" b="0" i="0" dirty="0" err="1"/>
              <a:t>zData</a:t>
            </a:r>
            <a:r>
              <a:rPr lang="en-US" altLang="ko-KR" sz="1200" b="0" i="0" dirty="0"/>
              <a:t> * 0.244 / 1000);  }</a:t>
            </a:r>
          </a:p>
          <a:p>
            <a:pPr marL="0" indent="0">
              <a:buNone/>
            </a:pPr>
            <a:r>
              <a:rPr lang="en-US" altLang="ko-KR" sz="1200" b="0" i="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848639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A4767-0E7A-E8D3-ABC6-6DF7ACEF40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129216-DF74-AAF1-8F0D-0C40F5AFF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Build</a:t>
            </a:r>
            <a:r>
              <a:rPr lang="ko-KR" alt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86E09-B1AD-4CC3-E143-56E52148A587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ko-KR" altLang="en-US" b="0" i="0" kern="0" dirty="0"/>
              <a:t>아래 버튼 클릭하여 </a:t>
            </a:r>
            <a:r>
              <a:rPr lang="en-US" altLang="ko-KR" b="0" i="0" kern="0" dirty="0"/>
              <a:t>Build</a:t>
            </a:r>
          </a:p>
          <a:p>
            <a:pPr marL="0" indent="0">
              <a:buNone/>
            </a:pPr>
            <a:endParaRPr lang="en-US" altLang="ko-KR" b="0" i="0" kern="0" dirty="0"/>
          </a:p>
          <a:p>
            <a:pPr marL="0" indent="0">
              <a:buNone/>
            </a:pPr>
            <a:endParaRPr lang="en-US" altLang="ko-KR" sz="1400" b="0" i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B538E2A-ECBE-73F7-2864-2D1034AF14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696" y="1484784"/>
            <a:ext cx="5200650" cy="422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794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7755D-007D-0D13-8034-0ACC4F8BC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B0814A-47DF-9707-6D4B-1C2B9D69B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Build </a:t>
            </a:r>
            <a:r>
              <a:rPr lang="ko-KR" altLang="en-US" dirty="0"/>
              <a:t>결과물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6A087B-9A95-B5F6-52C4-344BCB941593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ko-KR" altLang="en-US" b="0" i="0" kern="0" dirty="0"/>
              <a:t>빌드 결과물 이름은 </a:t>
            </a:r>
            <a:r>
              <a:rPr lang="en-US" altLang="ko-KR" b="0" i="0" kern="0" dirty="0"/>
              <a:t>[</a:t>
            </a:r>
            <a:r>
              <a:rPr lang="ko-KR" altLang="en-US" b="0" i="0" kern="0" dirty="0"/>
              <a:t>프로젝트 이름</a:t>
            </a:r>
            <a:r>
              <a:rPr lang="en-US" altLang="ko-KR" b="0" i="0" kern="0" dirty="0"/>
              <a:t>].bin</a:t>
            </a:r>
            <a:r>
              <a:rPr lang="ko-KR" altLang="en-US" b="0" i="0" kern="0" dirty="0"/>
              <a:t>이다</a:t>
            </a:r>
            <a:r>
              <a:rPr lang="en-US" altLang="ko-KR" b="0" i="0" kern="0" dirty="0"/>
              <a:t>.</a:t>
            </a:r>
          </a:p>
          <a:p>
            <a:pPr marL="0" indent="0">
              <a:buNone/>
            </a:pPr>
            <a:endParaRPr lang="en-US" altLang="ko-KR" b="0" i="0" kern="0" dirty="0"/>
          </a:p>
          <a:p>
            <a:pPr marL="0" indent="0">
              <a:buNone/>
            </a:pPr>
            <a:endParaRPr lang="en-US" altLang="ko-KR" sz="1400" b="0" i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스크린샷, 폰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9557283-11C0-814B-21EC-6834EEFF0E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5162" y="1527237"/>
            <a:ext cx="2733675" cy="401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9580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EB8F8-B0D9-705C-74BC-ECAD471F8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366729-F726-75F5-0172-6C7BEF8E1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BIN </a:t>
            </a:r>
            <a:r>
              <a:rPr lang="ko-KR" altLang="en-US" dirty="0"/>
              <a:t>다운로드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903C50-C32B-952D-8FC4-82AA18768427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UART1</a:t>
            </a:r>
            <a:r>
              <a:rPr lang="ko-KR" altLang="en-US" b="0" i="0" kern="0" dirty="0"/>
              <a:t>과 연결되어 있는 터미널</a:t>
            </a:r>
            <a:r>
              <a:rPr lang="en-US" altLang="ko-KR" b="0" i="0" kern="0" dirty="0"/>
              <a:t>(</a:t>
            </a:r>
            <a:r>
              <a:rPr lang="en-US" altLang="ko-KR" b="0" i="0" kern="0" dirty="0" err="1"/>
              <a:t>Teraterm</a:t>
            </a:r>
            <a:r>
              <a:rPr lang="en-US" altLang="ko-KR" b="0" i="0" kern="0" dirty="0"/>
              <a:t>) </a:t>
            </a:r>
            <a:r>
              <a:rPr lang="ko-KR" altLang="en-US" b="0" i="0" kern="0" dirty="0"/>
              <a:t>종료</a:t>
            </a:r>
            <a:r>
              <a:rPr lang="en-US" altLang="ko-KR" b="0" i="0" kern="0" dirty="0"/>
              <a:t>.</a:t>
            </a:r>
          </a:p>
          <a:p>
            <a:r>
              <a:rPr lang="en-US" altLang="ko-KR" b="0" i="0" kern="0" dirty="0"/>
              <a:t>Mango-M32F4</a:t>
            </a:r>
            <a:r>
              <a:rPr lang="ko-KR" altLang="en-US" b="0" i="0" kern="0" dirty="0"/>
              <a:t>를 다운로드 모드로 설정하고 </a:t>
            </a:r>
            <a:r>
              <a:rPr lang="en-US" altLang="ko-KR" b="0" i="0" kern="0" dirty="0"/>
              <a:t>SW3 </a:t>
            </a:r>
            <a:r>
              <a:rPr lang="ko-KR" altLang="en-US" b="0" i="0" kern="0" dirty="0"/>
              <a:t>리셋 키를 누른다</a:t>
            </a:r>
            <a:r>
              <a:rPr lang="en-US" altLang="ko-KR" b="0" i="0" kern="0" dirty="0"/>
              <a:t>.</a:t>
            </a:r>
          </a:p>
          <a:p>
            <a:pPr marL="0" indent="0">
              <a:buNone/>
            </a:pPr>
            <a:endParaRPr lang="en-US" altLang="ko-KR" b="0" i="0" kern="0" dirty="0"/>
          </a:p>
          <a:p>
            <a:pPr marL="0" indent="0">
              <a:buNone/>
            </a:pPr>
            <a:endParaRPr lang="en-US" altLang="ko-KR" sz="1400" b="0" i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6C9064-0094-7603-2C7D-8DA73C19FD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23728" y="1700808"/>
            <a:ext cx="4951264" cy="46501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06E5B50-7D70-E392-6D79-FECDCABBF39D}"/>
              </a:ext>
            </a:extLst>
          </p:cNvPr>
          <p:cNvSpPr txBox="1"/>
          <p:nvPr/>
        </p:nvSpPr>
        <p:spPr>
          <a:xfrm>
            <a:off x="3419872" y="2612570"/>
            <a:ext cx="64601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i="0" dirty="0">
                <a:solidFill>
                  <a:schemeClr val="tx1"/>
                </a:solidFill>
              </a:rPr>
              <a:t>UART1</a:t>
            </a:r>
            <a:endParaRPr lang="ko-KR" altLang="en-US" i="0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19ECF6-1116-AE34-AFA6-4F7A662D5957}"/>
              </a:ext>
            </a:extLst>
          </p:cNvPr>
          <p:cNvSpPr txBox="1"/>
          <p:nvPr/>
        </p:nvSpPr>
        <p:spPr>
          <a:xfrm>
            <a:off x="6004177" y="2397126"/>
            <a:ext cx="117765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i="0" dirty="0">
                <a:solidFill>
                  <a:schemeClr val="tx1"/>
                </a:solidFill>
              </a:rPr>
              <a:t>5V/2A </a:t>
            </a:r>
            <a:r>
              <a:rPr lang="ko-KR" altLang="en-US" i="0" dirty="0">
                <a:solidFill>
                  <a:schemeClr val="tx1"/>
                </a:solidFill>
              </a:rPr>
              <a:t>어댑터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A95EBF3-EE4E-B875-3DC1-B6A4A26237DE}"/>
              </a:ext>
            </a:extLst>
          </p:cNvPr>
          <p:cNvSpPr/>
          <p:nvPr/>
        </p:nvSpPr>
        <p:spPr>
          <a:xfrm>
            <a:off x="5364088" y="5154235"/>
            <a:ext cx="476491" cy="3374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4C078E-58B6-30BA-4A63-AC437C11D918}"/>
              </a:ext>
            </a:extLst>
          </p:cNvPr>
          <p:cNvSpPr txBox="1"/>
          <p:nvPr/>
        </p:nvSpPr>
        <p:spPr>
          <a:xfrm>
            <a:off x="6677114" y="5169563"/>
            <a:ext cx="10467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i="0" dirty="0">
                <a:solidFill>
                  <a:schemeClr val="tx1"/>
                </a:solidFill>
              </a:rPr>
              <a:t>Boot Switch</a:t>
            </a:r>
          </a:p>
          <a:p>
            <a:r>
              <a:rPr lang="en-US" altLang="ko-KR" i="0" dirty="0">
                <a:solidFill>
                  <a:schemeClr val="tx1"/>
                </a:solidFill>
              </a:rPr>
              <a:t>D/L ON</a:t>
            </a:r>
            <a:endParaRPr lang="ko-KR" altLang="en-US" i="0" dirty="0">
              <a:solidFill>
                <a:schemeClr val="tx1"/>
              </a:solidFill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FEC58727-6920-FE13-F961-F8EA5BD77784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5940152" y="5338840"/>
            <a:ext cx="736962" cy="0"/>
          </a:xfrm>
          <a:prstGeom prst="straightConnector1">
            <a:avLst/>
          </a:prstGeom>
          <a:ln w="2540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7EC2D03-6E19-E4A6-8392-F7069ABB12ED}"/>
              </a:ext>
            </a:extLst>
          </p:cNvPr>
          <p:cNvSpPr/>
          <p:nvPr/>
        </p:nvSpPr>
        <p:spPr>
          <a:xfrm>
            <a:off x="5632840" y="5679588"/>
            <a:ext cx="317661" cy="3374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E69B26F-AFD8-A840-215E-3EE2BDEE655E}"/>
              </a:ext>
            </a:extLst>
          </p:cNvPr>
          <p:cNvSpPr txBox="1"/>
          <p:nvPr/>
        </p:nvSpPr>
        <p:spPr>
          <a:xfrm>
            <a:off x="6716158" y="5793355"/>
            <a:ext cx="88017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i="0" dirty="0">
                <a:solidFill>
                  <a:schemeClr val="tx1"/>
                </a:solidFill>
              </a:rPr>
              <a:t>Reset Key</a:t>
            </a:r>
            <a:endParaRPr lang="ko-KR" altLang="en-US" i="0" dirty="0">
              <a:solidFill>
                <a:schemeClr val="tx1"/>
              </a:solidFill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2F7A5EBE-FF7A-B60F-C266-52021686865E}"/>
              </a:ext>
            </a:extLst>
          </p:cNvPr>
          <p:cNvCxnSpPr>
            <a:cxnSpLocks/>
          </p:cNvCxnSpPr>
          <p:nvPr/>
        </p:nvCxnSpPr>
        <p:spPr>
          <a:xfrm>
            <a:off x="5950501" y="5852930"/>
            <a:ext cx="753626" cy="51285"/>
          </a:xfrm>
          <a:prstGeom prst="straightConnector1">
            <a:avLst/>
          </a:prstGeom>
          <a:ln w="25400">
            <a:solidFill>
              <a:srgbClr val="FF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3445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7C8EA-5B76-B9FE-2718-FF4194FC1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F627A1-0438-7FD4-5D1A-8D9C8061E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BIN </a:t>
            </a:r>
            <a:r>
              <a:rPr lang="ko-KR" altLang="en-US" dirty="0"/>
              <a:t>다운로드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1FC5C7-F9E8-AC5B-7724-DEF00CDA8679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STM32CubeProgrammer</a:t>
            </a:r>
            <a:r>
              <a:rPr lang="ko-KR" altLang="en-US" b="0" i="0" kern="0" dirty="0"/>
              <a:t>를 실행한다</a:t>
            </a:r>
            <a:r>
              <a:rPr lang="en-US" altLang="ko-KR" b="0" i="0" kern="0" dirty="0"/>
              <a:t>.</a:t>
            </a:r>
          </a:p>
          <a:p>
            <a:pPr marL="0" indent="0">
              <a:buNone/>
            </a:pPr>
            <a:endParaRPr lang="en-US" altLang="ko-KR" b="0" i="0" kern="0" dirty="0"/>
          </a:p>
          <a:p>
            <a:pPr marL="0" indent="0">
              <a:buNone/>
            </a:pPr>
            <a:endParaRPr lang="en-US" altLang="ko-KR" sz="1400" b="0" i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7C216B6-DF00-DAF3-FDCC-C920F241D3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236" y="1779148"/>
            <a:ext cx="6077527" cy="4177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3332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0555B-A049-96B7-66E3-7F5E4A6B6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C8FD58-E78F-6B6F-48D2-7EB4DCE35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BIN </a:t>
            </a:r>
            <a:r>
              <a:rPr lang="ko-KR" altLang="en-US" dirty="0"/>
              <a:t>다운로드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3F0F8-B472-1E25-8E3D-2860C743EBBE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ko-KR" altLang="en-US" b="0" i="0" kern="0" dirty="0" err="1"/>
              <a:t>빌드된</a:t>
            </a:r>
            <a:r>
              <a:rPr lang="ko-KR" altLang="en-US" b="0" i="0" kern="0" dirty="0"/>
              <a:t> </a:t>
            </a:r>
            <a:r>
              <a:rPr lang="en-US" altLang="ko-KR" b="0" i="0" kern="0" dirty="0"/>
              <a:t>BIN </a:t>
            </a:r>
            <a:r>
              <a:rPr lang="ko-KR" altLang="en-US" b="0" i="0" kern="0" dirty="0"/>
              <a:t>파일을 열어서 다운로드한다</a:t>
            </a:r>
            <a:r>
              <a:rPr lang="en-US" altLang="ko-KR" b="0" i="0" kern="0" dirty="0"/>
              <a:t>.</a:t>
            </a:r>
          </a:p>
          <a:p>
            <a:pPr marL="0" indent="0">
              <a:buNone/>
            </a:pPr>
            <a:endParaRPr lang="en-US" altLang="ko-KR" b="0" i="0" kern="0" dirty="0"/>
          </a:p>
          <a:p>
            <a:pPr marL="0" indent="0">
              <a:buNone/>
            </a:pPr>
            <a:endParaRPr lang="en-US" altLang="ko-KR" sz="1400" b="0" i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4" name="그림 3" descr="텍스트, 스크린샷, 소프트웨어, 컴퓨터 아이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D8528A2-FEF8-6E34-E9FF-0F44A8136D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236" y="1756934"/>
            <a:ext cx="6077528" cy="4174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2970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F35C2-2AD7-852D-6159-B05B89F7F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0C3BDC-9F83-EF64-5876-F826FA702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실행결과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A47A88-C400-298E-C351-D677F1A205DA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STM32CubeProgrammer</a:t>
            </a:r>
            <a:r>
              <a:rPr lang="ko-KR" altLang="en-US" b="0" i="0" kern="0" dirty="0"/>
              <a:t>의 </a:t>
            </a:r>
            <a:r>
              <a:rPr lang="en-US" altLang="ko-KR" b="0" i="0" kern="0" dirty="0"/>
              <a:t>COM Port</a:t>
            </a:r>
            <a:r>
              <a:rPr lang="ko-KR" altLang="en-US" b="0" i="0" kern="0" dirty="0"/>
              <a:t>를 연결해제하고 터미널</a:t>
            </a:r>
            <a:r>
              <a:rPr lang="en-US" altLang="ko-KR" b="0" i="0" kern="0" dirty="0"/>
              <a:t>(</a:t>
            </a:r>
            <a:r>
              <a:rPr lang="en-US" altLang="ko-KR" b="0" i="0" kern="0" dirty="0" err="1"/>
              <a:t>Teraterm</a:t>
            </a:r>
            <a:r>
              <a:rPr lang="en-US" altLang="ko-KR" b="0" i="0" kern="0" dirty="0"/>
              <a:t>)</a:t>
            </a:r>
            <a:r>
              <a:rPr lang="ko-KR" altLang="en-US" b="0" i="0" kern="0" dirty="0"/>
              <a:t>을 실행한다</a:t>
            </a:r>
            <a:r>
              <a:rPr lang="en-US" altLang="ko-KR" b="0" i="0" kern="0" dirty="0"/>
              <a:t>.</a:t>
            </a:r>
          </a:p>
          <a:p>
            <a:r>
              <a:rPr lang="en-US" altLang="ko-KR" b="0" i="0" kern="0" dirty="0"/>
              <a:t>Mango-M32F4</a:t>
            </a:r>
            <a:r>
              <a:rPr lang="ko-KR" altLang="en-US" b="0" i="0" kern="0" dirty="0"/>
              <a:t>를 실행모드로 설정하고 </a:t>
            </a:r>
            <a:r>
              <a:rPr lang="en-US" altLang="ko-KR" b="0" i="0" kern="0" dirty="0"/>
              <a:t>SW3 </a:t>
            </a:r>
            <a:r>
              <a:rPr lang="ko-KR" altLang="en-US" b="0" i="0" kern="0" dirty="0"/>
              <a:t>리셋 키를 누른다</a:t>
            </a:r>
            <a:r>
              <a:rPr lang="en-US" altLang="ko-KR" b="0" i="0" kern="0" dirty="0"/>
              <a:t>.</a:t>
            </a:r>
          </a:p>
          <a:p>
            <a:pPr marL="0" indent="0">
              <a:buNone/>
            </a:pPr>
            <a:endParaRPr lang="en-US" altLang="ko-KR" b="0" i="0" kern="0" dirty="0"/>
          </a:p>
          <a:p>
            <a:pPr marL="0" indent="0">
              <a:buNone/>
            </a:pPr>
            <a:endParaRPr lang="en-US" altLang="ko-KR" sz="1400" b="0" i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04285CD-1D16-BA52-840C-ED41FFC5F999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19578" y="2348880"/>
            <a:ext cx="4380614" cy="3456434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978162E5-DE37-4F82-2806-047EC174F05F}"/>
              </a:ext>
            </a:extLst>
          </p:cNvPr>
          <p:cNvSpPr/>
          <p:nvPr/>
        </p:nvSpPr>
        <p:spPr>
          <a:xfrm>
            <a:off x="5130612" y="4797153"/>
            <a:ext cx="318977" cy="2880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31B7CA7-AE71-97B0-00EF-EC3B81136746}"/>
              </a:ext>
            </a:extLst>
          </p:cNvPr>
          <p:cNvSpPr/>
          <p:nvPr/>
        </p:nvSpPr>
        <p:spPr>
          <a:xfrm>
            <a:off x="5364088" y="5301208"/>
            <a:ext cx="318977" cy="2880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70249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39561-4C2C-1B02-BC34-D7BED381F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F951F6-AFDE-C24D-9F86-A4ABD6D215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실행결과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2F5F4-E7A5-8865-2DCF-EAD1BA11D3F8}"/>
              </a:ext>
            </a:extLst>
          </p:cNvPr>
          <p:cNvSpPr txBox="1">
            <a:spLocks/>
          </p:cNvSpPr>
          <p:nvPr/>
        </p:nvSpPr>
        <p:spPr bwMode="auto">
          <a:xfrm>
            <a:off x="628650" y="692696"/>
            <a:ext cx="7886700" cy="56886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42900" indent="-3429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742950" indent="-28575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Ø"/>
              <a:defRPr kumimoji="1">
                <a:solidFill>
                  <a:schemeClr val="tx1"/>
                </a:solidFill>
                <a:latin typeface="Verdana" pitchFamily="34" charset="0"/>
                <a:ea typeface="+mn-ea"/>
              </a:defRPr>
            </a:lvl2pPr>
            <a:lvl3pPr marL="1143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itchFamily="2" charset="2"/>
              <a:buChar char="§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3pPr>
            <a:lvl4pPr marL="1600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 2" pitchFamily="18" charset="2"/>
              <a:buChar char=""/>
              <a:defRPr kumimoji="1" sz="2000">
                <a:solidFill>
                  <a:schemeClr val="tx1"/>
                </a:solidFill>
                <a:latin typeface="Verdana" pitchFamily="34" charset="0"/>
                <a:ea typeface="+mn-ea"/>
              </a:defRPr>
            </a:lvl4pPr>
            <a:lvl5pPr marL="20574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Verdana" pitchFamily="34" charset="0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charset="0"/>
              <a:buChar char="»"/>
              <a:defRPr kumimoji="1" sz="1600">
                <a:solidFill>
                  <a:schemeClr val="tx1"/>
                </a:solidFill>
                <a:latin typeface="Arial" charset="0"/>
                <a:ea typeface="+mn-ea"/>
              </a:defRPr>
            </a:lvl9pPr>
          </a:lstStyle>
          <a:p>
            <a:r>
              <a:rPr lang="en-US" altLang="ko-KR" b="0" i="0" kern="0" dirty="0"/>
              <a:t>CR-zF-BMA280 </a:t>
            </a:r>
            <a:r>
              <a:rPr lang="ko-KR" altLang="en-US" b="0" i="0" kern="0" dirty="0"/>
              <a:t>센서 보드를 </a:t>
            </a:r>
            <a:r>
              <a:rPr lang="en-US" altLang="ko-KR" b="0" i="0" kern="0" dirty="0"/>
              <a:t>Mango-M32F4 </a:t>
            </a:r>
            <a:r>
              <a:rPr lang="ko-KR" altLang="en-US" b="0" i="0" kern="0" dirty="0"/>
              <a:t>보드의 </a:t>
            </a:r>
            <a:r>
              <a:rPr lang="en-US" altLang="ko-KR" b="0" i="0" kern="0" dirty="0"/>
              <a:t>J4 </a:t>
            </a:r>
            <a:r>
              <a:rPr lang="ko-KR" altLang="en-US" b="0" i="0" kern="0" dirty="0"/>
              <a:t>혹은 </a:t>
            </a:r>
            <a:r>
              <a:rPr lang="en-US" altLang="ko-KR" b="0" i="0" kern="0" dirty="0"/>
              <a:t>J5</a:t>
            </a:r>
            <a:r>
              <a:rPr lang="ko-KR" altLang="en-US" b="0" i="0" kern="0" dirty="0"/>
              <a:t>에 </a:t>
            </a:r>
            <a:r>
              <a:rPr lang="en-US" altLang="ko-KR" b="0" i="0" kern="0" dirty="0"/>
              <a:t>8</a:t>
            </a:r>
            <a:r>
              <a:rPr lang="ko-KR" altLang="en-US" b="0" i="0" kern="0" dirty="0"/>
              <a:t>핀 커넥터를 이용하여 연결한다</a:t>
            </a:r>
            <a:r>
              <a:rPr lang="en-US" altLang="ko-KR" b="0" i="0" kern="0" dirty="0"/>
              <a:t>. </a:t>
            </a:r>
          </a:p>
          <a:p>
            <a:r>
              <a:rPr lang="en-US" altLang="ko-KR" b="0" i="0" kern="0" dirty="0"/>
              <a:t>Chip ID – 0xFB </a:t>
            </a:r>
            <a:r>
              <a:rPr lang="ko-KR" altLang="en-US" b="0" i="0" kern="0" dirty="0"/>
              <a:t>정상적으로 읽힘</a:t>
            </a:r>
            <a:r>
              <a:rPr lang="en-US" altLang="ko-KR" b="0" i="0" kern="0" dirty="0"/>
              <a:t>.</a:t>
            </a:r>
          </a:p>
          <a:p>
            <a:r>
              <a:rPr lang="ko-KR" altLang="en-US" b="0" i="0" kern="0" dirty="0"/>
              <a:t>센서를 움직일 때 </a:t>
            </a:r>
            <a:r>
              <a:rPr lang="en-US" altLang="ko-KR" b="0" i="0" kern="0" dirty="0"/>
              <a:t>3-Axis </a:t>
            </a:r>
            <a:r>
              <a:rPr lang="ko-KR" altLang="en-US" b="0" i="0" kern="0" dirty="0"/>
              <a:t>데이터가 변동함</a:t>
            </a:r>
            <a:r>
              <a:rPr lang="en-US" altLang="ko-KR" b="0" i="0" kern="0" dirty="0"/>
              <a:t>.</a:t>
            </a:r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pPr marL="0" indent="0">
              <a:buNone/>
            </a:pPr>
            <a:endParaRPr lang="en-US" altLang="ko-KR" sz="1400" b="0" i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  <a:p>
            <a:endParaRPr lang="en-US" altLang="ko-KR" b="0" i="0" kern="0" dirty="0"/>
          </a:p>
        </p:txBody>
      </p:sp>
      <p:pic>
        <p:nvPicPr>
          <p:cNvPr id="5" name="그림 4" descr="텍스트, 스크린샷, 디스플레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2B87819-D280-4861-7256-E8E088FC00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2204864"/>
            <a:ext cx="6768752" cy="4201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789482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Tahoma"/>
        <a:ea typeface="굴림"/>
        <a:cs typeface=""/>
      </a:majorFont>
      <a:minorFont>
        <a:latin typeface="Tahoma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800" b="1" i="1" u="none" strike="noStrike" cap="none" normalizeH="0" baseline="0" smtClean="0">
            <a:ln>
              <a:noFill/>
            </a:ln>
            <a:solidFill>
              <a:srgbClr val="C0C0C0"/>
            </a:solidFill>
            <a:effectLst/>
            <a:latin typeface="Tahoma" pitchFamily="34" charset="0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800" b="1" i="1" u="none" strike="noStrike" cap="none" normalizeH="0" baseline="0" smtClean="0">
            <a:ln>
              <a:noFill/>
            </a:ln>
            <a:solidFill>
              <a:srgbClr val="C0C0C0"/>
            </a:solidFill>
            <a:effectLst/>
            <a:latin typeface="Tahoma" pitchFamily="34" charset="0"/>
            <a:ea typeface="굴림" pitchFamily="50" charset="-127"/>
          </a:defRPr>
        </a:defPPr>
      </a:lstStyle>
    </a:lnDef>
  </a:objectDefaults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21339</TotalTime>
  <Words>1408</Words>
  <Application>Microsoft Office PowerPoint</Application>
  <PresentationFormat>화면 슬라이드 쇼(4:3)</PresentationFormat>
  <Paragraphs>230</Paragraphs>
  <Slides>32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HeadingPairs>
  <TitlesOfParts>
    <vt:vector size="40" baseType="lpstr">
      <vt:lpstr>굴림</vt:lpstr>
      <vt:lpstr>Arial</vt:lpstr>
      <vt:lpstr>Century Gothic</vt:lpstr>
      <vt:lpstr>Tahoma</vt:lpstr>
      <vt:lpstr>Verdana</vt:lpstr>
      <vt:lpstr>Wingdings</vt:lpstr>
      <vt:lpstr>Wingdings 2</vt:lpstr>
      <vt:lpstr>디자인 사용자 지정</vt:lpstr>
      <vt:lpstr>BMA280 – 3 Axis 센서 실습</vt:lpstr>
      <vt:lpstr>Project 생성</vt:lpstr>
      <vt:lpstr>Project 생성</vt:lpstr>
      <vt:lpstr>Project 생성</vt:lpstr>
      <vt:lpstr>Project 생성</vt:lpstr>
      <vt:lpstr>Project 생성</vt:lpstr>
      <vt:lpstr>Project 생성</vt:lpstr>
      <vt:lpstr>Project 생성</vt:lpstr>
      <vt:lpstr>Project 생성</vt:lpstr>
      <vt:lpstr>Project 생성</vt:lpstr>
      <vt:lpstr>Project 생성</vt:lpstr>
      <vt:lpstr>Project 생성</vt:lpstr>
      <vt:lpstr>BIN 파일 생성 설정</vt:lpstr>
      <vt:lpstr>BIN 파일 생성 설정</vt:lpstr>
      <vt:lpstr>빌드 설정</vt:lpstr>
      <vt:lpstr>BMA280 데이터시트</vt:lpstr>
      <vt:lpstr>BMA280 데이터시트</vt:lpstr>
      <vt:lpstr>BMA280 데이터시트</vt:lpstr>
      <vt:lpstr>BMA280 데이터시트</vt:lpstr>
      <vt:lpstr>BMA280 데이터시트</vt:lpstr>
      <vt:lpstr>BMA280 데이터시트</vt:lpstr>
      <vt:lpstr>Code 수정 </vt:lpstr>
      <vt:lpstr>Code 수정</vt:lpstr>
      <vt:lpstr>Code 수정</vt:lpstr>
      <vt:lpstr>Code 수정</vt:lpstr>
      <vt:lpstr>Build </vt:lpstr>
      <vt:lpstr>Build 결과물 </vt:lpstr>
      <vt:lpstr>BIN 다운로드 </vt:lpstr>
      <vt:lpstr>BIN 다운로드 </vt:lpstr>
      <vt:lpstr>BIN 다운로드 </vt:lpstr>
      <vt:lpstr>실행결과 </vt:lpstr>
      <vt:lpstr>실행결과 </vt:lpstr>
    </vt:vector>
  </TitlesOfParts>
  <Company>마케팅팀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김정남</dc:creator>
  <cp:lastModifiedBy>홍기 최</cp:lastModifiedBy>
  <cp:revision>816</cp:revision>
  <dcterms:created xsi:type="dcterms:W3CDTF">2006-02-08T03:00:46Z</dcterms:created>
  <dcterms:modified xsi:type="dcterms:W3CDTF">2026-01-21T05:33:03Z</dcterms:modified>
</cp:coreProperties>
</file>