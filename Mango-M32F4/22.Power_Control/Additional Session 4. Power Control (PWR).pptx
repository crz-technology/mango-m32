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"/>
  </p:notesMasterIdLst>
  <p:handoutMasterIdLst>
    <p:handoutMasterId r:id="rId16"/>
  </p:handoutMasterIdLst>
  <p:sldIdLst>
    <p:sldId id="308" r:id="rId2"/>
    <p:sldId id="309" r:id="rId3"/>
    <p:sldId id="310" r:id="rId4"/>
    <p:sldId id="311" r:id="rId5"/>
    <p:sldId id="312" r:id="rId6"/>
    <p:sldId id="315" r:id="rId7"/>
    <p:sldId id="316" r:id="rId8"/>
    <p:sldId id="320" r:id="rId9"/>
    <p:sldId id="321" r:id="rId10"/>
    <p:sldId id="328" r:id="rId11"/>
    <p:sldId id="329" r:id="rId12"/>
    <p:sldId id="330" r:id="rId13"/>
    <p:sldId id="323" r:id="rId14"/>
  </p:sldIdLst>
  <p:sldSz cx="9144000" cy="6858000" type="screen4x3"/>
  <p:notesSz cx="6799263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800" b="1" i="1" kern="1200">
        <a:solidFill>
          <a:srgbClr val="C0C0C0"/>
        </a:solidFill>
        <a:latin typeface="Tahoma" pitchFamily="34" charset="0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38">
          <p15:clr>
            <a:srgbClr val="A4A3A4"/>
          </p15:clr>
        </p15:guide>
        <p15:guide id="2" pos="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8">
          <p15:clr>
            <a:srgbClr val="A4A3A4"/>
          </p15:clr>
        </p15:guide>
        <p15:guide id="2" pos="214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  <a:srgbClr val="C0C0C0"/>
    <a:srgbClr val="CCECFF"/>
    <a:srgbClr val="FF99CC"/>
    <a:srgbClr val="99FF99"/>
    <a:srgbClr val="660033"/>
    <a:srgbClr val="66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44" autoAdjust="0"/>
    <p:restoredTop sz="84551" autoAdjust="0"/>
  </p:normalViewPr>
  <p:slideViewPr>
    <p:cSldViewPr snapToObjects="1">
      <p:cViewPr varScale="1">
        <p:scale>
          <a:sx n="112" d="100"/>
          <a:sy n="112" d="100"/>
        </p:scale>
        <p:origin x="1116" y="102"/>
      </p:cViewPr>
      <p:guideLst>
        <p:guide orient="horz" pos="3838"/>
        <p:guide pos="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57" d="100"/>
          <a:sy n="57" d="100"/>
        </p:scale>
        <p:origin x="-2616" y="-96"/>
      </p:cViewPr>
      <p:guideLst>
        <p:guide orient="horz" pos="3128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53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3E359F8D-C241-43DD-BB7A-EE3CBF36867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7575" y="746125"/>
            <a:ext cx="4964113" cy="37226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74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716463"/>
            <a:ext cx="5440363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174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432925"/>
            <a:ext cx="2946400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226" tIns="46113" rIns="92226" bIns="46113" numCol="1" anchor="b" anchorCtr="0" compatLnSpc="1">
            <a:prstTxWarp prst="textNoShape">
              <a:avLst/>
            </a:prstTxWarp>
          </a:bodyPr>
          <a:lstStyle>
            <a:lvl1pPr algn="r" defTabSz="922338">
              <a:defRPr sz="1200" b="0" i="0">
                <a:solidFill>
                  <a:schemeClr val="tx1"/>
                </a:solidFill>
                <a:latin typeface="굴림" pitchFamily="50" charset="-127"/>
              </a:defRPr>
            </a:lvl1pPr>
          </a:lstStyle>
          <a:p>
            <a:fld id="{DE4C13C3-4C20-49FA-8F88-6FD9575FBAAE}" type="slidenum">
              <a:rPr lang="en-US" altLang="ko-KR"/>
              <a:pPr/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E6B64B-D8C4-466A-BB6C-3C01BAF15E52}" type="slidenum">
              <a:rPr lang="en-US" altLang="ko-KR"/>
              <a:pPr/>
              <a:t>1</a:t>
            </a:fld>
            <a:endParaRPr lang="en-US" altLang="ko-KR"/>
          </a:p>
        </p:txBody>
      </p:sp>
      <p:sp>
        <p:nvSpPr>
          <p:cNvPr id="68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19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ko-K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75" name="Rectangle 11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6" name="Rectangle 12"/>
          <p:cNvSpPr>
            <a:spLocks noChangeArrowheads="1"/>
          </p:cNvSpPr>
          <p:nvPr userDrawn="1"/>
        </p:nvSpPr>
        <p:spPr bwMode="auto">
          <a:xfrm>
            <a:off x="88900" y="2636838"/>
            <a:ext cx="7146925" cy="1095375"/>
          </a:xfrm>
          <a:prstGeom prst="rect">
            <a:avLst/>
          </a:prstGeom>
          <a:solidFill>
            <a:srgbClr val="92D050"/>
          </a:solidFill>
          <a:ln w="952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76877" name="Line 13"/>
          <p:cNvSpPr>
            <a:spLocks noChangeShapeType="1"/>
          </p:cNvSpPr>
          <p:nvPr userDrawn="1"/>
        </p:nvSpPr>
        <p:spPr bwMode="auto">
          <a:xfrm>
            <a:off x="88900" y="2552700"/>
            <a:ext cx="7146925" cy="1588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768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152525"/>
          </a:xfrm>
        </p:spPr>
        <p:txBody>
          <a:bodyPr/>
          <a:lstStyle>
            <a:lvl1pPr marL="0" indent="0">
              <a:buFontTx/>
              <a:buNone/>
              <a:defRPr b="1">
                <a:latin typeface="Verdana" pitchFamily="34" charset="0"/>
              </a:defRPr>
            </a:lvl1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67686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708275"/>
            <a:ext cx="6551612" cy="1023938"/>
          </a:xfrm>
        </p:spPr>
        <p:txBody>
          <a:bodyPr/>
          <a:lstStyle>
            <a:lvl1pPr>
              <a:defRPr sz="3200"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76881" name="Rectangle 17"/>
          <p:cNvSpPr>
            <a:spLocks noChangeArrowheads="1"/>
          </p:cNvSpPr>
          <p:nvPr userDrawn="1"/>
        </p:nvSpPr>
        <p:spPr bwMode="auto">
          <a:xfrm>
            <a:off x="107950" y="6381750"/>
            <a:ext cx="4679950" cy="3603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r>
              <a:rPr lang="en-US" altLang="ko-KR" dirty="0"/>
              <a:t>http://cafe.naver.com/embeddedcrazyboys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85793"/>
            <a:ext cx="8858250" cy="5643603"/>
          </a:xfrm>
        </p:spPr>
        <p:txBody>
          <a:bodyPr/>
          <a:lstStyle>
            <a:lvl1pPr>
              <a:defRPr>
                <a:latin typeface="Verdana" pitchFamily="34" charset="0"/>
              </a:defRPr>
            </a:lvl1pPr>
            <a:lvl2pPr>
              <a:defRPr>
                <a:latin typeface="Verdana" pitchFamily="34" charset="0"/>
              </a:defRPr>
            </a:lvl2pPr>
            <a:lvl3pPr>
              <a:defRPr>
                <a:latin typeface="Verdana" pitchFamily="34" charset="0"/>
              </a:defRPr>
            </a:lvl3pPr>
            <a:lvl4pPr>
              <a:defRPr>
                <a:latin typeface="Verdana" pitchFamily="34" charset="0"/>
              </a:defRPr>
            </a:lvl4pPr>
            <a:lvl5pPr>
              <a:defRPr>
                <a:latin typeface="Verdana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77800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83125" y="665163"/>
            <a:ext cx="4352925" cy="58594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15888"/>
            <a:ext cx="2214562" cy="640873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77800" y="115888"/>
            <a:ext cx="6491288" cy="64087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4" name="Rectangle 70"/>
          <p:cNvSpPr>
            <a:spLocks noChangeArrowheads="1"/>
          </p:cNvSpPr>
          <p:nvPr userDrawn="1"/>
        </p:nvSpPr>
        <p:spPr bwMode="auto">
          <a:xfrm>
            <a:off x="88900" y="85725"/>
            <a:ext cx="8959850" cy="534988"/>
          </a:xfrm>
          <a:prstGeom prst="rect">
            <a:avLst/>
          </a:prstGeom>
          <a:solidFill>
            <a:srgbClr val="92D050">
              <a:alpha val="50000"/>
            </a:srgbClr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77800" y="665163"/>
            <a:ext cx="8858250" cy="5859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77800" y="115888"/>
            <a:ext cx="8858250" cy="46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dirty="0"/>
              <a:t>Main Title</a:t>
            </a:r>
          </a:p>
        </p:txBody>
      </p:sp>
      <p:sp>
        <p:nvSpPr>
          <p:cNvPr id="6178" name="Rectangle 34"/>
          <p:cNvSpPr>
            <a:spLocks noChangeArrowheads="1"/>
          </p:cNvSpPr>
          <p:nvPr userDrawn="1"/>
        </p:nvSpPr>
        <p:spPr bwMode="auto">
          <a:xfrm rot="-21600000">
            <a:off x="8388350" y="6453188"/>
            <a:ext cx="647700" cy="33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r" latinLnBrk="0"/>
            <a:fld id="{4FDD7156-F552-46EC-968D-BB66E3283A22}" type="slidenum">
              <a:rPr kumimoji="0" lang="en-US" altLang="ko-KR" sz="1300" i="0">
                <a:solidFill>
                  <a:srgbClr val="333333"/>
                </a:solidFill>
                <a:latin typeface="Century Gothic" pitchFamily="34" charset="0"/>
              </a:rPr>
              <a:pPr algn="r" latinLnBrk="0"/>
              <a:t>‹#›</a:t>
            </a:fld>
            <a:endParaRPr kumimoji="0" lang="en-US" altLang="ko-KR" sz="1300" i="0">
              <a:solidFill>
                <a:srgbClr val="333333"/>
              </a:solidFill>
              <a:latin typeface="Century Gothic" pitchFamily="34" charset="0"/>
            </a:endParaRPr>
          </a:p>
        </p:txBody>
      </p:sp>
      <p:sp>
        <p:nvSpPr>
          <p:cNvPr id="6200" name="Text Box 56"/>
          <p:cNvSpPr txBox="1">
            <a:spLocks noChangeArrowheads="1"/>
          </p:cNvSpPr>
          <p:nvPr userDrawn="1"/>
        </p:nvSpPr>
        <p:spPr bwMode="auto">
          <a:xfrm>
            <a:off x="5422900" y="6480175"/>
            <a:ext cx="31654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r"/>
            <a:r>
              <a:rPr lang="en-US" altLang="ko-KR" sz="1000" i="0" dirty="0">
                <a:solidFill>
                  <a:srgbClr val="5F5F5F"/>
                </a:solidFill>
                <a:latin typeface="Century Gothic" pitchFamily="34" charset="0"/>
              </a:rPr>
              <a:t>http://cafe.naver.com/embeddedcrazyboys</a:t>
            </a:r>
          </a:p>
        </p:txBody>
      </p:sp>
      <p:sp>
        <p:nvSpPr>
          <p:cNvPr id="6211" name="Rectangle 67"/>
          <p:cNvSpPr>
            <a:spLocks noChangeArrowheads="1"/>
          </p:cNvSpPr>
          <p:nvPr userDrawn="1"/>
        </p:nvSpPr>
        <p:spPr bwMode="auto">
          <a:xfrm>
            <a:off x="88900" y="85725"/>
            <a:ext cx="8959850" cy="6689725"/>
          </a:xfrm>
          <a:prstGeom prst="rect">
            <a:avLst/>
          </a:prstGeom>
          <a:noFill/>
          <a:ln w="3175">
            <a:solidFill>
              <a:srgbClr val="00B050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/>
          </a:p>
        </p:txBody>
      </p:sp>
      <p:sp>
        <p:nvSpPr>
          <p:cNvPr id="6212" name="Line 68"/>
          <p:cNvSpPr>
            <a:spLocks noChangeShapeType="1"/>
          </p:cNvSpPr>
          <p:nvPr userDrawn="1"/>
        </p:nvSpPr>
        <p:spPr bwMode="auto">
          <a:xfrm>
            <a:off x="5583238" y="6480175"/>
            <a:ext cx="3452812" cy="0"/>
          </a:xfrm>
          <a:prstGeom prst="line">
            <a:avLst/>
          </a:prstGeom>
          <a:noFill/>
          <a:ln w="317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  <p:sp>
        <p:nvSpPr>
          <p:cNvPr id="6215" name="Line 71"/>
          <p:cNvSpPr>
            <a:spLocks noChangeShapeType="1"/>
          </p:cNvSpPr>
          <p:nvPr userDrawn="1"/>
        </p:nvSpPr>
        <p:spPr bwMode="auto">
          <a:xfrm>
            <a:off x="88900" y="620713"/>
            <a:ext cx="8959850" cy="0"/>
          </a:xfrm>
          <a:prstGeom prst="line">
            <a:avLst/>
          </a:prstGeom>
          <a:noFill/>
          <a:ln w="9525">
            <a:solidFill>
              <a:srgbClr val="00B050"/>
            </a:solidFill>
            <a:round/>
            <a:headEnd/>
            <a:tailEnd/>
          </a:ln>
          <a:effectLst/>
        </p:spPr>
        <p:txBody>
          <a:bodyPr/>
          <a:lstStyle/>
          <a:p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xStyles>
    <p:titleStyle>
      <a:lvl1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Verdana" pitchFamily="34" charset="0"/>
          <a:ea typeface="+mj-ea"/>
          <a:cs typeface="+mj-cs"/>
        </a:defRPr>
      </a:lvl1pPr>
      <a:lvl2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2pPr>
      <a:lvl3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3pPr>
      <a:lvl4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4pPr>
      <a:lvl5pPr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400" b="1">
          <a:solidFill>
            <a:schemeClr val="tx1"/>
          </a:solidFill>
          <a:latin typeface="Tahoma" pitchFamily="34" charset="0"/>
          <a:ea typeface="굴림" pitchFamily="50" charset="-127"/>
        </a:defRPr>
      </a:lvl9pPr>
    </p:titleStyle>
    <p:bodyStyle>
      <a:lvl1pPr marL="342900" indent="-3429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2000">
          <a:solidFill>
            <a:schemeClr val="tx1"/>
          </a:solidFill>
          <a:latin typeface="Verdana" pitchFamily="34" charset="0"/>
          <a:ea typeface="+mn-ea"/>
          <a:cs typeface="+mn-cs"/>
        </a:defRPr>
      </a:lvl1pPr>
      <a:lvl2pPr marL="742950" indent="-28575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Ø"/>
        <a:defRPr kumimoji="1">
          <a:solidFill>
            <a:schemeClr val="tx1"/>
          </a:solidFill>
          <a:latin typeface="Verdana" pitchFamily="34" charset="0"/>
          <a:ea typeface="+mn-ea"/>
        </a:defRPr>
      </a:lvl2pPr>
      <a:lvl3pPr marL="1143000" indent="-228600" algn="l" rtl="0" fontAlgn="base" latinLnBrk="1">
        <a:spcBef>
          <a:spcPct val="20000"/>
        </a:spcBef>
        <a:spcAft>
          <a:spcPct val="0"/>
        </a:spcAft>
        <a:buClr>
          <a:schemeClr val="tx1"/>
        </a:buClr>
        <a:buFont typeface="Wingdings" pitchFamily="2" charset="2"/>
        <a:buChar char="§"/>
        <a:defRPr kumimoji="1" sz="1600">
          <a:solidFill>
            <a:schemeClr val="tx1"/>
          </a:solidFill>
          <a:latin typeface="Verdana" pitchFamily="34" charset="0"/>
          <a:ea typeface="+mn-ea"/>
        </a:defRPr>
      </a:lvl3pPr>
      <a:lvl4pPr marL="1600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Wingdings 2" pitchFamily="18" charset="2"/>
        <a:buChar char=""/>
        <a:defRPr kumimoji="1" sz="2000">
          <a:solidFill>
            <a:schemeClr val="tx1"/>
          </a:solidFill>
          <a:latin typeface="Arial" charset="0"/>
          <a:ea typeface="+mn-ea"/>
        </a:defRPr>
      </a:lvl4pPr>
      <a:lvl5pPr marL="20574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lr>
          <a:schemeClr val="bg2"/>
        </a:buClr>
        <a:buFont typeface="Arial" charset="0"/>
        <a:buChar char="»"/>
        <a:defRPr kumimoji="1" sz="1600">
          <a:solidFill>
            <a:schemeClr val="tx1"/>
          </a:solidFill>
          <a:latin typeface="Arial" charset="0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6" name="Rectangle 4"/>
          <p:cNvSpPr>
            <a:spLocks noGrp="1" noChangeArrowheads="1"/>
          </p:cNvSpPr>
          <p:nvPr>
            <p:ph type="ctrTitle"/>
          </p:nvPr>
        </p:nvSpPr>
        <p:spPr>
          <a:xfrm>
            <a:off x="684213" y="2674938"/>
            <a:ext cx="6551612" cy="1023937"/>
          </a:xfrm>
        </p:spPr>
        <p:txBody>
          <a:bodyPr/>
          <a:lstStyle/>
          <a:p>
            <a:r>
              <a:rPr lang="en-US" altLang="ko-KR" dirty="0"/>
              <a:t>Power Control (PWR)</a:t>
            </a:r>
          </a:p>
        </p:txBody>
      </p:sp>
      <p:sp>
        <p:nvSpPr>
          <p:cNvPr id="678917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827088" y="3860800"/>
            <a:ext cx="6257925" cy="1211274"/>
          </a:xfrm>
        </p:spPr>
        <p:txBody>
          <a:bodyPr/>
          <a:lstStyle/>
          <a:p>
            <a:r>
              <a:rPr lang="en-US" altLang="ko-KR" dirty="0"/>
              <a:t>2026.01.21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Low power mode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Low Power</a:t>
            </a:r>
            <a:r>
              <a:rPr lang="ko-KR" altLang="ko-KR" dirty="0"/>
              <a:t>로 어떻게 동작시킬 것인가 하는 부분과 깨어나는 상황 등에 대해 살펴</a:t>
            </a:r>
            <a:r>
              <a:rPr lang="ko-KR" altLang="en-US" dirty="0"/>
              <a:t>본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  <a:endParaRPr lang="ko-KR" altLang="ko-KR" dirty="0"/>
          </a:p>
          <a:p>
            <a:pPr>
              <a:buNone/>
            </a:pPr>
            <a:r>
              <a:rPr lang="en-US" altLang="ko-KR" dirty="0"/>
              <a:t> </a:t>
            </a:r>
            <a:endParaRPr lang="ko-KR" altLang="ko-KR" dirty="0"/>
          </a:p>
          <a:p>
            <a:r>
              <a:rPr lang="ko-KR" altLang="ko-KR" dirty="0"/>
              <a:t>예제 코드는 </a:t>
            </a:r>
            <a:r>
              <a:rPr lang="en-US" altLang="ko-KR" dirty="0"/>
              <a:t>2</a:t>
            </a:r>
            <a:r>
              <a:rPr lang="ko-KR" altLang="ko-KR" dirty="0"/>
              <a:t>가지</a:t>
            </a:r>
          </a:p>
          <a:p>
            <a:pPr lvl="1"/>
            <a:r>
              <a:rPr lang="en-US" altLang="ko-KR" dirty="0"/>
              <a:t>PWR1_STOP</a:t>
            </a:r>
            <a:endParaRPr lang="ko-KR" altLang="ko-KR" dirty="0"/>
          </a:p>
          <a:p>
            <a:pPr lvl="1"/>
            <a:r>
              <a:rPr lang="en-US" altLang="ko-KR" dirty="0"/>
              <a:t>PWR2_STOP_RTCAlarm</a:t>
            </a:r>
            <a:endParaRPr lang="ko-KR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Power domain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96250" y="5157192"/>
            <a:ext cx="8858250" cy="1128752"/>
          </a:xfrm>
        </p:spPr>
        <p:txBody>
          <a:bodyPr/>
          <a:lstStyle/>
          <a:p>
            <a:r>
              <a:rPr lang="en-US" altLang="ko-KR" dirty="0"/>
              <a:t>VDD</a:t>
            </a:r>
            <a:r>
              <a:rPr lang="ko-KR" altLang="ko-KR" dirty="0"/>
              <a:t>에 공급되는 전원은</a:t>
            </a:r>
            <a:r>
              <a:rPr lang="en-US" altLang="ko-KR" dirty="0"/>
              <a:t> 1.8</a:t>
            </a:r>
            <a:r>
              <a:rPr lang="ko-KR" altLang="ko-KR" dirty="0"/>
              <a:t>에서</a:t>
            </a:r>
            <a:r>
              <a:rPr lang="en-US" altLang="ko-KR" dirty="0"/>
              <a:t> 3.6V</a:t>
            </a:r>
            <a:r>
              <a:rPr lang="ko-KR" altLang="ko-KR" dirty="0"/>
              <a:t>까지 지원</a:t>
            </a:r>
            <a:endParaRPr lang="en-US" altLang="ko-KR" dirty="0"/>
          </a:p>
          <a:p>
            <a:r>
              <a:rPr lang="ko-KR" altLang="en-US" dirty="0"/>
              <a:t>망고보드는</a:t>
            </a:r>
            <a:r>
              <a:rPr lang="en-US" altLang="ko-KR" dirty="0"/>
              <a:t> 3.3V</a:t>
            </a:r>
            <a:r>
              <a:rPr lang="ko-KR" altLang="ko-KR" dirty="0"/>
              <a:t>를 사용하고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Voltage Regulator</a:t>
            </a:r>
            <a:r>
              <a:rPr lang="ko-KR" altLang="ko-KR" dirty="0"/>
              <a:t>가 내부</a:t>
            </a:r>
            <a:r>
              <a:rPr lang="en-US" altLang="ko-KR" dirty="0"/>
              <a:t> 1.2V</a:t>
            </a:r>
            <a:r>
              <a:rPr lang="ko-KR" altLang="ko-KR" dirty="0"/>
              <a:t>의 전원을 공급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E75DCCB-CD82-6E16-DA1C-4759C46DB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3146874"/>
            <a:ext cx="5495238" cy="1666667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CCA0F3A-F307-5CB4-AA3D-1619F99B4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250" y="879333"/>
            <a:ext cx="8696230" cy="19984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Voltage Regulator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Voltage regulator</a:t>
            </a:r>
          </a:p>
          <a:p>
            <a:pPr lvl="1"/>
            <a:r>
              <a:rPr lang="en-US" altLang="ko-KR" dirty="0"/>
              <a:t>The regulator has </a:t>
            </a:r>
            <a:r>
              <a:rPr lang="en-US" altLang="ko-KR" b="1" dirty="0">
                <a:solidFill>
                  <a:srgbClr val="0000FF"/>
                </a:solidFill>
              </a:rPr>
              <a:t>four operating modes</a:t>
            </a:r>
            <a:r>
              <a:rPr lang="en-US" altLang="ko-KR" dirty="0"/>
              <a:t>:</a:t>
            </a:r>
          </a:p>
          <a:p>
            <a:endParaRPr lang="en-US" altLang="ko-KR" dirty="0"/>
          </a:p>
          <a:p>
            <a:r>
              <a:rPr lang="en-US" altLang="ko-KR" dirty="0"/>
              <a:t>Regulator ON</a:t>
            </a:r>
          </a:p>
          <a:p>
            <a:pPr lvl="1"/>
            <a:r>
              <a:rPr lang="en-US" altLang="ko-KR" dirty="0"/>
              <a:t>Main regulator mode (MR)</a:t>
            </a:r>
          </a:p>
          <a:p>
            <a:pPr lvl="1"/>
            <a:r>
              <a:rPr lang="en-US" altLang="ko-KR" dirty="0"/>
              <a:t>Low-power regulator (LPR)</a:t>
            </a:r>
          </a:p>
          <a:p>
            <a:pPr lvl="1"/>
            <a:r>
              <a:rPr lang="en-US" altLang="ko-KR" dirty="0"/>
              <a:t>Power-down</a:t>
            </a:r>
          </a:p>
          <a:p>
            <a:r>
              <a:rPr lang="en-US" altLang="ko-KR" dirty="0"/>
              <a:t>Regulator OFF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Sleep mode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764704"/>
            <a:ext cx="8858250" cy="5664692"/>
          </a:xfrm>
        </p:spPr>
        <p:txBody>
          <a:bodyPr/>
          <a:lstStyle/>
          <a:p>
            <a:r>
              <a:rPr lang="en-US" altLang="ko-KR" b="1" dirty="0"/>
              <a:t>Low-power modes</a:t>
            </a:r>
          </a:p>
          <a:p>
            <a:pPr lvl="1"/>
            <a:r>
              <a:rPr lang="en-US" altLang="ko-KR" dirty="0"/>
              <a:t>The STM32F405xx and STM32F407xx support </a:t>
            </a:r>
            <a:r>
              <a:rPr lang="en-US" altLang="ko-KR" b="1" dirty="0">
                <a:solidFill>
                  <a:srgbClr val="0000FF"/>
                </a:solidFill>
              </a:rPr>
              <a:t>three low-power modes</a:t>
            </a:r>
            <a:r>
              <a:rPr lang="en-US" altLang="ko-KR" dirty="0"/>
              <a:t> to achieve the best</a:t>
            </a:r>
          </a:p>
          <a:p>
            <a:r>
              <a:rPr lang="en-US" altLang="ko-KR" b="1" dirty="0"/>
              <a:t>Sleep mode</a:t>
            </a:r>
          </a:p>
          <a:p>
            <a:pPr lvl="1"/>
            <a:r>
              <a:rPr lang="en-US" altLang="ko-KR" dirty="0"/>
              <a:t>In Sleep mode, </a:t>
            </a:r>
            <a:r>
              <a:rPr lang="en-US" altLang="ko-KR" b="1" u="sng" dirty="0"/>
              <a:t>only the CPU is stopped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모든 </a:t>
            </a:r>
            <a:r>
              <a:rPr lang="en-US" altLang="ko-KR" dirty="0"/>
              <a:t>peripherals</a:t>
            </a:r>
            <a:r>
              <a:rPr lang="ko-KR" altLang="en-US" dirty="0"/>
              <a:t>는 계속 동작 중</a:t>
            </a:r>
            <a:r>
              <a:rPr lang="en-US" altLang="ko-KR" dirty="0"/>
              <a:t>, interrupt/event </a:t>
            </a:r>
            <a:r>
              <a:rPr lang="ko-KR" altLang="en-US" dirty="0"/>
              <a:t>발생시 </a:t>
            </a:r>
            <a:r>
              <a:rPr lang="en-US" altLang="ko-KR" dirty="0"/>
              <a:t>CPU </a:t>
            </a:r>
            <a:r>
              <a:rPr lang="ko-KR" altLang="en-US" dirty="0"/>
              <a:t>깨어남</a:t>
            </a:r>
            <a:endParaRPr lang="en-US" altLang="ko-KR" dirty="0"/>
          </a:p>
          <a:p>
            <a:r>
              <a:rPr lang="en-US" altLang="ko-KR" b="1" dirty="0"/>
              <a:t>Stop mode</a:t>
            </a:r>
          </a:p>
          <a:p>
            <a:pPr lvl="1"/>
            <a:r>
              <a:rPr lang="en-US" altLang="ko-KR" dirty="0"/>
              <a:t>SRAM/</a:t>
            </a:r>
            <a:r>
              <a:rPr lang="ko-KR" altLang="en-US" dirty="0"/>
              <a:t>레지스터 유지하면서 소비전력을 크게 낮춤</a:t>
            </a:r>
            <a:endParaRPr lang="en-US" altLang="ko-KR" dirty="0"/>
          </a:p>
          <a:p>
            <a:pPr lvl="1"/>
            <a:r>
              <a:rPr lang="en-US" altLang="ko-KR" dirty="0"/>
              <a:t>1.2V </a:t>
            </a:r>
            <a:r>
              <a:rPr lang="ko-KR" altLang="en-US" dirty="0"/>
              <a:t>코어</a:t>
            </a:r>
            <a:r>
              <a:rPr lang="en-US" altLang="ko-KR" dirty="0"/>
              <a:t> </a:t>
            </a:r>
            <a:r>
              <a:rPr lang="ko-KR" altLang="en-US" dirty="0" err="1"/>
              <a:t>클록</a:t>
            </a:r>
            <a:r>
              <a:rPr lang="ko-KR" altLang="en-US" dirty="0"/>
              <a:t> 정지</a:t>
            </a:r>
            <a:r>
              <a:rPr lang="en-US" altLang="ko-KR" dirty="0"/>
              <a:t>, PLL/HSI/HSE OFF, </a:t>
            </a:r>
            <a:r>
              <a:rPr lang="ko-KR" altLang="en-US" dirty="0" err="1"/>
              <a:t>레귤레이터는</a:t>
            </a:r>
            <a:r>
              <a:rPr lang="ko-KR" altLang="en-US" dirty="0"/>
              <a:t> </a:t>
            </a:r>
            <a:r>
              <a:rPr lang="en-US" altLang="ko-KR" dirty="0"/>
              <a:t>Normal </a:t>
            </a:r>
            <a:r>
              <a:rPr lang="ko-KR" altLang="en-US" dirty="0"/>
              <a:t>또는 </a:t>
            </a:r>
            <a:r>
              <a:rPr lang="en-US" altLang="ko-KR" dirty="0"/>
              <a:t>Low-power </a:t>
            </a:r>
            <a:r>
              <a:rPr lang="ko-KR" altLang="en-US" dirty="0"/>
              <a:t>선택</a:t>
            </a:r>
            <a:endParaRPr lang="en-US" altLang="ko-KR" dirty="0"/>
          </a:p>
          <a:p>
            <a:pPr lvl="1"/>
            <a:r>
              <a:rPr lang="ko-KR" altLang="en-US" dirty="0"/>
              <a:t>깨우는 신호</a:t>
            </a:r>
            <a:r>
              <a:rPr lang="en-US" altLang="ko-KR" dirty="0"/>
              <a:t>: EXTI(</a:t>
            </a:r>
            <a:r>
              <a:rPr lang="ko-KR" altLang="en-US" dirty="0"/>
              <a:t>외부 </a:t>
            </a:r>
            <a:r>
              <a:rPr lang="en-US" altLang="ko-KR" dirty="0"/>
              <a:t>16</a:t>
            </a:r>
            <a:r>
              <a:rPr lang="ko-KR" altLang="en-US" dirty="0"/>
              <a:t>라인 포함</a:t>
            </a:r>
            <a:r>
              <a:rPr lang="en-US" altLang="ko-KR" dirty="0"/>
              <a:t>), PVD, RTC </a:t>
            </a:r>
            <a:r>
              <a:rPr lang="ko-KR" altLang="en-US" dirty="0"/>
              <a:t>이벤트</a:t>
            </a:r>
            <a:r>
              <a:rPr lang="en-US" altLang="ko-KR" dirty="0"/>
              <a:t>, USB OTG wakeup, Ethernet wakeup</a:t>
            </a:r>
          </a:p>
          <a:p>
            <a:r>
              <a:rPr lang="en-US" altLang="ko-KR" b="1" dirty="0"/>
              <a:t>Standby mode</a:t>
            </a:r>
          </a:p>
          <a:p>
            <a:pPr lvl="1"/>
            <a:r>
              <a:rPr lang="ko-KR" altLang="en-US" dirty="0"/>
              <a:t>최저 전력을 목표로</a:t>
            </a:r>
            <a:r>
              <a:rPr lang="en-US" altLang="ko-KR" dirty="0"/>
              <a:t>, </a:t>
            </a:r>
            <a:r>
              <a:rPr lang="ko-KR" altLang="en-US" dirty="0"/>
              <a:t>내부 </a:t>
            </a:r>
            <a:r>
              <a:rPr lang="ko-KR" altLang="en-US" dirty="0" err="1"/>
              <a:t>레귤레이터</a:t>
            </a:r>
            <a:r>
              <a:rPr lang="ko-KR" altLang="en-US" dirty="0"/>
              <a:t> </a:t>
            </a:r>
            <a:r>
              <a:rPr lang="en-US" altLang="ko-KR" dirty="0"/>
              <a:t>OFF</a:t>
            </a:r>
          </a:p>
          <a:p>
            <a:pPr lvl="1"/>
            <a:r>
              <a:rPr lang="en-US" altLang="ko-KR" dirty="0"/>
              <a:t>1.2V </a:t>
            </a:r>
            <a:r>
              <a:rPr lang="ko-KR" altLang="en-US" dirty="0"/>
              <a:t>코어 전원 자체가 꺼짐</a:t>
            </a:r>
            <a:endParaRPr lang="en-US" altLang="ko-KR" dirty="0"/>
          </a:p>
          <a:p>
            <a:pPr lvl="1"/>
            <a:r>
              <a:rPr lang="en-US" altLang="ko-KR" dirty="0"/>
              <a:t>SRAM/</a:t>
            </a:r>
            <a:r>
              <a:rPr lang="ko-KR" altLang="en-US" dirty="0"/>
              <a:t>레지스터는 소실</a:t>
            </a:r>
            <a:r>
              <a:rPr lang="en-US" altLang="ko-KR" dirty="0"/>
              <a:t>(</a:t>
            </a:r>
            <a:r>
              <a:rPr lang="ko-KR" altLang="en-US" dirty="0"/>
              <a:t>단</a:t>
            </a:r>
            <a:r>
              <a:rPr lang="en-US" altLang="ko-KR" dirty="0"/>
              <a:t>, </a:t>
            </a:r>
            <a:r>
              <a:rPr lang="ko-KR" altLang="en-US" dirty="0"/>
              <a:t>선택된 </a:t>
            </a:r>
            <a:r>
              <a:rPr lang="en-US" altLang="ko-KR" dirty="0"/>
              <a:t>Backup SRAM</a:t>
            </a:r>
            <a:r>
              <a:rPr lang="ko-KR" altLang="en-US" dirty="0"/>
              <a:t>은 유지 가능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깨우는 신호</a:t>
            </a:r>
            <a:r>
              <a:rPr lang="en-US" altLang="ko-KR" dirty="0"/>
              <a:t>: NRST, IWDG reset, WKUP </a:t>
            </a:r>
            <a:r>
              <a:rPr lang="ko-KR" altLang="en-US" dirty="0"/>
              <a:t>핀 </a:t>
            </a:r>
            <a:r>
              <a:rPr lang="ko-KR" altLang="en-US" dirty="0" err="1"/>
              <a:t>상승엣지</a:t>
            </a:r>
            <a:r>
              <a:rPr lang="en-US" altLang="ko-KR" dirty="0"/>
              <a:t>, RTC </a:t>
            </a:r>
            <a:r>
              <a:rPr lang="ko-KR" altLang="en-US" dirty="0"/>
              <a:t>이벤트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PWR </a:t>
            </a:r>
            <a:r>
              <a:rPr lang="ko-KR" altLang="ko-KR" dirty="0"/>
              <a:t>예제</a:t>
            </a:r>
            <a:r>
              <a:rPr lang="en-US" altLang="ko-KR" dirty="0"/>
              <a:t> 1 - STOP mode </a:t>
            </a:r>
            <a:r>
              <a:rPr lang="ko-KR" altLang="ko-KR" dirty="0"/>
              <a:t>설정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4581128"/>
            <a:ext cx="8858250" cy="1848268"/>
          </a:xfrm>
        </p:spPr>
        <p:txBody>
          <a:bodyPr/>
          <a:lstStyle/>
          <a:p>
            <a:r>
              <a:rPr lang="en-US" altLang="ko-KR" dirty="0"/>
              <a:t>KEY1</a:t>
            </a:r>
            <a:r>
              <a:rPr lang="ko-KR" altLang="ko-KR" dirty="0"/>
              <a:t>이 눌렸을 경우는 </a:t>
            </a:r>
            <a:r>
              <a:rPr lang="en-US" altLang="ko-KR" dirty="0"/>
              <a:t>LED1</a:t>
            </a:r>
            <a:r>
              <a:rPr lang="ko-KR" altLang="en-US" dirty="0"/>
              <a:t>을 </a:t>
            </a:r>
            <a:r>
              <a:rPr lang="en-US" altLang="ko-KR" dirty="0"/>
              <a:t>Toggle </a:t>
            </a:r>
            <a:r>
              <a:rPr lang="ko-KR" altLang="en-US" dirty="0"/>
              <a:t>하</a:t>
            </a:r>
            <a:r>
              <a:rPr lang="ko-KR" altLang="ko-KR" dirty="0"/>
              <a:t>고</a:t>
            </a:r>
            <a:endParaRPr lang="en-US" altLang="ko-KR" dirty="0"/>
          </a:p>
          <a:p>
            <a:r>
              <a:rPr lang="en-US" altLang="ko-KR" dirty="0"/>
              <a:t>KEY2</a:t>
            </a:r>
            <a:r>
              <a:rPr lang="ko-KR" altLang="ko-KR" dirty="0"/>
              <a:t>가 눌렸을 경우는 </a:t>
            </a:r>
            <a:r>
              <a:rPr lang="en-US" altLang="ko-KR" dirty="0"/>
              <a:t>LED2</a:t>
            </a:r>
            <a:r>
              <a:rPr lang="ko-KR" altLang="ko-KR" dirty="0"/>
              <a:t>를 </a:t>
            </a:r>
            <a:r>
              <a:rPr lang="en-US" altLang="ko-KR" dirty="0"/>
              <a:t>Toggle </a:t>
            </a:r>
            <a:r>
              <a:rPr lang="ko-KR" altLang="en-US" dirty="0"/>
              <a:t>하</a:t>
            </a:r>
            <a:r>
              <a:rPr lang="ko-KR" altLang="ko-KR" dirty="0"/>
              <a:t>도록 변경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8690165"/>
              </p:ext>
            </p:extLst>
          </p:nvPr>
        </p:nvGraphicFramePr>
        <p:xfrm>
          <a:off x="428596" y="952504"/>
          <a:ext cx="8215370" cy="3352800"/>
        </p:xfrm>
        <a:graphic>
          <a:graphicData uri="http://schemas.openxmlformats.org/drawingml/2006/table">
            <a:tbl>
              <a:tblPr/>
              <a:tblGrid>
                <a:gridCol w="82153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void EXTI9_5_IRQHandler(void)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2000" kern="100" dirty="0" err="1">
                          <a:latin typeface="맑은 고딕"/>
                          <a:cs typeface="Times New Roman"/>
                        </a:rPr>
                        <a:t>HAL_GPIO_EXTI_IRQHandler</a:t>
                      </a: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(KEY1_Pin);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2000" kern="100" dirty="0" err="1">
                          <a:latin typeface="맑은 고딕"/>
                          <a:cs typeface="Times New Roman"/>
                        </a:rPr>
                        <a:t>HAL_GPIO_</a:t>
                      </a:r>
                      <a:r>
                        <a:rPr lang="en-US" sz="2000" b="1" kern="100" dirty="0" err="1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TogglePin</a:t>
                      </a: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(LED1_GPIO_Port, LED1_Pin);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}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20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void EXTI15_10_IRQHandler(void)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2000" kern="100" dirty="0" err="1">
                          <a:latin typeface="맑은 고딕"/>
                          <a:cs typeface="Times New Roman"/>
                        </a:rPr>
                        <a:t>HAL_GPIO_EXTI_IRQHandler</a:t>
                      </a: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(KEY2_Pin);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2000" kern="100" dirty="0" err="1">
                          <a:latin typeface="맑은 고딕"/>
                          <a:cs typeface="Times New Roman"/>
                        </a:rPr>
                        <a:t>HAL_GPIO_</a:t>
                      </a:r>
                      <a:r>
                        <a:rPr lang="en-US" sz="2000" b="1" kern="100" dirty="0" err="1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TogglePin</a:t>
                      </a: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(LED2_GPIO_Port, LED2_Pin);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2000" kern="100" dirty="0">
                          <a:latin typeface="맑은 고딕"/>
                          <a:cs typeface="Times New Roman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kern="100" dirty="0" err="1">
                <a:latin typeface="맑은 고딕"/>
                <a:cs typeface="Times New Roman"/>
              </a:rPr>
              <a:t>HAL_PWR_EnterSTOPMode</a:t>
            </a:r>
            <a:endParaRPr lang="ko-KR" altLang="en-US" dirty="0"/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476740"/>
              </p:ext>
            </p:extLst>
          </p:nvPr>
        </p:nvGraphicFramePr>
        <p:xfrm>
          <a:off x="395536" y="762000"/>
          <a:ext cx="7534620" cy="5486400"/>
        </p:xfrm>
        <a:graphic>
          <a:graphicData uri="http://schemas.openxmlformats.org/drawingml/2006/table">
            <a:tbl>
              <a:tblPr/>
              <a:tblGrid>
                <a:gridCol w="753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int </a:t>
                      </a:r>
                      <a:r>
                        <a:rPr lang="en-US" sz="1800" b="1" kern="100" dirty="0">
                          <a:latin typeface="맑은 고딕"/>
                          <a:cs typeface="Times New Roman"/>
                        </a:rPr>
                        <a:t>main</a:t>
                      </a: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(void)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… </a:t>
                      </a:r>
                      <a:r>
                        <a:rPr lang="en-US" altLang="ko-KR" sz="1800" kern="100" dirty="0">
                          <a:latin typeface="맑은 고딕"/>
                          <a:cs typeface="Times New Roman"/>
                        </a:rPr>
                        <a:t>… … … … …</a:t>
                      </a:r>
                      <a:endParaRPr lang="en-US" sz="18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/* Configure the system clock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800" b="1" kern="100" dirty="0" err="1">
                          <a:latin typeface="맑은 고딕"/>
                          <a:cs typeface="Times New Roman"/>
                        </a:rPr>
                        <a:t>SystemClock_Config</a:t>
                      </a:r>
                      <a:r>
                        <a:rPr lang="en-US" sz="1800" b="1" kern="100" dirty="0">
                          <a:latin typeface="맑은 고딕"/>
                          <a:cs typeface="Times New Roman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kern="100" dirty="0">
                          <a:latin typeface="맑은 고딕"/>
                          <a:cs typeface="Times New Roman"/>
                        </a:rPr>
                        <a:t>… … … … … …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while (1)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800" kern="100" dirty="0" err="1">
                          <a:latin typeface="맑은 고딕"/>
                          <a:cs typeface="Times New Roman"/>
                        </a:rPr>
                        <a:t>printf</a:t>
                      </a: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("Hello World! - Mango ^)^\n");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800" kern="100" dirty="0" err="1">
                          <a:latin typeface="맑은 고딕"/>
                          <a:cs typeface="Times New Roman"/>
                        </a:rPr>
                        <a:t>System_Information</a:t>
                      </a: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();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8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800" kern="100" dirty="0" err="1">
                          <a:latin typeface="맑은 고딕"/>
                          <a:cs typeface="Times New Roman"/>
                        </a:rPr>
                        <a:t>printf</a:t>
                      </a: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("before </a:t>
                      </a:r>
                      <a:r>
                        <a:rPr lang="en-US" sz="1800" kern="100" dirty="0" err="1">
                          <a:latin typeface="맑은 고딕"/>
                          <a:cs typeface="Times New Roman"/>
                        </a:rPr>
                        <a:t>EnterSTOPMode</a:t>
                      </a: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\n");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b="1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800" b="1" kern="100" dirty="0" err="1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HAL_PWR_EnterSTOPMode</a:t>
                      </a:r>
                      <a:r>
                        <a:rPr lang="en-US" sz="1800" b="1" kern="100" dirty="0">
                          <a:latin typeface="맑은 고딕"/>
                          <a:cs typeface="Times New Roman"/>
                        </a:rPr>
                        <a:t>(PWR_LOWPOWERREGULATOR_ON, PWR_STOPENTRY_WFI);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8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  /* Configure the system clock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800" b="1" kern="100" dirty="0" err="1">
                          <a:latin typeface="맑은 고딕"/>
                          <a:cs typeface="Times New Roman"/>
                        </a:rPr>
                        <a:t>SystemClock_Config</a:t>
                      </a:r>
                      <a:r>
                        <a:rPr lang="en-US" sz="1800" b="1" kern="100" dirty="0">
                          <a:latin typeface="맑은 고딕"/>
                          <a:cs typeface="Times New Roman"/>
                        </a:rPr>
                        <a:t>();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800" kern="100" dirty="0" err="1">
                          <a:latin typeface="맑은 고딕"/>
                          <a:cs typeface="Times New Roman"/>
                        </a:rPr>
                        <a:t>printf</a:t>
                      </a: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("after </a:t>
                      </a:r>
                      <a:r>
                        <a:rPr lang="en-US" sz="1800" kern="100" dirty="0" err="1">
                          <a:latin typeface="맑은 고딕"/>
                          <a:cs typeface="Times New Roman"/>
                        </a:rPr>
                        <a:t>EnterSTOPMode</a:t>
                      </a: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\n");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8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800" kern="100" dirty="0" err="1">
                          <a:latin typeface="맑은 고딕"/>
                          <a:cs typeface="Times New Roman"/>
                        </a:rPr>
                        <a:t>HAL_Delay</a:t>
                      </a: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(5000);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  }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800" kern="100" dirty="0">
                          <a:latin typeface="맑은 고딕"/>
                          <a:cs typeface="Times New Roman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수행 결과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77800" y="3645024"/>
            <a:ext cx="8858250" cy="2855810"/>
          </a:xfrm>
        </p:spPr>
        <p:txBody>
          <a:bodyPr/>
          <a:lstStyle/>
          <a:p>
            <a:r>
              <a:rPr lang="en-US" altLang="ko-KR" dirty="0"/>
              <a:t>"before </a:t>
            </a:r>
            <a:r>
              <a:rPr lang="en-US" altLang="ko-KR" dirty="0" err="1"/>
              <a:t>EnterSTOPMode</a:t>
            </a:r>
            <a:r>
              <a:rPr lang="en-US" altLang="ko-KR" dirty="0"/>
              <a:t>" </a:t>
            </a:r>
            <a:r>
              <a:rPr lang="ko-KR" altLang="en-US" dirty="0"/>
              <a:t>출력 후 </a:t>
            </a:r>
            <a:r>
              <a:rPr lang="en-US" altLang="ko-KR" dirty="0"/>
              <a:t>Stop mode</a:t>
            </a:r>
            <a:r>
              <a:rPr lang="ko-KR" altLang="ko-KR" dirty="0"/>
              <a:t>에 진입</a:t>
            </a:r>
            <a:endParaRPr lang="en-US" altLang="ko-KR" dirty="0"/>
          </a:p>
          <a:p>
            <a:r>
              <a:rPr lang="ko-KR" altLang="ko-KR" dirty="0"/>
              <a:t>프로그램의 수행은 바로 그 시점에서 멈</a:t>
            </a:r>
            <a:r>
              <a:rPr lang="ko-KR" altLang="en-US" dirty="0"/>
              <a:t>춘</a:t>
            </a:r>
            <a:r>
              <a:rPr lang="ko-KR" altLang="ko-KR" dirty="0"/>
              <a:t>다</a:t>
            </a:r>
            <a:r>
              <a:rPr lang="en-US" altLang="ko-KR" dirty="0"/>
              <a:t>.</a:t>
            </a:r>
          </a:p>
          <a:p>
            <a:r>
              <a:rPr lang="ko-KR" altLang="ko-KR" dirty="0"/>
              <a:t>어떠한 인터럽트를 발생하기 전에는</a:t>
            </a:r>
            <a:r>
              <a:rPr lang="en-US" altLang="ko-KR" dirty="0"/>
              <a:t> Stop mode</a:t>
            </a:r>
            <a:r>
              <a:rPr lang="ko-KR" altLang="ko-KR" dirty="0"/>
              <a:t>에서 빠져나올 수 없다</a:t>
            </a:r>
            <a:r>
              <a:rPr lang="en-US" altLang="ko-KR" dirty="0"/>
              <a:t>.</a:t>
            </a:r>
            <a:endParaRPr lang="ko-KR" altLang="ko-KR" dirty="0"/>
          </a:p>
          <a:p>
            <a:pPr>
              <a:buNone/>
            </a:pPr>
            <a:endParaRPr lang="ko-KR" altLang="ko-KR" dirty="0"/>
          </a:p>
          <a:p>
            <a:r>
              <a:rPr lang="ko-KR" altLang="ko-KR" dirty="0"/>
              <a:t>만약</a:t>
            </a:r>
            <a:r>
              <a:rPr lang="en-US" altLang="ko-KR" dirty="0"/>
              <a:t> Key1</a:t>
            </a:r>
            <a:r>
              <a:rPr lang="ko-KR" altLang="en-US" dirty="0"/>
              <a:t>이</a:t>
            </a:r>
            <a:r>
              <a:rPr lang="ko-KR" altLang="ko-KR" dirty="0"/>
              <a:t>나</a:t>
            </a:r>
            <a:r>
              <a:rPr lang="en-US" altLang="ko-KR" dirty="0"/>
              <a:t> Key2</a:t>
            </a:r>
            <a:r>
              <a:rPr lang="ko-KR" altLang="ko-KR" dirty="0"/>
              <a:t>을 눌러서</a:t>
            </a:r>
            <a:r>
              <a:rPr lang="en-US" altLang="ko-KR" dirty="0"/>
              <a:t> EXTI interrupt</a:t>
            </a:r>
            <a:r>
              <a:rPr lang="ko-KR" altLang="ko-KR" dirty="0"/>
              <a:t>를</a:t>
            </a:r>
            <a:r>
              <a:rPr lang="en-US" altLang="ko-KR" dirty="0"/>
              <a:t> </a:t>
            </a:r>
            <a:r>
              <a:rPr lang="ko-KR" altLang="ko-KR" dirty="0"/>
              <a:t>발생시키게 되면 바로 그 순간에</a:t>
            </a:r>
            <a:r>
              <a:rPr lang="en-US" altLang="ko-KR" dirty="0"/>
              <a:t> Stop mode</a:t>
            </a:r>
            <a:r>
              <a:rPr lang="ko-KR" altLang="ko-KR" dirty="0"/>
              <a:t>에서</a:t>
            </a:r>
            <a:r>
              <a:rPr lang="en-US" altLang="ko-KR" dirty="0"/>
              <a:t> </a:t>
            </a:r>
            <a:r>
              <a:rPr lang="ko-KR" altLang="ko-KR" dirty="0"/>
              <a:t>빠져 나와서 </a:t>
            </a:r>
            <a:r>
              <a:rPr lang="en-US" altLang="ko-KR" dirty="0" err="1"/>
              <a:t>SystemClock_Config</a:t>
            </a:r>
            <a:r>
              <a:rPr lang="en-US" altLang="ko-KR" dirty="0"/>
              <a:t>()</a:t>
            </a:r>
            <a:r>
              <a:rPr lang="ko-KR" altLang="ko-KR" dirty="0"/>
              <a:t>를 수행해서</a:t>
            </a:r>
            <a:r>
              <a:rPr lang="en-US" altLang="ko-KR" dirty="0"/>
              <a:t> </a:t>
            </a:r>
            <a:r>
              <a:rPr lang="ko-KR" altLang="ko-KR" dirty="0"/>
              <a:t>클럭을 정상적으로 동작하게 만든 이후에</a:t>
            </a:r>
            <a:r>
              <a:rPr lang="en-US" altLang="ko-KR" dirty="0"/>
              <a:t> "after </a:t>
            </a:r>
            <a:r>
              <a:rPr lang="en-US" altLang="ko-KR" dirty="0" err="1"/>
              <a:t>EnterSTOPMode</a:t>
            </a:r>
            <a:r>
              <a:rPr lang="en-US" altLang="ko-KR" dirty="0"/>
              <a:t>"</a:t>
            </a:r>
            <a:r>
              <a:rPr lang="ko-KR" altLang="ko-KR" dirty="0"/>
              <a:t>를 출력</a:t>
            </a:r>
            <a:r>
              <a:rPr lang="ko-KR" altLang="en-US" dirty="0"/>
              <a:t>한다</a:t>
            </a:r>
            <a:r>
              <a:rPr lang="en-US" altLang="ko-KR" dirty="0"/>
              <a:t>.</a:t>
            </a:r>
            <a:endParaRPr lang="ko-KR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2E8DD2C-320F-9845-E674-B55C1D9C0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25864"/>
            <a:ext cx="2736304" cy="25517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PWR </a:t>
            </a:r>
            <a:r>
              <a:rPr lang="ko-KR" altLang="ko-KR" dirty="0"/>
              <a:t>예제</a:t>
            </a:r>
            <a:r>
              <a:rPr lang="en-US" altLang="ko-KR" dirty="0"/>
              <a:t> 2 - RTC Alarm </a:t>
            </a:r>
            <a:r>
              <a:rPr lang="ko-KR" altLang="ko-KR" dirty="0"/>
              <a:t>설정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84F13EC-7974-B6F7-447B-FED4C251B0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836713"/>
            <a:ext cx="6984776" cy="48616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378ACE85-DD50-8F16-84C8-C0B328AE99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1288" y="5301208"/>
            <a:ext cx="4904762" cy="1019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PWR </a:t>
            </a:r>
            <a:r>
              <a:rPr lang="ko-KR" altLang="ko-KR" dirty="0"/>
              <a:t>예제</a:t>
            </a:r>
            <a:r>
              <a:rPr lang="en-US" altLang="ko-KR" dirty="0"/>
              <a:t> 2 - RTC Alarm </a:t>
            </a:r>
            <a:r>
              <a:rPr lang="ko-KR" altLang="ko-KR" dirty="0"/>
              <a:t>설정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6EF07BE-02F6-02DF-7063-89C3E0383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36712"/>
            <a:ext cx="8052640" cy="5256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305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PWR </a:t>
            </a:r>
            <a:r>
              <a:rPr lang="ko-KR" altLang="ko-KR" dirty="0"/>
              <a:t>예제</a:t>
            </a:r>
            <a:r>
              <a:rPr lang="en-US" altLang="ko-KR" dirty="0"/>
              <a:t> 2 - RTC Alarm </a:t>
            </a:r>
            <a:r>
              <a:rPr lang="ko-KR" altLang="ko-KR" dirty="0"/>
              <a:t>설정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516BBA-679C-AF20-65B5-2D8F29BD8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768" y="973286"/>
            <a:ext cx="8748464" cy="4665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5159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kern="100" dirty="0" err="1">
                <a:latin typeface="맑은 고딕"/>
                <a:cs typeface="Times New Roman"/>
              </a:rPr>
              <a:t>RTC_SetAlarmInSeconds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2615566"/>
              </p:ext>
            </p:extLst>
          </p:nvPr>
        </p:nvGraphicFramePr>
        <p:xfrm>
          <a:off x="203728" y="692696"/>
          <a:ext cx="8760759" cy="6096000"/>
        </p:xfrm>
        <a:graphic>
          <a:graphicData uri="http://schemas.openxmlformats.org/drawingml/2006/table">
            <a:tbl>
              <a:tblPr/>
              <a:tblGrid>
                <a:gridCol w="87607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static void </a:t>
                      </a:r>
                      <a:r>
                        <a:rPr lang="en-US" sz="1600" b="1" kern="100" dirty="0" err="1">
                          <a:latin typeface="맑은 고딕"/>
                          <a:cs typeface="Times New Roman"/>
                        </a:rPr>
                        <a:t>RTC_SetAlarmInSeconds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(uint32_t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seconds_from_now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RTC_TimeTypeDef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now = {0};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RTC_DateTypeDef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date = {0};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HAL_RTC_GetTime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(&amp;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hrtc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, &amp;now, RTC_FORMAT_BIN); </a:t>
                      </a: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/* </a:t>
                      </a:r>
                      <a:r>
                        <a:rPr lang="ko-KR" altLang="en-US" sz="1600" kern="100" dirty="0">
                          <a:latin typeface="맑은 고딕"/>
                          <a:cs typeface="Times New Roman"/>
                        </a:rPr>
                        <a:t>현재 시각 읽기 </a:t>
                      </a: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*/</a:t>
                      </a: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HAL_RTC_GetDate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(&amp;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hrtc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, &amp;date, RTC_FORMAT_BIN);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uint32_t total =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now.Hours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* 3600U +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now.Minutes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* 60U +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now.Seconds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b="1" kern="100" dirty="0">
                          <a:latin typeface="맑은 고딕"/>
                          <a:cs typeface="Times New Roman"/>
                        </a:rPr>
                        <a:t>  total = (total + </a:t>
                      </a:r>
                      <a:r>
                        <a:rPr lang="en-US" sz="1600" b="1" kern="100" dirty="0" err="1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seconds_from_now</a:t>
                      </a:r>
                      <a:r>
                        <a:rPr lang="en-US" sz="1600" b="1" kern="100" dirty="0">
                          <a:latin typeface="맑은 고딕"/>
                          <a:cs typeface="Times New Roman"/>
                        </a:rPr>
                        <a:t>) % (24U * 3600U);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uint8_t ah = (uint8_t)(total / 3600U);  uint8_t am = (uint8_t)((total % 3600U) / 60U);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uint8_t as = (uint8_t)(total % 60U);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HAL_RTC_DeactivateAlarm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(&amp;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hrtc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, RTC_ALARM_A);</a:t>
                      </a: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 /* </a:t>
                      </a:r>
                      <a:r>
                        <a:rPr lang="ko-KR" altLang="en-US" sz="1600" kern="100" dirty="0">
                          <a:latin typeface="맑은 고딕"/>
                          <a:cs typeface="Times New Roman"/>
                        </a:rPr>
                        <a:t>기존 알람 비활성화</a:t>
                      </a: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 */</a:t>
                      </a: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RTC_AlarmTypeDef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= {0};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sAlarm.Alarm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= RTC_ALARM_A;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sAlarm.AlarmTime.Hours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= ah;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sAlarm.AlarmTime.Minutes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= am;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sAlarm.AlarmTime.Seconds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= as;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sAlarm.AlarmTime.SubSeconds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= 0;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sAlarm.AlarmTime.DayLightSaving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= RTC_DAYLIGHTSAVING_NONE;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sAlarm.AlarmTime.StoreOperation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= RTC_STOREOPERATION_RESET;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sAlarm.AlarmMask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= RTC_ALARMMASK_DATEWEEKDAY;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sAlarm.AlarmSubSecondMask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= RTC_ALARMSUBSECONDMASK_ALL;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b="1" kern="100" dirty="0" err="1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HAL_RTC_SetAlarm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(&amp;</a:t>
                      </a:r>
                      <a:r>
                        <a:rPr lang="en-US" sz="1600" b="1" kern="100" dirty="0" err="1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hrtc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, &amp;</a:t>
                      </a:r>
                      <a:r>
                        <a:rPr lang="en-US" sz="1600" b="1" kern="100" dirty="0" err="1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sAlarm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, RTC_FORMAT_BIN);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760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main – RTC Set Alarm</a:t>
            </a:r>
            <a:endParaRPr lang="ko-KR" altLang="en-US" dirty="0"/>
          </a:p>
        </p:txBody>
      </p:sp>
      <p:graphicFrame>
        <p:nvGraphicFramePr>
          <p:cNvPr id="4" name="내용 개체 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3501127"/>
              </p:ext>
            </p:extLst>
          </p:nvPr>
        </p:nvGraphicFramePr>
        <p:xfrm>
          <a:off x="203729" y="785794"/>
          <a:ext cx="8572560" cy="5852160"/>
        </p:xfrm>
        <a:graphic>
          <a:graphicData uri="http://schemas.openxmlformats.org/drawingml/2006/table">
            <a:tbl>
              <a:tblPr/>
              <a:tblGrid>
                <a:gridCol w="8572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int main(void) {</a:t>
                      </a:r>
                      <a:endParaRPr lang="ko-KR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..... ..... ..... ..... ..... .....</a:t>
                      </a:r>
                      <a:endParaRPr lang="ko-KR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/* Configure the system clock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SystemClock_Config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..... ..... ..... ..... ..... .....</a:t>
                      </a:r>
                      <a:endParaRPr lang="ko-KR" altLang="ko-KR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MX_RTC_Init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();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kern="100" dirty="0">
                          <a:latin typeface="맑은 고딕"/>
                          <a:cs typeface="Times New Roman"/>
                        </a:rPr>
                        <a:t>..... ..... ..... ..... ..... .....</a:t>
                      </a:r>
                      <a:endParaRPr lang="ko-KR" altLang="ko-KR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while (1) {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printf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("Hello World! - Mango ^)^\n");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System_Information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600" b="1" kern="100" dirty="0" err="1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RTC_SetAlarmInSeconds</a:t>
                      </a:r>
                      <a:r>
                        <a:rPr lang="en-US" sz="1600" b="1" kern="100" dirty="0">
                          <a:solidFill>
                            <a:srgbClr val="0000FF"/>
                          </a:solidFill>
                          <a:latin typeface="맑은 고딕"/>
                          <a:cs typeface="Times New Roman"/>
                        </a:rPr>
                        <a:t>(5);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printf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("before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EnterSTOPMode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\n");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600" b="1" kern="100" dirty="0" err="1">
                          <a:latin typeface="맑은 고딕"/>
                          <a:cs typeface="Times New Roman"/>
                        </a:rPr>
                        <a:t>HAL_PWR_EnterSTOPMode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(PWR_LOWPOWERREGULATOR_ON, PWR_STOPENTRY_WFI);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 /* Configure the system clock */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600" b="1" kern="100" dirty="0" err="1">
                          <a:latin typeface="맑은 고딕"/>
                          <a:cs typeface="Times New Roman"/>
                        </a:rPr>
                        <a:t>SystemClock_Config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printf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("after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EnterSTOPMode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\n");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endParaRPr lang="en-US" sz="1600" kern="100" dirty="0">
                        <a:latin typeface="맑은 고딕"/>
                        <a:cs typeface="Times New Roman"/>
                      </a:endParaRP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  </a:t>
                      </a:r>
                      <a:r>
                        <a:rPr lang="en-US" sz="1600" kern="100" dirty="0" err="1">
                          <a:latin typeface="맑은 고딕"/>
                          <a:cs typeface="Times New Roman"/>
                        </a:rPr>
                        <a:t>HAL_Delay</a:t>
                      </a: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(5000);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  }</a:t>
                      </a:r>
                    </a:p>
                    <a:p>
                      <a:pPr algn="l" latinLnBrk="1">
                        <a:spcAft>
                          <a:spcPts val="0"/>
                        </a:spcAft>
                      </a:pPr>
                      <a:r>
                        <a:rPr lang="en-US" sz="1600" kern="100" dirty="0">
                          <a:latin typeface="맑은 고딕"/>
                          <a:cs typeface="Times New Roman"/>
                        </a:rPr>
                        <a:t>}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DD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E4637719-5226-7D72-B203-8424F2A985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8104" y="1000429"/>
            <a:ext cx="2952328" cy="28734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Tahoma"/>
        <a:ea typeface="굴림"/>
        <a:cs typeface=""/>
      </a:majorFont>
      <a:minorFont>
        <a:latin typeface="Tahoma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800" b="1" i="1" u="none" strike="noStrike" cap="none" normalizeH="0" baseline="0" smtClean="0">
            <a:ln>
              <a:noFill/>
            </a:ln>
            <a:solidFill>
              <a:srgbClr val="C0C0C0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18510</TotalTime>
  <Words>961</Words>
  <Application>Microsoft Office PowerPoint</Application>
  <PresentationFormat>화면 슬라이드 쇼(4:3)</PresentationFormat>
  <Paragraphs>131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2" baseType="lpstr">
      <vt:lpstr>굴림</vt:lpstr>
      <vt:lpstr>맑은 고딕</vt:lpstr>
      <vt:lpstr>Arial</vt:lpstr>
      <vt:lpstr>Century Gothic</vt:lpstr>
      <vt:lpstr>Tahoma</vt:lpstr>
      <vt:lpstr>Verdana</vt:lpstr>
      <vt:lpstr>Wingdings</vt:lpstr>
      <vt:lpstr>Wingdings 2</vt:lpstr>
      <vt:lpstr>디자인 사용자 지정</vt:lpstr>
      <vt:lpstr>Power Control (PWR)</vt:lpstr>
      <vt:lpstr>Low power mode</vt:lpstr>
      <vt:lpstr>Power domain</vt:lpstr>
      <vt:lpstr>Voltage Regulator</vt:lpstr>
      <vt:lpstr>Sleep mode</vt:lpstr>
      <vt:lpstr>PWR 예제 1 - STOP mode 설정</vt:lpstr>
      <vt:lpstr>HAL_PWR_EnterSTOPMode</vt:lpstr>
      <vt:lpstr>수행 결과</vt:lpstr>
      <vt:lpstr>PWR 예제 2 - RTC Alarm 설정</vt:lpstr>
      <vt:lpstr>PWR 예제 2 - RTC Alarm 설정</vt:lpstr>
      <vt:lpstr>PWR 예제 2 - RTC Alarm 설정</vt:lpstr>
      <vt:lpstr>RTC_SetAlarmInSeconds</vt:lpstr>
      <vt:lpstr>main – RTC Set Alarm</vt:lpstr>
    </vt:vector>
  </TitlesOfParts>
  <Company>마케팅팀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김정남</dc:creator>
  <cp:lastModifiedBy>Oh Younghwan</cp:lastModifiedBy>
  <cp:revision>602</cp:revision>
  <dcterms:created xsi:type="dcterms:W3CDTF">2006-02-08T03:00:46Z</dcterms:created>
  <dcterms:modified xsi:type="dcterms:W3CDTF">2026-01-21T06:41:37Z</dcterms:modified>
</cp:coreProperties>
</file>