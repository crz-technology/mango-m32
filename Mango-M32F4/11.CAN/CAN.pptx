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39"/>
  </p:notesMasterIdLst>
  <p:handoutMasterIdLst>
    <p:handoutMasterId r:id="rId40"/>
  </p:handoutMasterIdLst>
  <p:sldIdLst>
    <p:sldId id="308" r:id="rId2"/>
    <p:sldId id="332" r:id="rId3"/>
    <p:sldId id="352" r:id="rId4"/>
    <p:sldId id="349" r:id="rId5"/>
    <p:sldId id="354" r:id="rId6"/>
    <p:sldId id="358" r:id="rId7"/>
    <p:sldId id="359" r:id="rId8"/>
    <p:sldId id="355" r:id="rId9"/>
    <p:sldId id="353" r:id="rId10"/>
    <p:sldId id="356" r:id="rId11"/>
    <p:sldId id="361" r:id="rId12"/>
    <p:sldId id="362" r:id="rId13"/>
    <p:sldId id="366" r:id="rId14"/>
    <p:sldId id="379" r:id="rId15"/>
    <p:sldId id="380" r:id="rId16"/>
    <p:sldId id="381" r:id="rId17"/>
    <p:sldId id="363" r:id="rId18"/>
    <p:sldId id="364" r:id="rId19"/>
    <p:sldId id="365" r:id="rId20"/>
    <p:sldId id="367" r:id="rId21"/>
    <p:sldId id="368" r:id="rId22"/>
    <p:sldId id="369" r:id="rId23"/>
    <p:sldId id="370" r:id="rId24"/>
    <p:sldId id="384" r:id="rId25"/>
    <p:sldId id="385" r:id="rId26"/>
    <p:sldId id="386" r:id="rId27"/>
    <p:sldId id="387" r:id="rId28"/>
    <p:sldId id="372" r:id="rId29"/>
    <p:sldId id="373" r:id="rId30"/>
    <p:sldId id="374" r:id="rId31"/>
    <p:sldId id="375" r:id="rId32"/>
    <p:sldId id="376" r:id="rId33"/>
    <p:sldId id="377" r:id="rId34"/>
    <p:sldId id="382" r:id="rId35"/>
    <p:sldId id="388" r:id="rId36"/>
    <p:sldId id="383" r:id="rId37"/>
    <p:sldId id="378" r:id="rId38"/>
  </p:sldIdLst>
  <p:sldSz cx="9144000" cy="6858000" type="screen4x3"/>
  <p:notesSz cx="6799263" cy="9929813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5pPr>
    <a:lvl6pPr marL="22860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6pPr>
    <a:lvl7pPr marL="27432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7pPr>
    <a:lvl8pPr marL="32004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8pPr>
    <a:lvl9pPr marL="3657600" algn="l" defTabSz="914400" rtl="0" eaLnBrk="1" latinLnBrk="1" hangingPunct="1">
      <a:defRPr kumimoji="1" sz="800" b="1" i="1" kern="1200">
        <a:solidFill>
          <a:srgbClr val="C0C0C0"/>
        </a:solidFill>
        <a:latin typeface="Tahoma" pitchFamily="34" charset="0"/>
        <a:ea typeface="굴림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38">
          <p15:clr>
            <a:srgbClr val="A4A3A4"/>
          </p15:clr>
        </p15:guide>
        <p15:guide id="2" pos="68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28">
          <p15:clr>
            <a:srgbClr val="A4A3A4"/>
          </p15:clr>
        </p15:guide>
        <p15:guide id="2" pos="214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99"/>
    <a:srgbClr val="C0C0C0"/>
    <a:srgbClr val="CCECFF"/>
    <a:srgbClr val="FF99CC"/>
    <a:srgbClr val="99FF99"/>
    <a:srgbClr val="660033"/>
    <a:srgbClr val="6666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843" autoAdjust="0"/>
    <p:restoredTop sz="95183" autoAdjust="0"/>
  </p:normalViewPr>
  <p:slideViewPr>
    <p:cSldViewPr snapToObjects="1">
      <p:cViewPr varScale="1">
        <p:scale>
          <a:sx n="75" d="100"/>
          <a:sy n="75" d="100"/>
        </p:scale>
        <p:origin x="1795" y="283"/>
      </p:cViewPr>
      <p:guideLst>
        <p:guide orient="horz" pos="3838"/>
        <p:guide pos="68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notesViewPr>
    <p:cSldViewPr snapToObjects="1">
      <p:cViewPr varScale="1">
        <p:scale>
          <a:sx n="57" d="100"/>
          <a:sy n="57" d="100"/>
        </p:scale>
        <p:origin x="-2616" y="-96"/>
      </p:cViewPr>
      <p:guideLst>
        <p:guide orient="horz" pos="3128"/>
        <p:guide pos="214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handoutMaster" Target="handoutMasters/handout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3" name="Rectangle 3"/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4" name="Rectangle 4"/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5365" name="Rectangle 5"/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3E359F8D-C241-43DD-BB7A-EE3CBF36867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1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51275" y="0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2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917575" y="746125"/>
            <a:ext cx="4964113" cy="3722688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ffectLst/>
        </p:spPr>
      </p:sp>
      <p:sp>
        <p:nvSpPr>
          <p:cNvPr id="17413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679450" y="4716463"/>
            <a:ext cx="5440363" cy="4467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17414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17415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51275" y="9432925"/>
            <a:ext cx="2946400" cy="4953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2226" tIns="46113" rIns="92226" bIns="46113" numCol="1" anchor="b" anchorCtr="0" compatLnSpc="1">
            <a:prstTxWarp prst="textNoShape">
              <a:avLst/>
            </a:prstTxWarp>
          </a:bodyPr>
          <a:lstStyle>
            <a:lvl1pPr algn="r" defTabSz="922338">
              <a:defRPr sz="1200" b="0" i="0">
                <a:solidFill>
                  <a:schemeClr val="tx1"/>
                </a:solidFill>
                <a:latin typeface="굴림" pitchFamily="50" charset="-127"/>
              </a:defRPr>
            </a:lvl1pPr>
          </a:lstStyle>
          <a:p>
            <a:fld id="{DE4C13C3-4C20-49FA-8F88-6FD9575FBAAE}" type="slidenum">
              <a:rPr lang="en-US" altLang="ko-KR"/>
              <a:pPr/>
              <a:t>‹#›</a:t>
            </a:fld>
            <a:endParaRPr lang="en-US" altLang="ko-K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1pPr>
    <a:lvl2pPr marL="4572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2pPr>
    <a:lvl3pPr marL="9144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3pPr>
    <a:lvl4pPr marL="13716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4pPr>
    <a:lvl5pPr marL="1828800" algn="l" rtl="0" fontAlgn="base" latinLnBrk="1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굴림" pitchFamily="50" charset="-127"/>
        <a:ea typeface="굴림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7"/>
          <p:cNvSpPr>
            <a:spLocks noGrp="1" noChangeArrowheads="1"/>
          </p:cNvSpPr>
          <p:nvPr>
            <p:ph type="sldNum" sz="quarter" idx="5"/>
          </p:nvPr>
        </p:nvSpPr>
        <p:spPr>
          <a:ln/>
        </p:spPr>
        <p:txBody>
          <a:bodyPr/>
          <a:lstStyle/>
          <a:p>
            <a:fld id="{89E6B64B-D8C4-466A-BB6C-3C01BAF15E52}" type="slidenum">
              <a:rPr lang="en-US" altLang="ko-KR"/>
              <a:pPr/>
              <a:t>1</a:t>
            </a:fld>
            <a:endParaRPr lang="en-US" altLang="ko-KR"/>
          </a:p>
        </p:txBody>
      </p:sp>
      <p:sp>
        <p:nvSpPr>
          <p:cNvPr id="681986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681987" name="Rectangle 3"/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endParaRPr lang="ko-KR" altLang="ko-KR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875" name="Rectangle 11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6" name="Rectangle 12"/>
          <p:cNvSpPr>
            <a:spLocks noChangeArrowheads="1"/>
          </p:cNvSpPr>
          <p:nvPr userDrawn="1"/>
        </p:nvSpPr>
        <p:spPr bwMode="auto">
          <a:xfrm>
            <a:off x="88900" y="2636838"/>
            <a:ext cx="7146925" cy="1095375"/>
          </a:xfrm>
          <a:prstGeom prst="rect">
            <a:avLst/>
          </a:prstGeom>
          <a:solidFill>
            <a:srgbClr val="92D050"/>
          </a:solidFill>
          <a:ln w="952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76877" name="Line 13"/>
          <p:cNvSpPr>
            <a:spLocks noChangeShapeType="1"/>
          </p:cNvSpPr>
          <p:nvPr userDrawn="1"/>
        </p:nvSpPr>
        <p:spPr bwMode="auto">
          <a:xfrm>
            <a:off x="88900" y="2552700"/>
            <a:ext cx="7146925" cy="1588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76867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152525"/>
          </a:xfrm>
        </p:spPr>
        <p:txBody>
          <a:bodyPr/>
          <a:lstStyle>
            <a:lvl1pPr marL="0" indent="0">
              <a:buFontTx/>
              <a:buNone/>
              <a:defRPr b="1">
                <a:latin typeface="Verdana" pitchFamily="34" charset="0"/>
              </a:defRPr>
            </a:lvl1pPr>
          </a:lstStyle>
          <a:p>
            <a:r>
              <a:rPr lang="ko-KR" altLang="en-US" dirty="0"/>
              <a:t>마스터 부제목 스타일 편집</a:t>
            </a:r>
          </a:p>
        </p:txBody>
      </p:sp>
      <p:sp>
        <p:nvSpPr>
          <p:cNvPr id="676868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708275"/>
            <a:ext cx="6551612" cy="1023938"/>
          </a:xfrm>
        </p:spPr>
        <p:txBody>
          <a:bodyPr/>
          <a:lstStyle>
            <a:lvl1pPr>
              <a:defRPr sz="3200"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676881" name="Rectangle 17"/>
          <p:cNvSpPr>
            <a:spLocks noChangeArrowheads="1"/>
          </p:cNvSpPr>
          <p:nvPr userDrawn="1"/>
        </p:nvSpPr>
        <p:spPr bwMode="auto">
          <a:xfrm>
            <a:off x="107950" y="6381750"/>
            <a:ext cx="4679950" cy="360363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r>
              <a:rPr lang="en-US" altLang="ko-KR" dirty="0"/>
              <a:t>http://cafe.naver.com/embeddedcrazyboys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Verdana" pitchFamily="34" charset="0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177800" y="785793"/>
            <a:ext cx="8858250" cy="5643603"/>
          </a:xfrm>
        </p:spPr>
        <p:txBody>
          <a:bodyPr/>
          <a:lstStyle>
            <a:lvl1pPr>
              <a:defRPr>
                <a:latin typeface="Verdana" pitchFamily="34" charset="0"/>
              </a:defRPr>
            </a:lvl1pPr>
            <a:lvl2pPr>
              <a:defRPr>
                <a:latin typeface="Verdana" pitchFamily="34" charset="0"/>
              </a:defRPr>
            </a:lvl2pPr>
            <a:lvl3pPr>
              <a:defRPr>
                <a:latin typeface="Verdana" pitchFamily="34" charset="0"/>
              </a:defRPr>
            </a:lvl3pPr>
            <a:lvl4pPr>
              <a:defRPr>
                <a:latin typeface="Verdana" pitchFamily="34" charset="0"/>
              </a:defRPr>
            </a:lvl4pPr>
            <a:lvl5pPr>
              <a:defRPr>
                <a:latin typeface="Verdana" pitchFamily="34" charset="0"/>
              </a:defRPr>
            </a:lvl5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177800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83125" y="665163"/>
            <a:ext cx="4352925" cy="58594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821488" y="115888"/>
            <a:ext cx="2214562" cy="6408737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177800" y="115888"/>
            <a:ext cx="6491288" cy="64087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4" name="Rectangle 70"/>
          <p:cNvSpPr>
            <a:spLocks noChangeArrowheads="1"/>
          </p:cNvSpPr>
          <p:nvPr userDrawn="1"/>
        </p:nvSpPr>
        <p:spPr bwMode="auto">
          <a:xfrm>
            <a:off x="88900" y="85725"/>
            <a:ext cx="8959850" cy="534988"/>
          </a:xfrm>
          <a:prstGeom prst="rect">
            <a:avLst/>
          </a:prstGeom>
          <a:solidFill>
            <a:srgbClr val="92D050">
              <a:alpha val="50000"/>
            </a:srgbClr>
          </a:solidFill>
          <a:ln w="9525">
            <a:noFill/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14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177800" y="665163"/>
            <a:ext cx="8858250" cy="58594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</p:txBody>
      </p:sp>
      <p:sp>
        <p:nvSpPr>
          <p:cNvPr id="614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177800" y="115888"/>
            <a:ext cx="8858250" cy="469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ko-KR" dirty="0"/>
              <a:t>Main Title</a:t>
            </a:r>
          </a:p>
        </p:txBody>
      </p:sp>
      <p:sp>
        <p:nvSpPr>
          <p:cNvPr id="6178" name="Rectangle 34"/>
          <p:cNvSpPr>
            <a:spLocks noChangeArrowheads="1"/>
          </p:cNvSpPr>
          <p:nvPr userDrawn="1"/>
        </p:nvSpPr>
        <p:spPr bwMode="auto">
          <a:xfrm rot="-21600000">
            <a:off x="8388350" y="6453188"/>
            <a:ext cx="647700" cy="3333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/>
          <a:lstStyle/>
          <a:p>
            <a:pPr algn="r" latinLnBrk="0"/>
            <a:fld id="{4FDD7156-F552-46EC-968D-BB66E3283A22}" type="slidenum">
              <a:rPr kumimoji="0" lang="en-US" altLang="ko-KR" sz="1300" i="0">
                <a:solidFill>
                  <a:srgbClr val="333333"/>
                </a:solidFill>
                <a:latin typeface="Century Gothic" pitchFamily="34" charset="0"/>
              </a:rPr>
              <a:pPr algn="r" latinLnBrk="0"/>
              <a:t>‹#›</a:t>
            </a:fld>
            <a:endParaRPr kumimoji="0" lang="en-US" altLang="ko-KR" sz="1300" i="0">
              <a:solidFill>
                <a:srgbClr val="333333"/>
              </a:solidFill>
              <a:latin typeface="Century Gothic" pitchFamily="34" charset="0"/>
            </a:endParaRPr>
          </a:p>
        </p:txBody>
      </p:sp>
      <p:sp>
        <p:nvSpPr>
          <p:cNvPr id="6200" name="Text Box 56"/>
          <p:cNvSpPr txBox="1">
            <a:spLocks noChangeArrowheads="1"/>
          </p:cNvSpPr>
          <p:nvPr userDrawn="1"/>
        </p:nvSpPr>
        <p:spPr bwMode="auto">
          <a:xfrm>
            <a:off x="5422900" y="6480175"/>
            <a:ext cx="3165475" cy="244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>
            <a:spAutoFit/>
          </a:bodyPr>
          <a:lstStyle/>
          <a:p>
            <a:pPr algn="r"/>
            <a:r>
              <a:rPr lang="en-US" altLang="ko-KR" sz="1000" i="0" dirty="0">
                <a:solidFill>
                  <a:srgbClr val="5F5F5F"/>
                </a:solidFill>
                <a:latin typeface="Century Gothic" pitchFamily="34" charset="0"/>
              </a:rPr>
              <a:t>https://www.crz-tech.com/</a:t>
            </a:r>
          </a:p>
        </p:txBody>
      </p:sp>
      <p:sp>
        <p:nvSpPr>
          <p:cNvPr id="6211" name="Rectangle 67"/>
          <p:cNvSpPr>
            <a:spLocks noChangeArrowheads="1"/>
          </p:cNvSpPr>
          <p:nvPr userDrawn="1"/>
        </p:nvSpPr>
        <p:spPr bwMode="auto">
          <a:xfrm>
            <a:off x="88900" y="85725"/>
            <a:ext cx="8959850" cy="6689725"/>
          </a:xfrm>
          <a:prstGeom prst="rect">
            <a:avLst/>
          </a:prstGeom>
          <a:noFill/>
          <a:ln w="3175">
            <a:solidFill>
              <a:srgbClr val="00B050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ko-KR" altLang="en-US"/>
          </a:p>
        </p:txBody>
      </p:sp>
      <p:sp>
        <p:nvSpPr>
          <p:cNvPr id="6212" name="Line 68"/>
          <p:cNvSpPr>
            <a:spLocks noChangeShapeType="1"/>
          </p:cNvSpPr>
          <p:nvPr userDrawn="1"/>
        </p:nvSpPr>
        <p:spPr bwMode="auto">
          <a:xfrm>
            <a:off x="5583238" y="6480175"/>
            <a:ext cx="3452812" cy="0"/>
          </a:xfrm>
          <a:prstGeom prst="line">
            <a:avLst/>
          </a:prstGeom>
          <a:noFill/>
          <a:ln w="317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  <p:sp>
        <p:nvSpPr>
          <p:cNvPr id="6215" name="Line 71"/>
          <p:cNvSpPr>
            <a:spLocks noChangeShapeType="1"/>
          </p:cNvSpPr>
          <p:nvPr userDrawn="1"/>
        </p:nvSpPr>
        <p:spPr bwMode="auto">
          <a:xfrm>
            <a:off x="88900" y="620713"/>
            <a:ext cx="8959850" cy="0"/>
          </a:xfrm>
          <a:prstGeom prst="line">
            <a:avLst/>
          </a:prstGeom>
          <a:noFill/>
          <a:ln w="9525">
            <a:solidFill>
              <a:srgbClr val="00B050"/>
            </a:solidFill>
            <a:round/>
            <a:headEnd/>
            <a:tailEnd/>
          </a:ln>
          <a:effectLst/>
        </p:spPr>
        <p:txBody>
          <a:bodyPr/>
          <a:lstStyle/>
          <a:p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</p:sldLayoutIdLst>
  <p:txStyles>
    <p:titleStyle>
      <a:lvl1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Verdana" pitchFamily="34" charset="0"/>
          <a:ea typeface="+mj-ea"/>
          <a:cs typeface="+mj-cs"/>
        </a:defRPr>
      </a:lvl1pPr>
      <a:lvl2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2pPr>
      <a:lvl3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3pPr>
      <a:lvl4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4pPr>
      <a:lvl5pPr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5pPr>
      <a:lvl6pPr marL="4572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6pPr>
      <a:lvl7pPr marL="9144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7pPr>
      <a:lvl8pPr marL="13716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8pPr>
      <a:lvl9pPr marL="1828800" algn="l" rtl="0" fontAlgn="base" latinLnBrk="1">
        <a:spcBef>
          <a:spcPct val="0"/>
        </a:spcBef>
        <a:spcAft>
          <a:spcPct val="0"/>
        </a:spcAft>
        <a:defRPr kumimoji="1" sz="2400" b="1">
          <a:solidFill>
            <a:schemeClr val="tx1"/>
          </a:solidFill>
          <a:latin typeface="Tahoma" pitchFamily="34" charset="0"/>
          <a:ea typeface="굴림" pitchFamily="50" charset="-127"/>
        </a:defRPr>
      </a:lvl9pPr>
    </p:titleStyle>
    <p:bodyStyle>
      <a:lvl1pPr marL="342900" indent="-3429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Char char="•"/>
        <a:defRPr kumimoji="1" sz="2000">
          <a:solidFill>
            <a:schemeClr val="tx1"/>
          </a:solidFill>
          <a:latin typeface="Verdana" pitchFamily="34" charset="0"/>
          <a:ea typeface="+mn-ea"/>
          <a:cs typeface="+mn-cs"/>
        </a:defRPr>
      </a:lvl1pPr>
      <a:lvl2pPr marL="742950" indent="-28575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Ø"/>
        <a:defRPr kumimoji="1">
          <a:solidFill>
            <a:schemeClr val="tx1"/>
          </a:solidFill>
          <a:latin typeface="Verdana" pitchFamily="34" charset="0"/>
          <a:ea typeface="+mn-ea"/>
        </a:defRPr>
      </a:lvl2pPr>
      <a:lvl3pPr marL="1143000" indent="-228600" algn="l" rtl="0" fontAlgn="base" latinLnBrk="1">
        <a:spcBef>
          <a:spcPct val="20000"/>
        </a:spcBef>
        <a:spcAft>
          <a:spcPct val="0"/>
        </a:spcAft>
        <a:buClr>
          <a:schemeClr val="tx1"/>
        </a:buClr>
        <a:buFont typeface="Wingdings" pitchFamily="2" charset="2"/>
        <a:buChar char="§"/>
        <a:defRPr kumimoji="1" sz="1600">
          <a:solidFill>
            <a:schemeClr val="tx1"/>
          </a:solidFill>
          <a:latin typeface="Verdana" pitchFamily="34" charset="0"/>
          <a:ea typeface="+mn-ea"/>
        </a:defRPr>
      </a:lvl3pPr>
      <a:lvl4pPr marL="1600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Wingdings 2" pitchFamily="18" charset="2"/>
        <a:buChar char=""/>
        <a:defRPr kumimoji="1" sz="2000">
          <a:solidFill>
            <a:schemeClr val="tx1"/>
          </a:solidFill>
          <a:latin typeface="Arial" charset="0"/>
          <a:ea typeface="+mn-ea"/>
        </a:defRPr>
      </a:lvl4pPr>
      <a:lvl5pPr marL="20574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5pPr>
      <a:lvl6pPr marL="25146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6pPr>
      <a:lvl7pPr marL="29718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7pPr>
      <a:lvl8pPr marL="34290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8pPr>
      <a:lvl9pPr marL="3886200" indent="-228600" algn="l" rtl="0" fontAlgn="base" latinLnBrk="1">
        <a:spcBef>
          <a:spcPct val="20000"/>
        </a:spcBef>
        <a:spcAft>
          <a:spcPct val="0"/>
        </a:spcAft>
        <a:buClr>
          <a:schemeClr val="bg2"/>
        </a:buClr>
        <a:buFont typeface="Arial" charset="0"/>
        <a:buChar char="»"/>
        <a:defRPr kumimoji="1" sz="1600">
          <a:solidFill>
            <a:schemeClr val="tx1"/>
          </a:solidFill>
          <a:latin typeface="Arial" charset="0"/>
          <a:ea typeface="+mn-ea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916" name="Rectangle 4"/>
          <p:cNvSpPr>
            <a:spLocks noGrp="1" noChangeArrowheads="1"/>
          </p:cNvSpPr>
          <p:nvPr>
            <p:ph type="ctrTitle"/>
          </p:nvPr>
        </p:nvSpPr>
        <p:spPr>
          <a:xfrm>
            <a:off x="684213" y="2674938"/>
            <a:ext cx="6551612" cy="1023937"/>
          </a:xfrm>
        </p:spPr>
        <p:txBody>
          <a:bodyPr/>
          <a:lstStyle/>
          <a:p>
            <a:r>
              <a:rPr lang="en-US" altLang="ko-KR" dirty="0"/>
              <a:t>CAN </a:t>
            </a:r>
            <a:r>
              <a:rPr lang="ko-KR" altLang="en-US" dirty="0"/>
              <a:t>실습</a:t>
            </a:r>
            <a:endParaRPr lang="en-US" altLang="ko-KR" dirty="0"/>
          </a:p>
        </p:txBody>
      </p:sp>
      <p:sp>
        <p:nvSpPr>
          <p:cNvPr id="678917" name="Rectangle 5"/>
          <p:cNvSpPr>
            <a:spLocks noGrp="1" noChangeArrowheads="1"/>
          </p:cNvSpPr>
          <p:nvPr>
            <p:ph type="subTitle" idx="1"/>
          </p:nvPr>
        </p:nvSpPr>
        <p:spPr>
          <a:xfrm>
            <a:off x="827088" y="3860800"/>
            <a:ext cx="6257925" cy="1211274"/>
          </a:xfrm>
        </p:spPr>
        <p:txBody>
          <a:bodyPr/>
          <a:lstStyle/>
          <a:p>
            <a:r>
              <a:rPr lang="en-US" altLang="ko-KR" dirty="0"/>
              <a:t>2026.01.19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A59166-90EC-43EA-C1CC-D0373F9804A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STM32CubeMX </a:t>
            </a:r>
            <a:r>
              <a:rPr lang="ko-KR" altLang="en-US" b="0" i="0" kern="0" dirty="0"/>
              <a:t>실행 후 </a:t>
            </a:r>
            <a:r>
              <a:rPr lang="en-US" altLang="ko-KR" b="0" i="0" kern="0" dirty="0"/>
              <a:t>"ACCESS TO MCU SELECTOR”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</p:txBody>
      </p:sp>
      <p:pic>
        <p:nvPicPr>
          <p:cNvPr id="8" name="그림 7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E10C5A9-85A6-0E27-29A9-B5CB79BFB2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91680" y="1327047"/>
            <a:ext cx="5543340" cy="4982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578876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1B03C7-A48A-126F-9530-3B88896A88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4E170D-18D7-0564-83B9-57A8542133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615354-5026-C919-B1B7-E6E85331042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4351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  <a:p>
            <a:r>
              <a:rPr lang="en-US" altLang="ko-KR" b="0" i="0" kern="0" dirty="0"/>
              <a:t>STM32F407ZET6 </a:t>
            </a:r>
            <a:r>
              <a:rPr lang="ko-KR" altLang="en-US" b="0" i="0" kern="0" dirty="0"/>
              <a:t>선택 후 </a:t>
            </a:r>
            <a:r>
              <a:rPr lang="en-US" altLang="ko-KR" b="0" i="0" kern="0" dirty="0"/>
              <a:t>"Start Project”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</p:txBody>
      </p:sp>
      <p:pic>
        <p:nvPicPr>
          <p:cNvPr id="5" name="그림 4" descr="텍스트, 소프트웨어, 웹 페이지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34DC471-EBB0-7B13-CB84-EA944AE4E0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6973" y="1844824"/>
            <a:ext cx="8028384" cy="420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66452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CDCFF4-1FCE-9767-54F6-B4B2759FC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FB6238-B047-C9B8-FFF0-928DA0DEA2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1C4366-9F84-AC61-925C-FCEF5F8FF2A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HSE(25MHz)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HSE : PH0-OSC_IN, PH1-OSC_OUT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17" name="그림 16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69E31AD-9D7B-7821-9A1B-2C5047CA64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2040" y="1454996"/>
            <a:ext cx="3157463" cy="4684602"/>
          </a:xfrm>
          <a:prstGeom prst="rect">
            <a:avLst/>
          </a:prstGeom>
        </p:spPr>
      </p:pic>
      <p:pic>
        <p:nvPicPr>
          <p:cNvPr id="19" name="그림 18" descr="텍스트, 스크린샷, 라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D538979-475A-EFB0-4B70-331B8002A7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08" y="1898528"/>
            <a:ext cx="4892972" cy="11810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02795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4908E-B983-9E5F-8CEE-8D7A0C7D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138FFB-B8DF-0F5B-55F2-4C770A2301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491E97-5A2F-CFAA-A121-98120DCFE28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USART1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UART1 : PA9-USART1_TXD, PA10-USART1_RXD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507BCCF-BB54-D1A2-0FC3-1AD9B39A322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544" y="1700808"/>
            <a:ext cx="5438775" cy="466725"/>
          </a:xfrm>
          <a:prstGeom prst="rect">
            <a:avLst/>
          </a:prstGeom>
        </p:spPr>
      </p:pic>
      <p:pic>
        <p:nvPicPr>
          <p:cNvPr id="7" name="그림 6" descr="텍스트, 스크린샷, 폰트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3C4E2E9-A850-C5D9-6337-039CA1F87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1840" y="2464246"/>
            <a:ext cx="2638425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35846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7F87FC-0925-9D41-D7AB-1B17FFDE8B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33C89D-E188-9B63-4012-FE1D9871A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CC3ED2-C8B6-5AA9-5B3B-88EA0B43ABA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LED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LED : PF6-LED1, PF7-LED2, PF8-LED3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라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D88FC5-75CB-AAB2-D79D-7FF48DB5C0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63688" y="1556792"/>
            <a:ext cx="4333875" cy="962025"/>
          </a:xfrm>
          <a:prstGeom prst="rect">
            <a:avLst/>
          </a:prstGeom>
        </p:spPr>
      </p:pic>
      <p:pic>
        <p:nvPicPr>
          <p:cNvPr id="8" name="그림 7" descr="텍스트, 스크린샷, 폰트, 도표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52AF34D-D9DD-00AA-4BD3-57AD7C5EE3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5776" y="2846141"/>
            <a:ext cx="3019425" cy="3095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3913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F68635-2993-63D7-B60B-283D6D037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315F64E-2B37-D4BD-1E04-14AFBF4DB8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105D95-9D21-3C40-43C1-9388D16D21D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KEY </a:t>
            </a:r>
            <a:r>
              <a:rPr lang="ko-KR" altLang="en-US" b="0" i="0" kern="0" dirty="0"/>
              <a:t>핀 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KEY : PF9-SW1, PF10-SW2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도표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6EC652A-F4E8-7FB2-C29A-EE217A6C00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490" y="1916832"/>
            <a:ext cx="3623494" cy="2157500"/>
          </a:xfrm>
          <a:prstGeom prst="rect">
            <a:avLst/>
          </a:prstGeom>
        </p:spPr>
      </p:pic>
      <p:pic>
        <p:nvPicPr>
          <p:cNvPr id="9" name="그림 8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1089A06-8FC0-092E-4863-9ADC6B2567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27984" y="2204864"/>
            <a:ext cx="3419475" cy="3276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626012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85803-B3E1-6958-1986-756CA43C50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C70D995-E833-F38B-BA54-A4AD324BEA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D6F761-3223-8BE4-2EEE-366F564D1F3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CAN </a:t>
            </a:r>
            <a:r>
              <a:rPr lang="ko-KR" altLang="en-US" b="0" i="0" kern="0" dirty="0"/>
              <a:t>설정 </a:t>
            </a:r>
            <a:r>
              <a:rPr lang="en-US" altLang="ko-KR" b="0" i="0" kern="0" dirty="0"/>
              <a:t>– </a:t>
            </a:r>
            <a:r>
              <a:rPr lang="ko-KR" altLang="en-US" b="0" i="0" kern="0" dirty="0"/>
              <a:t>회로도 참조</a:t>
            </a:r>
            <a:endParaRPr lang="en-US" altLang="ko-KR" b="0" i="0" kern="0" dirty="0"/>
          </a:p>
          <a:p>
            <a:r>
              <a:rPr lang="en-US" altLang="ko-KR" b="0" i="0" kern="0" dirty="0"/>
              <a:t>CAN1_RX-PB8,CAN1_TX-PB9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폰트, 스크린샷, 라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0481CB5-00E3-AD3E-D828-06B506E9A9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84" y="1905220"/>
            <a:ext cx="6848475" cy="1028700"/>
          </a:xfrm>
          <a:prstGeom prst="rect">
            <a:avLst/>
          </a:prstGeom>
        </p:spPr>
      </p:pic>
      <p:pic>
        <p:nvPicPr>
          <p:cNvPr id="10" name="그림 9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91831A2-341D-60B0-24A2-50090BC2C4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6299" y="2922592"/>
            <a:ext cx="1771402" cy="3241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820659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92C661-CE60-5080-1B91-2E4067A898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D095D2-C28A-3E39-3E18-12D8B3AE37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236276-5DE1-3D41-98AB-64F9D5B3E36F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RCC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HSE </a:t>
            </a:r>
            <a:r>
              <a:rPr lang="ko-KR" altLang="en-US" b="0" i="0" kern="0" dirty="0"/>
              <a:t>활성화 </a:t>
            </a:r>
            <a:r>
              <a:rPr lang="en-US" altLang="ko-KR" b="0" i="0" kern="0" dirty="0"/>
              <a:t>-&gt; Crystal/Ceramic Resonator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소프트웨어, 웹 페이지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89EDAE2-6230-FAC9-BA67-23E46DAFA3C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1646" y="1916832"/>
            <a:ext cx="7282011" cy="38283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779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892289-75F3-6FA8-A41F-64713E5782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EDC48AA-23D6-8CD1-45C9-21E3CD42B0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40C3C-E670-01AE-EBB6-F04863B5DC3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Connectivity -&gt; USART1 -&gt; Asynchronous </a:t>
            </a:r>
            <a:r>
              <a:rPr lang="ko-KR" altLang="en-US" b="0" i="0" kern="0" dirty="0"/>
              <a:t>선택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05F22FC-30F9-B3D8-17B6-B4C967BDD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8330" y="1194405"/>
            <a:ext cx="6167340" cy="5184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66726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D47888-09F0-9735-0166-610D9CF949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04067E5-F4B3-14A6-E859-D7FE91E894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759010-2CD0-0383-AD2E-25A9A9A0AE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PF6/PF7/PF8 </a:t>
            </a:r>
            <a:r>
              <a:rPr lang="ko-KR" altLang="en-US" b="0" i="0" kern="0" dirty="0"/>
              <a:t>이름을 </a:t>
            </a:r>
            <a:r>
              <a:rPr lang="en-US" altLang="ko-KR" b="0" i="0" kern="0" dirty="0"/>
              <a:t>LED1/LED2/LED3</a:t>
            </a:r>
            <a:r>
              <a:rPr lang="ko-KR" altLang="en-US" b="0" i="0" kern="0" dirty="0"/>
              <a:t>으로 수정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AC35DEB-A570-C6B0-B44B-AE404F002A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7704" y="1412776"/>
            <a:ext cx="5544616" cy="4949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395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085E0-91D6-BCFB-C4F3-33C36569E7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093A110-B581-47CA-E90B-0506E6C51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  <a:r>
              <a:rPr lang="en-US" altLang="ko-KR" dirty="0"/>
              <a:t> 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7137B2-3918-8A50-CD55-AE1998C0384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sz="1600" b="0" i="0" kern="0" dirty="0"/>
              <a:t>System Core -&gt; GPIO </a:t>
            </a:r>
            <a:r>
              <a:rPr lang="ko-KR" altLang="en-US" sz="1600" b="0" i="0" kern="0" dirty="0"/>
              <a:t>에서 </a:t>
            </a:r>
            <a:r>
              <a:rPr lang="en-US" altLang="ko-KR" sz="1600" b="0" i="0" kern="0" dirty="0"/>
              <a:t>PF9/PF10 </a:t>
            </a:r>
            <a:r>
              <a:rPr lang="ko-KR" altLang="en-US" sz="1600" b="0" i="0" kern="0" dirty="0"/>
              <a:t>이름을 </a:t>
            </a:r>
            <a:r>
              <a:rPr lang="en-US" altLang="ko-KR" sz="1600" b="0" i="0" kern="0" dirty="0"/>
              <a:t>KEY1/ KEY2</a:t>
            </a:r>
            <a:r>
              <a:rPr lang="ko-KR" altLang="en-US" sz="1600" b="0" i="0" kern="0" dirty="0"/>
              <a:t>로 수정하고 </a:t>
            </a:r>
            <a:r>
              <a:rPr lang="en-US" altLang="ko-KR" sz="1600" b="0" i="0" kern="0" dirty="0"/>
              <a:t>GPIO mode</a:t>
            </a:r>
            <a:r>
              <a:rPr lang="ko-KR" altLang="en-US" sz="1600" b="0" i="0" kern="0" dirty="0"/>
              <a:t>를 </a:t>
            </a:r>
            <a:r>
              <a:rPr lang="en-US" altLang="ko-KR" sz="1600" b="0" i="0" kern="0" dirty="0"/>
              <a:t>External Interrupt Mode with Falling edge trigger detection, GPIO Pull-up/Pull-down</a:t>
            </a:r>
            <a:r>
              <a:rPr lang="ko-KR" altLang="en-US" sz="1600" b="0" i="0" kern="0" dirty="0"/>
              <a:t>을  </a:t>
            </a:r>
            <a:r>
              <a:rPr lang="en-US" altLang="ko-KR" sz="1600" b="0" i="0" kern="0" dirty="0"/>
              <a:t>Pull-up</a:t>
            </a:r>
            <a:r>
              <a:rPr lang="ko-KR" altLang="en-US" sz="1600" b="0" i="0" kern="0" dirty="0"/>
              <a:t>으로 설정</a:t>
            </a:r>
            <a:endParaRPr lang="en-US" altLang="ko-KR" sz="1600" b="0" i="0" kern="0" dirty="0"/>
          </a:p>
          <a:p>
            <a:endParaRPr lang="en-US" altLang="ko-KR" sz="1600" b="0" i="0" kern="0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5113E5B2-8854-A6E4-4080-975751985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166" y="1563425"/>
            <a:ext cx="5388153" cy="4875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48353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E20EA2-E83A-F815-4738-EE583D923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EEB9FDB-6CCF-B267-011E-A9AD18B34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D12703-B950-61DA-2222-B651801E4FF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System Core -&gt; GPIO 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NVIC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EXTI </a:t>
            </a:r>
            <a:r>
              <a:rPr lang="ko-KR" altLang="en-US" b="0" i="0" kern="0" dirty="0"/>
              <a:t>라인 인터럽트 활성화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5C7851A-A4FD-4924-527F-AC7ED4A8C9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2164337"/>
            <a:ext cx="7886700" cy="2966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361223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AFCDC-C625-C102-DCEA-41A162FD19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7A6C59A-A6B6-30E5-5756-42DC50D818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  <a:r>
              <a:rPr lang="en-US" altLang="ko-KR" dirty="0"/>
              <a:t> 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FEFAAF-C46D-3FD4-33C8-6C8BEF4B722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sz="1600" b="0" i="0" kern="0" dirty="0"/>
              <a:t>Connectivity -&gt;</a:t>
            </a:r>
            <a:r>
              <a:rPr lang="ko-KR" altLang="en-US" sz="1600" b="0" i="0" kern="0" dirty="0"/>
              <a:t> </a:t>
            </a:r>
            <a:r>
              <a:rPr lang="en-US" altLang="ko-KR" sz="1600" b="0" i="0" kern="0" dirty="0"/>
              <a:t>CAN1 -&gt; Activated </a:t>
            </a:r>
            <a:r>
              <a:rPr lang="ko-KR" altLang="en-US" sz="1600" b="0" i="0" kern="0" dirty="0"/>
              <a:t>클릭</a:t>
            </a:r>
            <a:endParaRPr lang="en-US" altLang="ko-KR" sz="1600" b="0" i="0" kern="0" dirty="0"/>
          </a:p>
          <a:p>
            <a:r>
              <a:rPr lang="en-US" altLang="ko-KR" sz="1600" b="0" i="0" kern="0" dirty="0"/>
              <a:t>Parameter Settings -&gt; </a:t>
            </a:r>
            <a:r>
              <a:rPr lang="en-US" altLang="ko-KR" sz="1600" b="0" i="0" kern="0" dirty="0" err="1"/>
              <a:t>Prescaler</a:t>
            </a:r>
            <a:r>
              <a:rPr lang="en-US" altLang="ko-KR" sz="1600" b="0" i="0" kern="0" dirty="0"/>
              <a:t> 6</a:t>
            </a:r>
            <a:r>
              <a:rPr lang="ko-KR" altLang="en-US" sz="1600" b="0" i="0" kern="0" dirty="0"/>
              <a:t>으로 설정</a:t>
            </a:r>
            <a:r>
              <a:rPr lang="en-US" altLang="ko-KR" sz="1600" b="0" i="0" kern="0" dirty="0"/>
              <a:t>, Time Quanta in Bit Segment 1 -&gt; 11 Times</a:t>
            </a:r>
            <a:r>
              <a:rPr lang="ko-KR" altLang="en-US" sz="1600" b="0" i="0" kern="0" dirty="0"/>
              <a:t>로 설정</a:t>
            </a:r>
            <a:r>
              <a:rPr lang="en-US" altLang="ko-KR" sz="1600" b="0" i="0" kern="0" dirty="0"/>
              <a:t>, Time Quanta in Bit Segment 2 -&gt; 2 Times</a:t>
            </a:r>
            <a:r>
              <a:rPr lang="ko-KR" altLang="en-US" sz="1600" b="0" i="0" kern="0" dirty="0"/>
              <a:t>로 설정하여 </a:t>
            </a:r>
            <a:r>
              <a:rPr lang="en-US" altLang="ko-KR" sz="1600" b="0" i="0" kern="0" dirty="0"/>
              <a:t>500Kbps</a:t>
            </a:r>
            <a:r>
              <a:rPr lang="ko-KR" altLang="en-US" sz="1600" b="0" i="0" kern="0" dirty="0"/>
              <a:t>로 맞춤</a:t>
            </a:r>
            <a:r>
              <a:rPr lang="en-US" altLang="ko-KR" sz="1600" b="0" i="0" kern="0" dirty="0"/>
              <a:t>.</a:t>
            </a:r>
          </a:p>
          <a:p>
            <a:endParaRPr lang="en-US" altLang="ko-KR" sz="1600" b="0" i="0" kern="0" dirty="0"/>
          </a:p>
        </p:txBody>
      </p:sp>
      <p:pic>
        <p:nvPicPr>
          <p:cNvPr id="5" name="그림 4" descr="텍스트, 소프트웨어, 웹 페이지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D050F1-1338-E7AA-16D6-B237A0297B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2773" y="1919679"/>
            <a:ext cx="7308304" cy="4031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017611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E86108-C202-583A-3D1F-9203C83797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14801E-3989-38B2-BE05-7A3FBDA2B1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  <a:r>
              <a:rPr lang="en-US" altLang="ko-KR" dirty="0"/>
              <a:t> 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49E45D-73AE-2516-0B4C-D61C5F478DB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sz="1600" b="0" i="0" kern="0" dirty="0"/>
              <a:t>NVIC Settings -&gt; CAN1 RX0 interrupts -&gt; Enabled </a:t>
            </a:r>
            <a:r>
              <a:rPr lang="ko-KR" altLang="en-US" sz="1600" b="0" i="0" kern="0" dirty="0"/>
              <a:t>클릭</a:t>
            </a:r>
            <a:endParaRPr lang="en-US" altLang="ko-KR" sz="1600" b="0" i="0" kern="0" dirty="0"/>
          </a:p>
          <a:p>
            <a:endParaRPr lang="en-US" altLang="ko-KR" sz="1600" b="0" i="0" kern="0" dirty="0"/>
          </a:p>
        </p:txBody>
      </p:sp>
      <p:pic>
        <p:nvPicPr>
          <p:cNvPr id="6" name="그림 5" descr="텍스트, 소프트웨어, 컴퓨터 아이콘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9180DDF-AC91-8A65-1374-9179DDA6678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628800"/>
            <a:ext cx="7886700" cy="434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0589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F52EF-F035-C922-4210-4D6F0DBF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FBD171E-93C2-E10E-CBE9-8803871C4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</a:t>
            </a:r>
            <a:r>
              <a:rPr lang="en-US" altLang="ko-KR" dirty="0"/>
              <a:t> 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1D79DE-E7C8-DAF7-0A86-729CD9C3D15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sz="1600" b="0" i="0" kern="0" dirty="0"/>
              <a:t>GPIO Settings -&gt; CAN1_RX / CAN1_TX Pull-up </a:t>
            </a:r>
            <a:r>
              <a:rPr lang="ko-KR" altLang="en-US" sz="1600" b="0" i="0" kern="0" dirty="0"/>
              <a:t>설정</a:t>
            </a:r>
            <a:endParaRPr lang="en-US" altLang="ko-KR" sz="1600" b="0" i="0" kern="0" dirty="0"/>
          </a:p>
          <a:p>
            <a:endParaRPr lang="en-US" altLang="ko-KR" sz="1600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90C5B9A-FFEB-7F0A-D859-7377898FBF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3588" y="1101146"/>
            <a:ext cx="7416824" cy="52628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6205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D827B0-020C-D166-66A7-3FF68D97F1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24B695D-FC11-903E-11ED-4C2BEB1CF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1BC485-8C6C-D240-71B1-9A2A180C284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Clock Configuration </a:t>
            </a:r>
            <a:r>
              <a:rPr lang="ko-KR" altLang="en-US" b="0" i="0" kern="0" dirty="0"/>
              <a:t>클릭 </a:t>
            </a:r>
            <a:r>
              <a:rPr lang="en-US" altLang="ko-KR" b="0" i="0" kern="0" dirty="0"/>
              <a:t>-&gt; Yes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번호, 도표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F377413-6010-4C89-0117-A390ADA59A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576" y="1913593"/>
            <a:ext cx="7886700" cy="3536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92207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24445E-939B-0152-FDFC-D4B9B8056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A14DB7-7A58-4303-9250-8F35BE929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07A81-A129-5B29-DC02-1E054DC2EDF1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Project Manager</a:t>
            </a:r>
            <a:r>
              <a:rPr lang="ko-KR" altLang="en-US" b="0" i="0" kern="0" dirty="0"/>
              <a:t>에서 </a:t>
            </a:r>
            <a:r>
              <a:rPr lang="en-US" altLang="ko-KR" b="0" i="0" kern="0" dirty="0"/>
              <a:t>Project Name </a:t>
            </a:r>
            <a:r>
              <a:rPr lang="ko-KR" altLang="en-US" b="0" i="0" kern="0" dirty="0"/>
              <a:t>기입</a:t>
            </a:r>
            <a:r>
              <a:rPr lang="en-US" altLang="ko-KR" b="0" i="0" kern="0" dirty="0"/>
              <a:t>, IDE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STM32CubeIDE</a:t>
            </a:r>
            <a:r>
              <a:rPr lang="ko-KR" altLang="en-US" b="0" i="0" kern="0" dirty="0"/>
              <a:t>로 선택 후 </a:t>
            </a:r>
            <a:r>
              <a:rPr lang="en-US" altLang="ko-KR" b="0" i="0" kern="0" dirty="0"/>
              <a:t>GENERATE CODE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54E60D-28FF-8BBF-CD05-26DF2C267C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536" y="2348880"/>
            <a:ext cx="8324123" cy="1800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96843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831A51-F930-5937-DE78-DB4F58D22A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12D24C4-5304-7E45-DDD5-333E85347E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Project </a:t>
            </a:r>
            <a:r>
              <a:rPr lang="ko-KR" altLang="en-US" dirty="0"/>
              <a:t>생성 </a:t>
            </a:r>
            <a:r>
              <a:rPr lang="en-US" altLang="ko-KR" dirty="0"/>
              <a:t>- CAN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C26DCB-9D3C-A824-25C8-A869C33AAE0C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Open Project </a:t>
            </a:r>
            <a:r>
              <a:rPr lang="ko-KR" altLang="en-US" b="0" i="0" kern="0" dirty="0"/>
              <a:t>클릭하여 </a:t>
            </a:r>
            <a:r>
              <a:rPr lang="en-US" altLang="ko-KR" b="0" i="0" kern="0" dirty="0"/>
              <a:t>STM32CubeIDE </a:t>
            </a:r>
            <a:r>
              <a:rPr lang="ko-KR" altLang="en-US" b="0" i="0" kern="0" dirty="0"/>
              <a:t>실행</a:t>
            </a:r>
            <a:r>
              <a:rPr lang="en-US" altLang="ko-KR" b="0" i="0" kern="0" dirty="0"/>
              <a:t>, workspace</a:t>
            </a:r>
            <a:r>
              <a:rPr lang="ko-KR" altLang="en-US" b="0" i="0" kern="0" dirty="0"/>
              <a:t>는 </a:t>
            </a:r>
            <a:r>
              <a:rPr lang="en-US" altLang="ko-KR" b="0" i="0" kern="0" dirty="0" err="1"/>
              <a:t>CubeMX</a:t>
            </a:r>
            <a:r>
              <a:rPr lang="ko-KR" altLang="en-US" b="0" i="0" kern="0" dirty="0"/>
              <a:t>와 다른 폴더로 지정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폰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D5E1090-7FA7-61B4-9111-3049CBCCB9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2424"/>
            <a:ext cx="5161534" cy="2120561"/>
          </a:xfrm>
          <a:prstGeom prst="rect">
            <a:avLst/>
          </a:prstGeom>
        </p:spPr>
      </p:pic>
      <p:pic>
        <p:nvPicPr>
          <p:cNvPr id="9" name="그림 8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05E5A5C4-8FFD-15ED-CC64-44BDB3EBE9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455" y="3818912"/>
            <a:ext cx="5191824" cy="2527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3511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1B3EA-4B49-A517-8F82-7DEAE95F9A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FB9DCE1-3677-AF2C-9BB4-5C95B3E032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84B20-C09D-0E15-58E5-26283B50F565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로 시리얼 다운로드하기 위해서는 </a:t>
            </a:r>
            <a:r>
              <a:rPr lang="en-US" altLang="ko-KR" b="0" i="0" kern="0" dirty="0"/>
              <a:t>BIN</a:t>
            </a:r>
            <a:r>
              <a:rPr lang="ko-KR" altLang="en-US" b="0" i="0" kern="0" dirty="0"/>
              <a:t>파일이 필요</a:t>
            </a:r>
            <a:r>
              <a:rPr lang="en-US" altLang="ko-KR" b="0" i="0" kern="0" dirty="0"/>
              <a:t>. </a:t>
            </a:r>
          </a:p>
          <a:p>
            <a:r>
              <a:rPr lang="en-US" altLang="ko-KR" b="0" i="0" kern="0" dirty="0"/>
              <a:t>Project -&gt; Properties </a:t>
            </a:r>
            <a:r>
              <a:rPr lang="ko-KR" altLang="en-US" b="0" i="0" kern="0" dirty="0"/>
              <a:t>클릭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C09BEC0-504B-70B6-2BD1-A446E87396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632" y="2002879"/>
            <a:ext cx="6543675" cy="4162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57952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D61F8B-4273-774E-7581-4C710E63FF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A4BB0D-2C3A-F494-9276-5A1B438CC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파일 생성 설정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D5756C-2415-65C0-7190-FA64B75F39C2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C/C++ Build -&gt; Settings -&gt; Tool Settings -&gt; MCU/MPU Post build outputs =&gt; Convert to binary file(-O binary) </a:t>
            </a:r>
            <a:r>
              <a:rPr lang="ko-KR" altLang="en-US" b="0" i="0" kern="0" dirty="0"/>
              <a:t>클릭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소프트웨어, 번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97D4D96-8F4D-A979-4A1D-D3FC9C06B1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057" y="2204864"/>
            <a:ext cx="7965886" cy="2880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62381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9F5102-5FCD-CBCB-6D82-988471984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952508E-62AD-FEBE-7A53-2E952A7595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53C459-9058-A3BF-01D8-DF785D0D3A90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 lnSpcReduction="2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으로 로그를 내 보내기 위해 아래 코드 추가 </a:t>
            </a:r>
            <a:r>
              <a:rPr lang="en-US" altLang="ko-KR" b="0" i="0" kern="0" dirty="0"/>
              <a:t>: core/</a:t>
            </a:r>
            <a:r>
              <a:rPr lang="en-US" altLang="ko-KR" b="0" i="0" kern="0" dirty="0" err="1"/>
              <a:t>src</a:t>
            </a:r>
            <a:r>
              <a:rPr lang="en-US" altLang="ko-KR" b="0" i="0" kern="0" dirty="0"/>
              <a:t>/</a:t>
            </a:r>
            <a:r>
              <a:rPr lang="en-US" altLang="ko-KR" b="0" i="0" kern="0" dirty="0" err="1"/>
              <a:t>main.c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400" b="0" i="0" dirty="0"/>
              <a:t>/* Private user code ---------------------------------------------------------*/</a:t>
            </a:r>
          </a:p>
          <a:p>
            <a:pPr marL="0" indent="0">
              <a:buNone/>
            </a:pPr>
            <a:r>
              <a:rPr lang="en-US" altLang="ko-KR" sz="1400" b="0" i="0" dirty="0"/>
              <a:t>/* USER CODE BEGIN 0 */</a:t>
            </a:r>
          </a:p>
          <a:p>
            <a:pPr marL="0" indent="0">
              <a:buNone/>
            </a:pPr>
            <a:r>
              <a:rPr lang="en-US" altLang="ko-KR" sz="1400" i="0" dirty="0"/>
              <a:t>#define </a:t>
            </a:r>
            <a:r>
              <a:rPr lang="en-US" altLang="ko-KR" sz="1400" i="0" dirty="0" err="1"/>
              <a:t>hUART</a:t>
            </a:r>
            <a:r>
              <a:rPr lang="en-US" altLang="ko-KR" sz="1400" i="0" dirty="0"/>
              <a:t> huart1</a:t>
            </a:r>
          </a:p>
          <a:p>
            <a:pPr marL="0" indent="0">
              <a:buNone/>
            </a:pPr>
            <a:r>
              <a:rPr lang="en-US" altLang="ko-KR" sz="1400" i="0" dirty="0"/>
              <a:t>int _write( int32_t file , uint8_t *</a:t>
            </a:r>
            <a:r>
              <a:rPr lang="en-US" altLang="ko-KR" sz="1400" i="0" dirty="0" err="1"/>
              <a:t>ptr</a:t>
            </a:r>
            <a:r>
              <a:rPr lang="en-US" altLang="ko-KR" sz="1400" i="0" dirty="0"/>
              <a:t> , int32_t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 )</a:t>
            </a:r>
          </a:p>
          <a:p>
            <a:pPr marL="0" indent="0">
              <a:buNone/>
            </a:pPr>
            <a:r>
              <a:rPr lang="en-US" altLang="ko-KR" sz="1400" i="0" dirty="0"/>
              <a:t>{</a:t>
            </a:r>
          </a:p>
          <a:p>
            <a:pPr marL="0" indent="0">
              <a:buNone/>
            </a:pPr>
            <a:r>
              <a:rPr lang="en-US" altLang="ko-KR" sz="1400" i="0" dirty="0"/>
              <a:t>    /* Implement your write code here, this is used by puts and </a:t>
            </a:r>
            <a:r>
              <a:rPr lang="en-US" altLang="ko-KR" sz="1400" i="0" u="sng" dirty="0" err="1"/>
              <a:t>printf</a:t>
            </a:r>
            <a:r>
              <a:rPr lang="en-US" altLang="ko-KR" sz="1400" i="0" dirty="0"/>
              <a:t> for example */</a:t>
            </a:r>
          </a:p>
          <a:p>
            <a:pPr marL="0" indent="0">
              <a:buNone/>
            </a:pPr>
            <a:r>
              <a:rPr lang="en-US" altLang="ko-KR" sz="1400" i="0" dirty="0"/>
              <a:t>    for ( int16_t 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= 0 ; 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&lt;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 ; ++</a:t>
            </a:r>
            <a:r>
              <a:rPr lang="en-US" altLang="ko-KR" sz="1400" i="0" dirty="0" err="1"/>
              <a:t>i</a:t>
            </a:r>
            <a:r>
              <a:rPr lang="en-US" altLang="ko-KR" sz="1400" i="0" dirty="0"/>
              <a:t> )</a:t>
            </a:r>
          </a:p>
          <a:p>
            <a:pPr marL="0" indent="0">
              <a:buNone/>
            </a:pPr>
            <a:r>
              <a:rPr lang="en-US" altLang="ko-KR" sz="1400" i="0" dirty="0"/>
              <a:t>    {</a:t>
            </a:r>
          </a:p>
          <a:p>
            <a:pPr marL="0" indent="0">
              <a:buNone/>
            </a:pPr>
            <a:r>
              <a:rPr lang="en-US" altLang="ko-KR" sz="1400" i="0" dirty="0"/>
              <a:t>         </a:t>
            </a:r>
            <a:r>
              <a:rPr lang="en-US" altLang="ko-KR" sz="1400" i="0" dirty="0" err="1"/>
              <a:t>HAL_UART_Transmit</a:t>
            </a:r>
            <a:r>
              <a:rPr lang="en-US" altLang="ko-KR" sz="1400" i="0" dirty="0"/>
              <a:t>( &amp;</a:t>
            </a:r>
            <a:r>
              <a:rPr lang="en-US" altLang="ko-KR" sz="1400" i="0" dirty="0" err="1"/>
              <a:t>hUART</a:t>
            </a:r>
            <a:r>
              <a:rPr lang="en-US" altLang="ko-KR" sz="1400" i="0" dirty="0"/>
              <a:t>, </a:t>
            </a:r>
            <a:r>
              <a:rPr lang="en-US" altLang="ko-KR" sz="1400" i="0" dirty="0" err="1"/>
              <a:t>ptr</a:t>
            </a:r>
            <a:r>
              <a:rPr lang="en-US" altLang="ko-KR" sz="1400" i="0" dirty="0"/>
              <a:t>++, 1, 100);</a:t>
            </a:r>
          </a:p>
          <a:p>
            <a:pPr marL="0" indent="0">
              <a:buNone/>
            </a:pPr>
            <a:r>
              <a:rPr lang="en-US" altLang="ko-KR" sz="1400" i="0" dirty="0"/>
              <a:t>    }</a:t>
            </a:r>
          </a:p>
          <a:p>
            <a:pPr marL="0" indent="0">
              <a:buNone/>
            </a:pPr>
            <a:r>
              <a:rPr lang="en-US" altLang="ko-KR" sz="1400" i="0" dirty="0"/>
              <a:t>    return </a:t>
            </a:r>
            <a:r>
              <a:rPr lang="en-US" altLang="ko-KR" sz="1400" i="0" dirty="0" err="1"/>
              <a:t>len</a:t>
            </a:r>
            <a:r>
              <a:rPr lang="en-US" altLang="ko-KR" sz="1400" i="0" dirty="0"/>
              <a:t>;</a:t>
            </a:r>
          </a:p>
          <a:p>
            <a:pPr marL="0" indent="0">
              <a:buNone/>
            </a:pPr>
            <a:r>
              <a:rPr lang="en-US" altLang="ko-KR" sz="1400" i="0" dirty="0"/>
              <a:t>}</a:t>
            </a:r>
          </a:p>
          <a:p>
            <a:pPr marL="0" indent="0">
              <a:buNone/>
            </a:pPr>
            <a:r>
              <a:rPr lang="en-US" altLang="ko-KR" sz="1400" b="0" i="0" dirty="0"/>
              <a:t>/* USER CODE END 0 */</a:t>
            </a:r>
          </a:p>
          <a:p>
            <a:pPr marL="0" indent="0">
              <a:buNone/>
            </a:pPr>
            <a:br>
              <a:rPr lang="en-US" altLang="ko-KR" sz="1400" b="0" i="0" dirty="0"/>
            </a:b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/**</a:t>
            </a:r>
          </a:p>
          <a:p>
            <a:pPr marL="0" indent="0">
              <a:buNone/>
            </a:pPr>
            <a:r>
              <a:rPr lang="en-US" altLang="ko-KR" sz="1400" b="0" i="0" dirty="0"/>
              <a:t>* @brief The application entry point.</a:t>
            </a:r>
          </a:p>
          <a:p>
            <a:pPr marL="0" indent="0">
              <a:buNone/>
            </a:pPr>
            <a:r>
              <a:rPr lang="en-US" altLang="ko-KR" sz="1400" b="0" i="0" dirty="0"/>
              <a:t>* @</a:t>
            </a:r>
            <a:r>
              <a:rPr lang="en-US" altLang="ko-KR" sz="1400" b="0" i="0" u="sng" dirty="0"/>
              <a:t>retval</a:t>
            </a:r>
            <a:r>
              <a:rPr lang="en-US" altLang="ko-KR" sz="1400" b="0" i="0" dirty="0"/>
              <a:t> </a:t>
            </a:r>
            <a:r>
              <a:rPr lang="en-US" altLang="ko-KR" sz="1400" b="0" i="0" u="sng" dirty="0"/>
              <a:t>int</a:t>
            </a:r>
            <a:endParaRPr lang="en-US" altLang="ko-KR" sz="1400" b="0" i="0" dirty="0"/>
          </a:p>
          <a:p>
            <a:pPr marL="0" indent="0">
              <a:buNone/>
            </a:pPr>
            <a:r>
              <a:rPr lang="en-US" altLang="ko-KR" sz="1400" b="0" i="0" dirty="0"/>
              <a:t>*/</a:t>
            </a:r>
          </a:p>
          <a:p>
            <a:pPr marL="0" indent="0">
              <a:buNone/>
            </a:pPr>
            <a:r>
              <a:rPr lang="en-US" altLang="ko-KR" sz="1400" b="0" i="0" dirty="0"/>
              <a:t>int main(void)</a:t>
            </a:r>
          </a:p>
          <a:p>
            <a:pPr marL="0" indent="0">
              <a:buNone/>
            </a:pPr>
            <a:r>
              <a:rPr lang="en-US" altLang="ko-KR" sz="1400" b="0" i="0" dirty="0"/>
              <a:t>{</a:t>
            </a:r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4519299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58DC1-6E51-567E-B3E9-1159E89F6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6E8E4BA-79F0-7194-2E3D-A689708C11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  <a:r>
              <a:rPr lang="en-US" altLang="ko-KR" dirty="0"/>
              <a:t>– CAN TX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3FED4-2C22-7B01-0B57-594C7185BD9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송신</a:t>
            </a:r>
            <a:r>
              <a:rPr lang="en-US" altLang="ko-KR" b="0" i="0" kern="0" dirty="0"/>
              <a:t> </a:t>
            </a:r>
            <a:r>
              <a:rPr lang="ko-KR" altLang="en-US" b="0" i="0" kern="0" dirty="0"/>
              <a:t>메시지의 </a:t>
            </a:r>
            <a:r>
              <a:rPr lang="en-US" altLang="ko-KR" b="0" i="0" kern="0" dirty="0"/>
              <a:t>ID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0x446</a:t>
            </a:r>
            <a:r>
              <a:rPr lang="ko-KR" altLang="en-US" b="0" i="0" kern="0" dirty="0"/>
              <a:t>으로 설정</a:t>
            </a:r>
            <a:endParaRPr lang="en-US" altLang="ko-KR" b="0" i="0" kern="0" dirty="0"/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/* USER CODE BEGIN 2 */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("CAN test\r\n");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if(</a:t>
            </a:r>
            <a:r>
              <a:rPr lang="en-US" altLang="ko-KR" sz="1200" b="0" i="0" dirty="0" err="1"/>
              <a:t>HAL_CAN_Start</a:t>
            </a:r>
            <a:r>
              <a:rPr lang="en-US" altLang="ko-KR" sz="1200" b="0" i="0" dirty="0"/>
              <a:t>(&amp;hcan1) != HAL_OK)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    </a:t>
            </a:r>
            <a:r>
              <a:rPr lang="en-US" altLang="ko-KR" sz="1200" b="0" i="0" dirty="0" err="1"/>
              <a:t>Error_Handler</a:t>
            </a:r>
            <a:r>
              <a:rPr lang="en-US" altLang="ko-KR" sz="1200" b="0" i="0" dirty="0"/>
              <a:t>();</a:t>
            </a:r>
          </a:p>
          <a:p>
            <a:pPr marL="0" indent="0">
              <a:buNone/>
            </a:pPr>
            <a:r>
              <a:rPr lang="en-US" altLang="ko-KR" sz="1200" b="0" i="0" dirty="0"/>
              <a:t>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// Activate the notification</a:t>
            </a:r>
          </a:p>
          <a:p>
            <a:pPr marL="0" indent="0">
              <a:buNone/>
            </a:pPr>
            <a:r>
              <a:rPr lang="en-US" altLang="ko-KR" sz="1200" b="0" i="0" dirty="0"/>
              <a:t>  if(</a:t>
            </a:r>
            <a:r>
              <a:rPr lang="en-US" altLang="ko-KR" sz="1200" b="0" i="0" dirty="0" err="1"/>
              <a:t>HAL_CAN_ActivateNotification</a:t>
            </a:r>
            <a:r>
              <a:rPr lang="en-US" altLang="ko-KR" sz="1200" b="0" i="0" dirty="0"/>
              <a:t>(&amp;hcan1, CAN_IT_RX_FIFO0_MSG_PENDING) != HAL_OK)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    </a:t>
            </a:r>
            <a:r>
              <a:rPr lang="en-US" altLang="ko-KR" sz="1200" b="0" i="0" dirty="0" err="1"/>
              <a:t>Error_Handler</a:t>
            </a:r>
            <a:r>
              <a:rPr lang="en-US" altLang="ko-KR" sz="1200" b="0" i="0" dirty="0"/>
              <a:t>();</a:t>
            </a:r>
          </a:p>
          <a:p>
            <a:pPr marL="0" indent="0">
              <a:buNone/>
            </a:pPr>
            <a:r>
              <a:rPr lang="en-US" altLang="ko-KR" sz="1200" b="0" i="0" dirty="0"/>
              <a:t>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TxHeader.DLC</a:t>
            </a:r>
            <a:r>
              <a:rPr lang="en-US" altLang="ko-KR" sz="1200" b="0" i="0" dirty="0"/>
              <a:t> = 8;  // data length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TxHeader.IDE</a:t>
            </a:r>
            <a:r>
              <a:rPr lang="en-US" altLang="ko-KR" sz="1200" b="0" i="0" dirty="0"/>
              <a:t> = CAN_ID_STD;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TxHeader.RTR</a:t>
            </a:r>
            <a:r>
              <a:rPr lang="en-US" altLang="ko-KR" sz="1200" b="0" i="0" dirty="0"/>
              <a:t> = CAN_RTR_DATA;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TxHeader.StdId</a:t>
            </a:r>
            <a:r>
              <a:rPr lang="en-US" altLang="ko-KR" sz="1200" b="0" i="0" dirty="0"/>
              <a:t> = 0x446;  // ID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/* USER CODE END 2 */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29237171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D59C0-86C8-9257-6A1F-4A6C4C820E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A7587E5-0D51-3149-4484-F093A4BA58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  <a:r>
              <a:rPr lang="en-US" altLang="ko-KR" dirty="0"/>
              <a:t>– CAN TX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D09852-3F75-9964-FC9A-E2B3EBDA1C44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fontScale="925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KEY1 / KEY2</a:t>
            </a:r>
            <a:r>
              <a:rPr lang="ko-KR" altLang="en-US" b="0" i="0" kern="0" dirty="0"/>
              <a:t>가 눌리면 </a:t>
            </a:r>
            <a:r>
              <a:rPr lang="en-US" altLang="ko-KR" b="0" i="0" kern="0" dirty="0"/>
              <a:t>CAN </a:t>
            </a:r>
            <a:r>
              <a:rPr lang="ko-KR" altLang="en-US" b="0" i="0" kern="0" dirty="0"/>
              <a:t>메시지를 송신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void </a:t>
            </a:r>
            <a:r>
              <a:rPr lang="en-US" altLang="ko-KR" sz="1200" b="0" i="0" dirty="0" err="1"/>
              <a:t>HAL_GPIO_EXTI_Callback</a:t>
            </a:r>
            <a:r>
              <a:rPr lang="en-US" altLang="ko-KR" sz="1200" b="0" i="0" dirty="0"/>
              <a:t>(uint16_t </a:t>
            </a:r>
            <a:r>
              <a:rPr lang="en-US" altLang="ko-KR" sz="1200" b="0" i="0" dirty="0" err="1"/>
              <a:t>GPIO_Pin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{</a:t>
            </a:r>
          </a:p>
          <a:p>
            <a:pPr marL="0" indent="0">
              <a:buNone/>
            </a:pPr>
            <a:r>
              <a:rPr lang="en-US" altLang="ko-KR" sz="1200" b="0" i="0" dirty="0"/>
              <a:t>	if(</a:t>
            </a:r>
            <a:r>
              <a:rPr lang="en-US" altLang="ko-KR" sz="1200" b="0" i="0" dirty="0" err="1"/>
              <a:t>GPIO_Pin</a:t>
            </a:r>
            <a:r>
              <a:rPr lang="en-US" altLang="ko-KR" sz="1200" b="0" i="0" dirty="0"/>
              <a:t> == KEY1_Pin)</a:t>
            </a:r>
          </a:p>
          <a:p>
            <a:pPr marL="0" indent="0">
              <a:buNone/>
            </a:pPr>
            <a:r>
              <a:rPr lang="en-US" altLang="ko-KR" sz="1200" b="0" i="0" dirty="0"/>
              <a:t>	{</a:t>
            </a:r>
          </a:p>
          <a:p>
            <a:pPr marL="0" indent="0">
              <a:buNone/>
            </a:pPr>
            <a:r>
              <a:rPr lang="en-US" altLang="ko-KR" sz="1200" b="0" i="0" dirty="0"/>
              <a:t>		if(</a:t>
            </a:r>
            <a:r>
              <a:rPr lang="en-US" altLang="ko-KR" sz="1200" b="0" i="0" dirty="0" err="1"/>
              <a:t>HAL_GPIO_ReadPin</a:t>
            </a:r>
            <a:r>
              <a:rPr lang="en-US" altLang="ko-KR" sz="1200" b="0" i="0" dirty="0"/>
              <a:t>(KEY1_GPIO_Port, KEY1_Pin) == GPIO_PIN_RESET)</a:t>
            </a:r>
          </a:p>
          <a:p>
            <a:pPr marL="0" indent="0">
              <a:buNone/>
            </a:pPr>
            <a:r>
              <a:rPr lang="en-US" altLang="ko-KR" sz="1200" b="0" i="0" dirty="0"/>
              <a:t>		{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[0] = 100;   // </a:t>
            </a:r>
            <a:r>
              <a:rPr lang="en-US" altLang="ko-KR" sz="1200" b="0" i="0" dirty="0" err="1"/>
              <a:t>ms</a:t>
            </a:r>
            <a:r>
              <a:rPr lang="en-US" altLang="ko-KR" sz="1200" b="0" i="0" dirty="0"/>
              <a:t> Delay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[1] = 40;    // loop rep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[2]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[3]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[4]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[5]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[6] = 0xaa;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[7] = 0xaa;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		if(</a:t>
            </a:r>
            <a:r>
              <a:rPr lang="en-US" altLang="ko-KR" sz="1200" b="0" i="0" dirty="0" err="1"/>
              <a:t>HAL_CAN_AddTxMessage</a:t>
            </a:r>
            <a:r>
              <a:rPr lang="en-US" altLang="ko-KR" sz="1200" b="0" i="0" dirty="0"/>
              <a:t>(&amp;hcan1, &amp;</a:t>
            </a:r>
            <a:r>
              <a:rPr lang="en-US" altLang="ko-KR" sz="1200" b="0" i="0" dirty="0" err="1"/>
              <a:t>TxHeader</a:t>
            </a:r>
            <a:r>
              <a:rPr lang="en-US" altLang="ko-KR" sz="1200" b="0" i="0" dirty="0"/>
              <a:t>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, &amp;</a:t>
            </a:r>
            <a:r>
              <a:rPr lang="en-US" altLang="ko-KR" sz="1200" b="0" i="0" dirty="0" err="1"/>
              <a:t>TxMailbox</a:t>
            </a:r>
            <a:r>
              <a:rPr lang="en-US" altLang="ko-KR" sz="1200" b="0" i="0" dirty="0"/>
              <a:t>) != HAL_OK)</a:t>
            </a:r>
          </a:p>
          <a:p>
            <a:pPr marL="0" indent="0">
              <a:buNone/>
            </a:pPr>
            <a:r>
              <a:rPr lang="en-US" altLang="ko-KR" sz="1200" b="0" i="0" dirty="0"/>
              <a:t>			{</a:t>
            </a:r>
          </a:p>
          <a:p>
            <a:pPr marL="0" indent="0">
              <a:buNone/>
            </a:pPr>
            <a:r>
              <a:rPr lang="en-US" altLang="ko-KR" sz="1200" b="0" i="0" dirty="0"/>
              <a:t>			  </a:t>
            </a:r>
            <a:r>
              <a:rPr lang="en-US" altLang="ko-KR" sz="1200" b="0" i="0" dirty="0" err="1"/>
              <a:t>Error_Handler</a:t>
            </a:r>
            <a:r>
              <a:rPr lang="en-US" altLang="ko-KR" sz="1200" b="0" i="0" dirty="0"/>
              <a:t>();</a:t>
            </a:r>
          </a:p>
          <a:p>
            <a:pPr marL="0" indent="0">
              <a:buNone/>
            </a:pPr>
            <a:r>
              <a:rPr lang="en-US" altLang="ko-KR" sz="1200" b="0" i="0" dirty="0"/>
              <a:t>			}</a:t>
            </a:r>
          </a:p>
          <a:p>
            <a:pPr marL="0" indent="0">
              <a:buNone/>
            </a:pPr>
            <a:r>
              <a:rPr lang="en-US" altLang="ko-KR" sz="1200" b="0" i="0" dirty="0"/>
              <a:t>			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("TX:%02x %02x %02x %02x %02x %02x %02x %02x\r\n",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[0],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[1],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[2],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[3],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[4],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[5],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[6], </a:t>
            </a:r>
            <a:r>
              <a:rPr lang="en-US" altLang="ko-KR" sz="1200" b="0" i="0" dirty="0" err="1"/>
              <a:t>TxData</a:t>
            </a:r>
            <a:r>
              <a:rPr lang="en-US" altLang="ko-KR" sz="1200" b="0" i="0" dirty="0"/>
              <a:t>[7]);</a:t>
            </a:r>
          </a:p>
          <a:p>
            <a:pPr marL="0" indent="0">
              <a:buNone/>
            </a:pPr>
            <a:r>
              <a:rPr lang="en-US" altLang="ko-KR" sz="1200" b="0" i="0" dirty="0"/>
              <a:t>		}</a:t>
            </a:r>
          </a:p>
          <a:p>
            <a:pPr marL="0" indent="0">
              <a:buNone/>
            </a:pPr>
            <a:r>
              <a:rPr lang="en-US" altLang="ko-KR" sz="1200" b="0" i="0" dirty="0"/>
              <a:t>	}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72432622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C9DA6F-34D2-A333-3AC1-FC4DB91974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DAD5EF3-7BA6-1292-B328-D4BD283764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  <a:r>
              <a:rPr lang="en-US" altLang="ko-KR" dirty="0"/>
              <a:t>– CAN RX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44DC12-5B6A-C508-2909-D4D271A7BDC6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수신 메시지 </a:t>
            </a:r>
            <a:r>
              <a:rPr lang="en-US" altLang="ko-KR" b="0" i="0" kern="0" dirty="0"/>
              <a:t>ID</a:t>
            </a:r>
            <a:r>
              <a:rPr lang="ko-KR" altLang="en-US" b="0" i="0" kern="0" dirty="0"/>
              <a:t>를 </a:t>
            </a:r>
            <a:r>
              <a:rPr lang="en-US" altLang="ko-KR" b="0" i="0" kern="0" dirty="0"/>
              <a:t>0x446</a:t>
            </a:r>
            <a:r>
              <a:rPr lang="ko-KR" altLang="en-US" b="0" i="0" kern="0" dirty="0"/>
              <a:t>으로 설정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static void MX_CAN1_Init(void)</a:t>
            </a:r>
          </a:p>
          <a:p>
            <a:pPr marL="0" indent="0">
              <a:buNone/>
            </a:pPr>
            <a:r>
              <a:rPr lang="en-US" altLang="ko-KR" sz="1200" b="0" i="0" dirty="0"/>
              <a:t>{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BEGIN CAN1_Init 2 */</a:t>
            </a:r>
          </a:p>
          <a:p>
            <a:pPr marL="0" indent="0">
              <a:buNone/>
            </a:pPr>
            <a:r>
              <a:rPr lang="en-US" altLang="ko-KR" sz="1200" b="0" i="0" dirty="0"/>
              <a:t>   </a:t>
            </a:r>
            <a:r>
              <a:rPr lang="en-US" altLang="ko-KR" sz="1200" b="0" i="0" dirty="0" err="1"/>
              <a:t>CAN_FilterTypeDef</a:t>
            </a:r>
            <a:r>
              <a:rPr lang="en-US" altLang="ko-KR" sz="1200" b="0" i="0" dirty="0"/>
              <a:t> </a:t>
            </a:r>
            <a:r>
              <a:rPr lang="en-US" altLang="ko-KR" sz="1200" b="0" i="0" dirty="0" err="1"/>
              <a:t>canfilterconfig</a:t>
            </a:r>
            <a:r>
              <a:rPr lang="en-US" altLang="ko-KR" sz="1200" b="0" i="0" dirty="0"/>
              <a:t>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canfilterconfig.FilterActivation</a:t>
            </a:r>
            <a:r>
              <a:rPr lang="en-US" altLang="ko-KR" sz="1200" b="0" i="0" dirty="0"/>
              <a:t> = CAN_FILTER_ENABLE;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canfilterconfig.FilterBank</a:t>
            </a:r>
            <a:r>
              <a:rPr lang="en-US" altLang="ko-KR" sz="1200" b="0" i="0" dirty="0"/>
              <a:t> = 18;  // which filter bank to use from the assigned ones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canfilterconfig.FilterFIFOAssignment</a:t>
            </a:r>
            <a:r>
              <a:rPr lang="en-US" altLang="ko-KR" sz="1200" b="0" i="0" dirty="0"/>
              <a:t> = CAN_RX_FIFO0;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canfilterconfig.FilterIdHigh</a:t>
            </a:r>
            <a:r>
              <a:rPr lang="en-US" altLang="ko-KR" sz="1200" b="0" i="0" dirty="0"/>
              <a:t> = 0x446&lt;&lt;5;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canfilterconfig.FilterIdLow</a:t>
            </a:r>
            <a:r>
              <a:rPr lang="en-US" altLang="ko-KR" sz="1200" b="0" i="0" dirty="0"/>
              <a:t> = 0;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canfilterconfig.FilterMaskIdHigh</a:t>
            </a:r>
            <a:r>
              <a:rPr lang="en-US" altLang="ko-KR" sz="1200" b="0" i="0" dirty="0"/>
              <a:t> = 0x446&lt;&lt;5;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canfilterconfig.FilterMaskIdLow</a:t>
            </a:r>
            <a:r>
              <a:rPr lang="en-US" altLang="ko-KR" sz="1200" b="0" i="0" dirty="0"/>
              <a:t> = 0x0000;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canfilterconfig.FilterMode</a:t>
            </a:r>
            <a:r>
              <a:rPr lang="en-US" altLang="ko-KR" sz="1200" b="0" i="0" dirty="0"/>
              <a:t> = CAN_FILTERMODE_IDMASK;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canfilterconfig.FilterScale</a:t>
            </a:r>
            <a:r>
              <a:rPr lang="en-US" altLang="ko-KR" sz="1200" b="0" i="0" dirty="0"/>
              <a:t> = CAN_FILTERSCALE_32BIT;</a:t>
            </a:r>
          </a:p>
          <a:p>
            <a:pPr marL="0" indent="0">
              <a:buNone/>
            </a:pPr>
            <a:r>
              <a:rPr lang="en-US" altLang="ko-KR" sz="1200" b="0" i="0" dirty="0"/>
              <a:t>  </a:t>
            </a:r>
            <a:r>
              <a:rPr lang="en-US" altLang="ko-KR" sz="1200" b="0" i="0" dirty="0" err="1"/>
              <a:t>canfilterconfig.SlaveStartFilterBank</a:t>
            </a:r>
            <a:r>
              <a:rPr lang="en-US" altLang="ko-KR" sz="1200" b="0" i="0" dirty="0"/>
              <a:t> = 20;  // how many filters to assign to the CAN1 (master can)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if(</a:t>
            </a:r>
            <a:r>
              <a:rPr lang="en-US" altLang="ko-KR" sz="1200" b="0" i="0" dirty="0" err="1"/>
              <a:t>HAL_CAN_ConfigFilter</a:t>
            </a:r>
            <a:r>
              <a:rPr lang="en-US" altLang="ko-KR" sz="1200" b="0" i="0" dirty="0"/>
              <a:t>(&amp;hcan1, &amp;</a:t>
            </a:r>
            <a:r>
              <a:rPr lang="en-US" altLang="ko-KR" sz="1200" b="0" i="0" dirty="0" err="1"/>
              <a:t>canfilterconfig</a:t>
            </a:r>
            <a:r>
              <a:rPr lang="en-US" altLang="ko-KR" sz="1200" b="0" i="0" dirty="0"/>
              <a:t>) != HAL_OK)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    </a:t>
            </a:r>
            <a:r>
              <a:rPr lang="en-US" altLang="ko-KR" sz="1200" b="0" i="0" dirty="0" err="1"/>
              <a:t>Error_Handler</a:t>
            </a:r>
            <a:r>
              <a:rPr lang="en-US" altLang="ko-KR" sz="1200" b="0" i="0" dirty="0"/>
              <a:t>();</a:t>
            </a:r>
          </a:p>
          <a:p>
            <a:pPr marL="0" indent="0">
              <a:buNone/>
            </a:pPr>
            <a:r>
              <a:rPr lang="en-US" altLang="ko-KR" sz="1200" b="0" i="0" dirty="0"/>
              <a:t>  }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END CAN1_Init 2 */</a:t>
            </a:r>
          </a:p>
          <a:p>
            <a:pPr marL="0" indent="0">
              <a:buNone/>
            </a:pPr>
            <a:r>
              <a:rPr lang="en-US" altLang="ko-KR" sz="1200" b="0" i="0" dirty="0"/>
              <a:t>}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39111961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5D4C2-DC8B-AFB5-53C9-DB4A3BEEB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68E3FE7-3D33-0468-7CE3-767631FDD6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  <a:r>
              <a:rPr lang="en-US" altLang="ko-KR" dirty="0"/>
              <a:t>– CAN RX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FA06FD-4578-AA0E-762A-04FDE0341A1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RX callback</a:t>
            </a:r>
            <a:r>
              <a:rPr lang="ko-KR" altLang="en-US" b="0" i="0" kern="0" dirty="0"/>
              <a:t>을 활성화 하고 </a:t>
            </a:r>
            <a:r>
              <a:rPr lang="en-US" altLang="ko-KR" b="0" i="0" kern="0" dirty="0"/>
              <a:t>callback </a:t>
            </a:r>
            <a:r>
              <a:rPr lang="ko-KR" altLang="en-US" b="0" i="0" kern="0" dirty="0"/>
              <a:t>함수에서 메시지를 수신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 // Activate the notification</a:t>
            </a:r>
          </a:p>
          <a:p>
            <a:pPr marL="0" indent="0">
              <a:buNone/>
            </a:pPr>
            <a:r>
              <a:rPr lang="en-US" altLang="ko-KR" sz="1200" b="0" i="0" dirty="0"/>
              <a:t>  if(</a:t>
            </a:r>
            <a:r>
              <a:rPr lang="en-US" altLang="ko-KR" sz="1200" b="0" i="0" dirty="0" err="1"/>
              <a:t>HAL_CAN_ActivateNotification</a:t>
            </a:r>
            <a:r>
              <a:rPr lang="en-US" altLang="ko-KR" sz="1200" b="0" i="0" dirty="0"/>
              <a:t>(&amp;hcan1, CAN_IT_RX_FIFO0_MSG_PENDING) != HAL_OK)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    </a:t>
            </a:r>
            <a:r>
              <a:rPr lang="en-US" altLang="ko-KR" sz="1200" b="0" i="0" dirty="0" err="1"/>
              <a:t>Error_Handler</a:t>
            </a:r>
            <a:r>
              <a:rPr lang="en-US" altLang="ko-KR" sz="1200" b="0" i="0" dirty="0"/>
              <a:t>();</a:t>
            </a:r>
          </a:p>
          <a:p>
            <a:pPr marL="0" indent="0">
              <a:buNone/>
            </a:pPr>
            <a:r>
              <a:rPr lang="en-US" altLang="ko-KR" sz="1200" b="0" i="0" dirty="0"/>
              <a:t>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void HAL_CAN_RxFifo0MsgPendingCallback(</a:t>
            </a:r>
            <a:r>
              <a:rPr lang="en-US" altLang="ko-KR" sz="1200" b="0" i="0" dirty="0" err="1"/>
              <a:t>CAN_HandleTypeDef</a:t>
            </a:r>
            <a:r>
              <a:rPr lang="en-US" altLang="ko-KR" sz="1200" b="0" i="0" dirty="0"/>
              <a:t> *</a:t>
            </a:r>
            <a:r>
              <a:rPr lang="en-US" altLang="ko-KR" sz="1200" b="0" i="0" dirty="0" err="1"/>
              <a:t>hcan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{</a:t>
            </a:r>
          </a:p>
          <a:p>
            <a:pPr marL="0" indent="0">
              <a:buNone/>
            </a:pPr>
            <a:r>
              <a:rPr lang="en-US" altLang="ko-KR" sz="1200" b="0" i="0" dirty="0"/>
              <a:t>	if(</a:t>
            </a:r>
            <a:r>
              <a:rPr lang="en-US" altLang="ko-KR" sz="1200" b="0" i="0" dirty="0" err="1"/>
              <a:t>HAL_CAN_GetRxMessage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hcan</a:t>
            </a:r>
            <a:r>
              <a:rPr lang="en-US" altLang="ko-KR" sz="1200" b="0" i="0" dirty="0"/>
              <a:t>, CAN_RX_FIFO0, &amp;</a:t>
            </a:r>
            <a:r>
              <a:rPr lang="en-US" altLang="ko-KR" sz="1200" b="0" i="0" dirty="0" err="1"/>
              <a:t>RxHeader</a:t>
            </a:r>
            <a:r>
              <a:rPr lang="en-US" altLang="ko-KR" sz="1200" b="0" i="0" dirty="0"/>
              <a:t>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) != HAL_OK)</a:t>
            </a:r>
          </a:p>
          <a:p>
            <a:pPr marL="0" indent="0">
              <a:buNone/>
            </a:pPr>
            <a:r>
              <a:rPr lang="en-US" altLang="ko-KR" sz="1200" b="0" i="0" dirty="0"/>
              <a:t>	{</a:t>
            </a:r>
          </a:p>
          <a:p>
            <a:pPr marL="0" indent="0">
              <a:buNone/>
            </a:pPr>
            <a:r>
              <a:rPr lang="en-US" altLang="ko-KR" sz="1200" b="0" i="0" dirty="0"/>
              <a:t>	  </a:t>
            </a:r>
            <a:r>
              <a:rPr lang="en-US" altLang="ko-KR" sz="1200" b="0" i="0" dirty="0" err="1"/>
              <a:t>Error_Handler</a:t>
            </a:r>
            <a:r>
              <a:rPr lang="en-US" altLang="ko-KR" sz="1200" b="0" i="0" dirty="0"/>
              <a:t>();</a:t>
            </a:r>
          </a:p>
          <a:p>
            <a:pPr marL="0" indent="0">
              <a:buNone/>
            </a:pPr>
            <a:r>
              <a:rPr lang="en-US" altLang="ko-KR" sz="1200" b="0" i="0" dirty="0"/>
              <a:t>	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if (</a:t>
            </a:r>
            <a:r>
              <a:rPr lang="en-US" altLang="ko-KR" sz="1200" b="0" i="0" dirty="0" err="1"/>
              <a:t>RxHeader.DLC</a:t>
            </a:r>
            <a:r>
              <a:rPr lang="en-US" altLang="ko-KR" sz="1200" b="0" i="0" dirty="0"/>
              <a:t> == 8)</a:t>
            </a:r>
          </a:p>
          <a:p>
            <a:pPr marL="0" indent="0">
              <a:buNone/>
            </a:pPr>
            <a:r>
              <a:rPr lang="en-US" altLang="ko-KR" sz="1200" b="0" i="0" dirty="0"/>
              <a:t>	{</a:t>
            </a:r>
          </a:p>
          <a:p>
            <a:pPr marL="0" indent="0">
              <a:buNone/>
            </a:pPr>
            <a:r>
              <a:rPr lang="en-US" altLang="ko-KR" sz="1200" b="0" i="0" dirty="0"/>
              <a:t>		</a:t>
            </a:r>
            <a:r>
              <a:rPr lang="en-US" altLang="ko-KR" sz="1200" b="0" i="0" dirty="0" err="1"/>
              <a:t>datacheck</a:t>
            </a:r>
            <a:r>
              <a:rPr lang="en-US" altLang="ko-KR" sz="1200" b="0" i="0" dirty="0"/>
              <a:t> = 1;</a:t>
            </a:r>
          </a:p>
          <a:p>
            <a:pPr marL="0" indent="0">
              <a:buNone/>
            </a:pPr>
            <a:r>
              <a:rPr lang="en-US" altLang="ko-KR" sz="1200" b="0" i="0" dirty="0"/>
              <a:t>	}</a:t>
            </a:r>
          </a:p>
          <a:p>
            <a:pPr marL="0" indent="0">
              <a:buNone/>
            </a:pPr>
            <a:r>
              <a:rPr lang="en-US" altLang="ko-KR" sz="1200" b="0" i="0" dirty="0"/>
              <a:t>}</a:t>
            </a:r>
          </a:p>
          <a:p>
            <a:pPr marL="0" indent="0">
              <a:buNone/>
            </a:pPr>
            <a:r>
              <a:rPr lang="en-US" altLang="ko-KR" sz="1200" b="0" i="0" dirty="0"/>
              <a:t>/* USER CODE END 0 */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92087565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A4782C-DD01-7F9B-D7CB-106DF2F55F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97538E-DC7A-BF5D-CBAF-26D2BD956A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Code </a:t>
            </a:r>
            <a:r>
              <a:rPr lang="ko-KR" altLang="en-US" dirty="0"/>
              <a:t>수정 </a:t>
            </a:r>
            <a:r>
              <a:rPr lang="en-US" altLang="ko-KR" dirty="0"/>
              <a:t>– CAN RX</a:t>
            </a:r>
            <a:endParaRPr lang="ko-KR" alt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CB355F-05F5-32DD-A608-8829FFE49E6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5446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 lnSpcReduction="10000"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 </a:t>
            </a:r>
            <a:r>
              <a:rPr lang="en-US" altLang="ko-KR" b="0" i="0" kern="0" dirty="0"/>
              <a:t>Main loop</a:t>
            </a:r>
            <a:r>
              <a:rPr lang="ko-KR" altLang="en-US" b="0" i="0" kern="0" dirty="0"/>
              <a:t>에서 수신 메시지 프린트</a:t>
            </a:r>
            <a:r>
              <a:rPr lang="en-US" altLang="ko-KR" b="0" i="0" kern="0" dirty="0"/>
              <a:t>.</a:t>
            </a:r>
          </a:p>
          <a:p>
            <a:endParaRPr lang="en-US" altLang="ko-KR" b="0" i="0" kern="0" dirty="0"/>
          </a:p>
          <a:p>
            <a:pPr marL="0" indent="0">
              <a:buNone/>
            </a:pPr>
            <a:r>
              <a:rPr lang="en-US" altLang="ko-KR" sz="1200" b="0" i="0" dirty="0"/>
              <a:t>   /* Infinite loop */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BEGIN WHILE */</a:t>
            </a:r>
          </a:p>
          <a:p>
            <a:pPr marL="0" indent="0">
              <a:buNone/>
            </a:pPr>
            <a:r>
              <a:rPr lang="en-US" altLang="ko-KR" sz="1200" b="0" i="0" dirty="0"/>
              <a:t>  while (1)</a:t>
            </a:r>
          </a:p>
          <a:p>
            <a:pPr marL="0" indent="0">
              <a:buNone/>
            </a:pPr>
            <a:r>
              <a:rPr lang="en-US" altLang="ko-KR" sz="1200" b="0" i="0" dirty="0"/>
              <a:t>  {</a:t>
            </a:r>
          </a:p>
          <a:p>
            <a:pPr marL="0" indent="0">
              <a:buNone/>
            </a:pPr>
            <a:r>
              <a:rPr lang="en-US" altLang="ko-KR" sz="1200" b="0" i="0" dirty="0"/>
              <a:t>    /* USER CODE END WHILE */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    /* USER CODE BEGIN 3 */</a:t>
            </a:r>
          </a:p>
          <a:p>
            <a:pPr marL="0" indent="0">
              <a:buNone/>
            </a:pPr>
            <a:r>
              <a:rPr lang="en-US" altLang="ko-KR" sz="1200" b="0" i="0" dirty="0"/>
              <a:t>	  if (</a:t>
            </a:r>
            <a:r>
              <a:rPr lang="en-US" altLang="ko-KR" sz="1200" b="0" i="0" dirty="0" err="1"/>
              <a:t>datacheck</a:t>
            </a:r>
            <a:r>
              <a:rPr lang="en-US" altLang="ko-KR" sz="1200" b="0" i="0" dirty="0"/>
              <a:t>)</a:t>
            </a:r>
          </a:p>
          <a:p>
            <a:pPr marL="0" indent="0">
              <a:buNone/>
            </a:pPr>
            <a:r>
              <a:rPr lang="en-US" altLang="ko-KR" sz="1200" b="0" i="0" dirty="0"/>
              <a:t>	  {</a:t>
            </a:r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printf</a:t>
            </a:r>
            <a:r>
              <a:rPr lang="en-US" altLang="ko-KR" sz="1200" b="0" i="0" dirty="0"/>
              <a:t>("RX:%02x %02x %02x %02x %02x %02x %02x %02x\r\n",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[0],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[1],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[2],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[3],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[4],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[5],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[6], 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[7]);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		// blink the LED</a:t>
            </a:r>
          </a:p>
          <a:p>
            <a:pPr marL="0" indent="0">
              <a:buNone/>
            </a:pPr>
            <a:r>
              <a:rPr lang="en-US" altLang="ko-KR" sz="1200" b="0" i="0" dirty="0"/>
              <a:t>		  for (int </a:t>
            </a:r>
            <a:r>
              <a:rPr lang="en-US" altLang="ko-KR" sz="1200" b="0" i="0" dirty="0" err="1"/>
              <a:t>i</a:t>
            </a:r>
            <a:r>
              <a:rPr lang="en-US" altLang="ko-KR" sz="1200" b="0" i="0" dirty="0"/>
              <a:t>=0; </a:t>
            </a:r>
            <a:r>
              <a:rPr lang="en-US" altLang="ko-KR" sz="1200" b="0" i="0" dirty="0" err="1"/>
              <a:t>i</a:t>
            </a:r>
            <a:r>
              <a:rPr lang="en-US" altLang="ko-KR" sz="1200" b="0" i="0" dirty="0"/>
              <a:t>&lt;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[1]; </a:t>
            </a:r>
            <a:r>
              <a:rPr lang="en-US" altLang="ko-KR" sz="1200" b="0" i="0" dirty="0" err="1"/>
              <a:t>i</a:t>
            </a:r>
            <a:r>
              <a:rPr lang="en-US" altLang="ko-KR" sz="1200" b="0" i="0" dirty="0"/>
              <a:t>++)</a:t>
            </a:r>
          </a:p>
          <a:p>
            <a:pPr marL="0" indent="0">
              <a:buNone/>
            </a:pPr>
            <a:r>
              <a:rPr lang="en-US" altLang="ko-KR" sz="1200" b="0" i="0" dirty="0"/>
              <a:t>		  {</a:t>
            </a:r>
          </a:p>
          <a:p>
            <a:pPr marL="0" indent="0">
              <a:buNone/>
            </a:pPr>
            <a:r>
              <a:rPr lang="en-US" altLang="ko-KR" sz="1200" b="0" i="0" dirty="0"/>
              <a:t>			  </a:t>
            </a:r>
            <a:r>
              <a:rPr lang="en-US" altLang="ko-KR" sz="1200" b="0" i="0" dirty="0" err="1"/>
              <a:t>HAL_GPIO_TogglePin</a:t>
            </a:r>
            <a:r>
              <a:rPr lang="en-US" altLang="ko-KR" sz="1200" b="0" i="0"/>
              <a:t>(GPIOF, </a:t>
            </a:r>
            <a:r>
              <a:rPr lang="en-US" altLang="ko-KR" sz="1200" b="0" i="0" dirty="0"/>
              <a:t>LED1_Pin | LED2_Pin | LED3_Pin);</a:t>
            </a:r>
          </a:p>
          <a:p>
            <a:pPr marL="0" indent="0">
              <a:buNone/>
            </a:pPr>
            <a:r>
              <a:rPr lang="en-US" altLang="ko-KR" sz="1200" b="0" i="0" dirty="0"/>
              <a:t>			  </a:t>
            </a:r>
            <a:r>
              <a:rPr lang="en-US" altLang="ko-KR" sz="1200" b="0" i="0" dirty="0" err="1"/>
              <a:t>HAL_Delay</a:t>
            </a:r>
            <a:r>
              <a:rPr lang="en-US" altLang="ko-KR" sz="1200" b="0" i="0" dirty="0"/>
              <a:t>(</a:t>
            </a:r>
            <a:r>
              <a:rPr lang="en-US" altLang="ko-KR" sz="1200" b="0" i="0" dirty="0" err="1"/>
              <a:t>RxData</a:t>
            </a:r>
            <a:r>
              <a:rPr lang="en-US" altLang="ko-KR" sz="1200" b="0" i="0" dirty="0"/>
              <a:t>[0]);</a:t>
            </a:r>
          </a:p>
          <a:p>
            <a:pPr marL="0" indent="0">
              <a:buNone/>
            </a:pPr>
            <a:r>
              <a:rPr lang="en-US" altLang="ko-KR" sz="1200" b="0" i="0" dirty="0"/>
              <a:t>		  }</a:t>
            </a:r>
          </a:p>
          <a:p>
            <a:pPr marL="0" indent="0">
              <a:buNone/>
            </a:pPr>
            <a:endParaRPr lang="en-US" altLang="ko-KR" sz="1200" b="0" i="0" dirty="0"/>
          </a:p>
          <a:p>
            <a:pPr marL="0" indent="0">
              <a:buNone/>
            </a:pPr>
            <a:r>
              <a:rPr lang="en-US" altLang="ko-KR" sz="1200" b="0" i="0" dirty="0"/>
              <a:t>		  </a:t>
            </a:r>
            <a:r>
              <a:rPr lang="en-US" altLang="ko-KR" sz="1200" b="0" i="0" dirty="0" err="1"/>
              <a:t>datacheck</a:t>
            </a:r>
            <a:r>
              <a:rPr lang="en-US" altLang="ko-KR" sz="1200" b="0" i="0" dirty="0"/>
              <a:t> = 0;</a:t>
            </a:r>
          </a:p>
          <a:p>
            <a:pPr marL="0" indent="0">
              <a:buNone/>
            </a:pPr>
            <a:r>
              <a:rPr lang="en-US" altLang="ko-KR" sz="1200" b="0" i="0" dirty="0"/>
              <a:t>	  }</a:t>
            </a:r>
          </a:p>
          <a:p>
            <a:pPr marL="0" indent="0">
              <a:buNone/>
            </a:pPr>
            <a:r>
              <a:rPr lang="en-US" altLang="ko-KR" sz="1200" b="0" i="0" dirty="0"/>
              <a:t>  }</a:t>
            </a:r>
          </a:p>
          <a:p>
            <a:pPr marL="0" indent="0">
              <a:buNone/>
            </a:pPr>
            <a:r>
              <a:rPr lang="en-US" altLang="ko-KR" sz="1200" b="0" i="0" dirty="0"/>
              <a:t>  /* USER CODE END 3 */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17266050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0A4767-0E7A-E8D3-ABC6-6DF7ACEF40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2129216-DF74-AAF1-8F0D-0C40F5AFFC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</a:t>
            </a:r>
            <a:r>
              <a:rPr lang="ko-KR" alt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986E09-B1AD-4CC3-E143-56E52148A58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아래 버튼 클릭하여 </a:t>
            </a:r>
            <a:r>
              <a:rPr lang="en-US" altLang="ko-KR" b="0" i="0" kern="0" dirty="0"/>
              <a:t>Build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B538E2A-ECBE-73F7-2864-2D1034AF14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696" y="1484784"/>
            <a:ext cx="5200650" cy="4229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47941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67755D-007D-0D13-8034-0ACC4F8BC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FB0814A-47DF-9707-6D4B-1C2B9D69B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Build </a:t>
            </a:r>
            <a:r>
              <a:rPr lang="ko-KR" altLang="en-US" dirty="0"/>
              <a:t>결과물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6A087B-9A95-B5F6-52C4-344BCB941593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빌드 결과물 이름은 </a:t>
            </a:r>
            <a:r>
              <a:rPr lang="en-US" altLang="ko-KR" b="0" i="0" kern="0" dirty="0"/>
              <a:t>[</a:t>
            </a:r>
            <a:r>
              <a:rPr lang="ko-KR" altLang="en-US" b="0" i="0" kern="0" dirty="0"/>
              <a:t>프로젝트 이름</a:t>
            </a:r>
            <a:r>
              <a:rPr lang="en-US" altLang="ko-KR" b="0" i="0" kern="0" dirty="0"/>
              <a:t>].bin</a:t>
            </a:r>
            <a:r>
              <a:rPr lang="ko-KR" altLang="en-US" b="0" i="0" kern="0" dirty="0"/>
              <a:t>이다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9557283-11C0-814B-21EC-6834EEFF0E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5162" y="1527237"/>
            <a:ext cx="2733675" cy="4019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495806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EEB8F8-B0D9-705C-74BC-ECAD471F86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B366729-F726-75F5-0172-6C7BEF8E1D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03C50-C32B-952D-8FC4-82AA18768427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UART1</a:t>
            </a:r>
            <a:r>
              <a:rPr lang="ko-KR" altLang="en-US" b="0" i="0" kern="0" dirty="0"/>
              <a:t>과 연결되어 있는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 </a:t>
            </a:r>
            <a:r>
              <a:rPr lang="ko-KR" altLang="en-US" b="0" i="0" kern="0" dirty="0"/>
              <a:t>종료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다운로드 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D6C9064-0094-7603-2C7D-8DA73C19FD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123728" y="1700808"/>
            <a:ext cx="4951264" cy="46501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06E5B50-7D70-E392-6D79-FECDCABBF39D}"/>
              </a:ext>
            </a:extLst>
          </p:cNvPr>
          <p:cNvSpPr txBox="1"/>
          <p:nvPr/>
        </p:nvSpPr>
        <p:spPr>
          <a:xfrm>
            <a:off x="3419872" y="2612570"/>
            <a:ext cx="64601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UART1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319ECF6-1116-AE34-AFA6-4F7A662D5957}"/>
              </a:ext>
            </a:extLst>
          </p:cNvPr>
          <p:cNvSpPr txBox="1"/>
          <p:nvPr/>
        </p:nvSpPr>
        <p:spPr>
          <a:xfrm>
            <a:off x="6004177" y="2397126"/>
            <a:ext cx="11776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5V/2A </a:t>
            </a:r>
            <a:r>
              <a:rPr lang="ko-KR" altLang="en-US" i="0" dirty="0">
                <a:solidFill>
                  <a:schemeClr val="tx1"/>
                </a:solidFill>
              </a:rPr>
              <a:t>어댑터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A95EBF3-EE4E-B875-3DC1-B6A4A26237DE}"/>
              </a:ext>
            </a:extLst>
          </p:cNvPr>
          <p:cNvSpPr/>
          <p:nvPr/>
        </p:nvSpPr>
        <p:spPr>
          <a:xfrm>
            <a:off x="5364088" y="5154235"/>
            <a:ext cx="47649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4C078E-58B6-30BA-4A63-AC437C11D918}"/>
              </a:ext>
            </a:extLst>
          </p:cNvPr>
          <p:cNvSpPr txBox="1"/>
          <p:nvPr/>
        </p:nvSpPr>
        <p:spPr>
          <a:xfrm>
            <a:off x="6677114" y="5169563"/>
            <a:ext cx="104673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Boot Switch</a:t>
            </a:r>
          </a:p>
          <a:p>
            <a:r>
              <a:rPr lang="en-US" altLang="ko-KR" i="0" dirty="0">
                <a:solidFill>
                  <a:schemeClr val="tx1"/>
                </a:solidFill>
              </a:rPr>
              <a:t>D/L ON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FEC58727-6920-FE13-F961-F8EA5BD77784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5940152" y="5338840"/>
            <a:ext cx="736962" cy="0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7EC2D03-6E19-E4A6-8392-F7069ABB12ED}"/>
              </a:ext>
            </a:extLst>
          </p:cNvPr>
          <p:cNvSpPr/>
          <p:nvPr/>
        </p:nvSpPr>
        <p:spPr>
          <a:xfrm>
            <a:off x="5632840" y="5679588"/>
            <a:ext cx="317661" cy="337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69B26F-AFD8-A840-215E-3EE2BDEE655E}"/>
              </a:ext>
            </a:extLst>
          </p:cNvPr>
          <p:cNvSpPr txBox="1"/>
          <p:nvPr/>
        </p:nvSpPr>
        <p:spPr>
          <a:xfrm>
            <a:off x="6716158" y="5793355"/>
            <a:ext cx="88017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i="0" dirty="0">
                <a:solidFill>
                  <a:schemeClr val="tx1"/>
                </a:solidFill>
              </a:rPr>
              <a:t>Reset Key</a:t>
            </a:r>
            <a:endParaRPr lang="ko-KR" altLang="en-US" i="0" dirty="0">
              <a:solidFill>
                <a:schemeClr val="tx1"/>
              </a:solidFill>
            </a:endParaRPr>
          </a:p>
        </p:txBody>
      </p: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2F7A5EBE-FF7A-B60F-C266-52021686865E}"/>
              </a:ext>
            </a:extLst>
          </p:cNvPr>
          <p:cNvCxnSpPr>
            <a:cxnSpLocks/>
          </p:cNvCxnSpPr>
          <p:nvPr/>
        </p:nvCxnSpPr>
        <p:spPr>
          <a:xfrm>
            <a:off x="5950501" y="5852930"/>
            <a:ext cx="753626" cy="51285"/>
          </a:xfrm>
          <a:prstGeom prst="straightConnector1">
            <a:avLst/>
          </a:prstGeom>
          <a:ln w="25400">
            <a:solidFill>
              <a:srgbClr val="FF0000"/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34457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77C8EA-5B76-B9FE-2718-FF4194FC1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BF627A1-0438-7FD4-5D1A-8D9C8061E1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FC5C7-F9E8-AC5B-7724-DEF00CDA8679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를 실행한다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77C216B6-DF00-DAF3-FDCC-C920F241D3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79148"/>
            <a:ext cx="6077527" cy="4177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53332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A0555B-A049-96B7-66E3-7F5E4A6B60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C8FD58-E78F-6B6F-48D2-7EB4DCE35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BIN </a:t>
            </a:r>
            <a:r>
              <a:rPr lang="ko-KR" altLang="en-US" dirty="0"/>
              <a:t>다운로드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73F0F8-B472-1E25-8E3D-2860C743EBBE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 err="1"/>
              <a:t>빌드된</a:t>
            </a:r>
            <a:r>
              <a:rPr lang="ko-KR" altLang="en-US" b="0" i="0" kern="0" dirty="0"/>
              <a:t> </a:t>
            </a:r>
            <a:r>
              <a:rPr lang="en-US" altLang="ko-KR" b="0" i="0" kern="0" dirty="0"/>
              <a:t>BIN </a:t>
            </a:r>
            <a:r>
              <a:rPr lang="ko-KR" altLang="en-US" b="0" i="0" kern="0" dirty="0"/>
              <a:t>파일을 열어서 다운로드한다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그림 3" descr="텍스트, 스크린샷, 소프트웨어, 컴퓨터 아이콘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D8528A2-FEF8-6E34-E9FF-0F44A8136D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236" y="1756934"/>
            <a:ext cx="6077528" cy="4174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029704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F35C2-2AD7-852D-6159-B05B89F7F5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0C3BDC-9F83-EF64-5876-F826FA702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A47A88-C400-298E-C351-D677F1A205DA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STM32CubeProgrammer</a:t>
            </a:r>
            <a:r>
              <a:rPr lang="ko-KR" altLang="en-US" b="0" i="0" kern="0" dirty="0"/>
              <a:t>의 </a:t>
            </a:r>
            <a:r>
              <a:rPr lang="en-US" altLang="ko-KR" b="0" i="0" kern="0" dirty="0"/>
              <a:t>COM Port</a:t>
            </a:r>
            <a:r>
              <a:rPr lang="ko-KR" altLang="en-US" b="0" i="0" kern="0" dirty="0"/>
              <a:t>를 연결해제하고 터미널</a:t>
            </a:r>
            <a:r>
              <a:rPr lang="en-US" altLang="ko-KR" b="0" i="0" kern="0" dirty="0"/>
              <a:t>(</a:t>
            </a:r>
            <a:r>
              <a:rPr lang="en-US" altLang="ko-KR" b="0" i="0" kern="0" dirty="0" err="1"/>
              <a:t>Teraterm</a:t>
            </a:r>
            <a:r>
              <a:rPr lang="en-US" altLang="ko-KR" b="0" i="0" kern="0" dirty="0"/>
              <a:t>)</a:t>
            </a:r>
            <a:r>
              <a:rPr lang="ko-KR" altLang="en-US" b="0" i="0" kern="0" dirty="0"/>
              <a:t>을 실행한다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</a:t>
            </a:r>
            <a:r>
              <a:rPr lang="ko-KR" altLang="en-US" b="0" i="0" kern="0" dirty="0"/>
              <a:t>를 실행모드로 설정하고 </a:t>
            </a:r>
            <a:r>
              <a:rPr lang="en-US" altLang="ko-KR" b="0" i="0" kern="0" dirty="0"/>
              <a:t>SW3 </a:t>
            </a:r>
            <a:r>
              <a:rPr lang="ko-KR" altLang="en-US" b="0" i="0" kern="0" dirty="0"/>
              <a:t>리셋 키를 누른다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A04285CD-1D16-BA52-840C-ED41FFC5F999}"/>
              </a:ext>
            </a:extLst>
          </p:cNvPr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19578" y="2348880"/>
            <a:ext cx="4380614" cy="3456434"/>
          </a:xfrm>
          <a:prstGeom prst="rect">
            <a:avLst/>
          </a:prstGeom>
        </p:spPr>
      </p:pic>
      <p:sp>
        <p:nvSpPr>
          <p:cNvPr id="7" name="직사각형 6">
            <a:extLst>
              <a:ext uri="{FF2B5EF4-FFF2-40B4-BE49-F238E27FC236}">
                <a16:creationId xmlns:a16="http://schemas.microsoft.com/office/drawing/2014/main" id="{978162E5-DE37-4F82-2806-047EC174F05F}"/>
              </a:ext>
            </a:extLst>
          </p:cNvPr>
          <p:cNvSpPr/>
          <p:nvPr/>
        </p:nvSpPr>
        <p:spPr>
          <a:xfrm>
            <a:off x="5130612" y="4797153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1B7CA7-AE71-97B0-00EF-EC3B81136746}"/>
              </a:ext>
            </a:extLst>
          </p:cNvPr>
          <p:cNvSpPr/>
          <p:nvPr/>
        </p:nvSpPr>
        <p:spPr>
          <a:xfrm>
            <a:off x="5364088" y="5301208"/>
            <a:ext cx="318977" cy="28803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8702499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ED0B2E-8463-5CB6-13E3-7A3B1F4D95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9DA101-9265-21FE-3349-AC9877285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테스트 환경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E4CC39-6A84-D461-2AD1-AA5F0B7C67CD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ko-KR" altLang="en-US" b="0" i="0" kern="0" dirty="0"/>
              <a:t>종단 저항 </a:t>
            </a:r>
            <a:r>
              <a:rPr lang="en-US" altLang="ko-KR" b="0" i="0" kern="0" dirty="0"/>
              <a:t>120</a:t>
            </a:r>
            <a:r>
              <a:rPr lang="ko-KR" altLang="en-US" b="0" i="0" kern="0" dirty="0"/>
              <a:t>옴을 설정하기 위해 </a:t>
            </a:r>
            <a:r>
              <a:rPr lang="en-US" altLang="ko-KR" b="0" i="0" kern="0" dirty="0"/>
              <a:t>J12</a:t>
            </a:r>
            <a:r>
              <a:rPr lang="ko-KR" altLang="en-US" b="0" i="0" kern="0" dirty="0"/>
              <a:t>를 점퍼로 연결한다</a:t>
            </a:r>
            <a:r>
              <a:rPr lang="en-US" altLang="ko-KR" b="0" i="0" kern="0" dirty="0"/>
              <a:t>.</a:t>
            </a:r>
          </a:p>
          <a:p>
            <a:r>
              <a:rPr lang="en-US" altLang="ko-KR" b="0" i="0" kern="0" dirty="0"/>
              <a:t>Mango-M32F4 2</a:t>
            </a:r>
            <a:r>
              <a:rPr lang="ko-KR" altLang="en-US" b="0" i="0" kern="0" dirty="0"/>
              <a:t>대를 </a:t>
            </a:r>
            <a:r>
              <a:rPr lang="en-US" altLang="ko-KR" b="0" i="0" kern="0" dirty="0"/>
              <a:t>3</a:t>
            </a:r>
            <a:r>
              <a:rPr lang="ko-KR" altLang="en-US" b="0" i="0" kern="0" dirty="0"/>
              <a:t>핀 케이블을 이용하여 </a:t>
            </a:r>
            <a:r>
              <a:rPr lang="en-US" altLang="ko-KR" b="0" i="0" kern="0" dirty="0"/>
              <a:t>J11</a:t>
            </a:r>
            <a:r>
              <a:rPr lang="ko-KR" altLang="en-US" b="0" i="0" kern="0" dirty="0"/>
              <a:t>끼리 연결한다</a:t>
            </a:r>
            <a:r>
              <a:rPr lang="en-US" altLang="ko-KR" b="0" i="0" kern="0" dirty="0"/>
              <a:t>. </a:t>
            </a:r>
            <a:r>
              <a:rPr lang="ko-KR" altLang="en-US" b="0" i="0" kern="0" dirty="0"/>
              <a:t>결선은 </a:t>
            </a:r>
            <a:r>
              <a:rPr lang="en-US" altLang="ko-KR" b="0" i="0" kern="0" dirty="0"/>
              <a:t>TX&lt;-&gt;TX, RX&lt;-&gt;RX, GND&lt;-&gt;GND</a:t>
            </a:r>
            <a:r>
              <a:rPr lang="ko-KR" altLang="en-US" b="0" i="0" kern="0" dirty="0"/>
              <a:t> 연결해야 한다</a:t>
            </a:r>
            <a:r>
              <a:rPr lang="en-US" altLang="ko-KR" b="0" i="0" kern="0" dirty="0"/>
              <a:t>.</a:t>
            </a:r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5" name="그림 4" descr="도표, 텍스트, 라인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3F4BBCC-FF70-420D-5E36-2A26CE47ED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762" y="2476475"/>
            <a:ext cx="8372475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35179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56A9B-80A5-1915-0507-8A52E5C01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1A1ADBD-FACC-EFEC-89B7-9E9ABDBA78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테스트 환경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907BA5-97B1-DEC1-A71A-4D68FE2E183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endParaRPr lang="en-US" altLang="ko-KR" b="0" i="0" kern="0" dirty="0"/>
          </a:p>
        </p:txBody>
      </p:sp>
      <p:pic>
        <p:nvPicPr>
          <p:cNvPr id="6" name="그림 5" descr="회로, 전자 공학, 전자 부품, 회로 구성요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A9DA77-F877-D079-4584-CE21F0B9E6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937" y="1390650"/>
            <a:ext cx="7858125" cy="4076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26721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90A24D-D3E0-CE30-2483-ABA27E86C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004E85-CC4B-93E7-E3B2-78579FBD83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테스트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CA2BDA-3CDF-8C55-D17C-9840B17EAF5B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CAN TX – KEY1 / KEY2</a:t>
            </a:r>
            <a:r>
              <a:rPr lang="ko-KR" altLang="en-US" b="0" i="0" kern="0" dirty="0"/>
              <a:t>를 누를 때 </a:t>
            </a:r>
            <a:r>
              <a:rPr lang="en-US" altLang="ko-KR" b="0" i="0" kern="0" dirty="0"/>
              <a:t>CAN </a:t>
            </a:r>
            <a:r>
              <a:rPr lang="ko-KR" altLang="en-US" b="0" i="0" kern="0" dirty="0"/>
              <a:t>메시지 전송</a:t>
            </a:r>
            <a:endParaRPr lang="en-US" altLang="ko-KR" b="0" i="0" kern="0" dirty="0"/>
          </a:p>
          <a:p>
            <a:r>
              <a:rPr lang="en-US" altLang="ko-KR" b="0" i="0" kern="0" dirty="0"/>
              <a:t>CAN RX – CAN </a:t>
            </a:r>
            <a:r>
              <a:rPr lang="ko-KR" altLang="en-US" b="0" i="0" kern="0" dirty="0"/>
              <a:t>메시지 수신 시 </a:t>
            </a:r>
            <a:r>
              <a:rPr lang="en-US" altLang="ko-KR" b="0" i="0" kern="0" dirty="0"/>
              <a:t>LED1 / LED2 / LED3 </a:t>
            </a:r>
            <a:r>
              <a:rPr lang="ko-KR" altLang="en-US" b="0" i="0" kern="0" dirty="0" err="1"/>
              <a:t>토글</a:t>
            </a:r>
            <a:endParaRPr lang="en-US" altLang="ko-KR" b="0" i="0" kern="0" dirty="0"/>
          </a:p>
          <a:p>
            <a:r>
              <a:rPr lang="en-US" altLang="ko-KR" b="0" i="0" kern="0" dirty="0"/>
              <a:t>TX / RX </a:t>
            </a:r>
            <a:r>
              <a:rPr lang="ko-KR" altLang="en-US" b="0" i="0" kern="0" dirty="0"/>
              <a:t>메시지를 시리얼 터미널에 디스플레이</a:t>
            </a:r>
            <a:endParaRPr lang="en-US" altLang="ko-KR" b="0" i="0" kern="0" dirty="0"/>
          </a:p>
          <a:p>
            <a:endParaRPr lang="en-US" altLang="ko-KR" b="0" i="0" kern="0" dirty="0"/>
          </a:p>
          <a:p>
            <a:pPr marL="0" indent="0">
              <a:buNone/>
            </a:pP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</p:spTree>
    <p:extLst>
      <p:ext uri="{BB962C8B-B14F-4D97-AF65-F5344CB8AC3E}">
        <p14:creationId xmlns:p14="http://schemas.microsoft.com/office/powerpoint/2010/main" val="143555892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539561-4C2C-1B02-BC34-D7BED381F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F951F6-AFDE-C24D-9F86-A4ABD6D215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실행결과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22F5F4-E7A5-8865-2DCF-EAD1BA11D3F8}"/>
              </a:ext>
            </a:extLst>
          </p:cNvPr>
          <p:cNvSpPr txBox="1">
            <a:spLocks/>
          </p:cNvSpPr>
          <p:nvPr/>
        </p:nvSpPr>
        <p:spPr bwMode="auto">
          <a:xfrm>
            <a:off x="628650" y="692696"/>
            <a:ext cx="7886700" cy="5688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normAutofit/>
          </a:bodyPr>
          <a:lstStyle>
            <a:lvl1pPr marL="342900" indent="-3429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Char char="•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  <a:cs typeface="+mn-cs"/>
              </a:defRPr>
            </a:lvl1pPr>
            <a:lvl2pPr marL="742950" indent="-28575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Ø"/>
              <a:defRPr kumimoji="1">
                <a:solidFill>
                  <a:schemeClr val="tx1"/>
                </a:solidFill>
                <a:latin typeface="Verdana" pitchFamily="34" charset="0"/>
                <a:ea typeface="+mn-ea"/>
              </a:defRPr>
            </a:lvl2pPr>
            <a:lvl3pPr marL="1143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tx1"/>
              </a:buClr>
              <a:buFont typeface="Wingdings" pitchFamily="2" charset="2"/>
              <a:buChar char="§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3pPr>
            <a:lvl4pPr marL="1600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Wingdings 2" pitchFamily="18" charset="2"/>
              <a:buChar char=""/>
              <a:defRPr kumimoji="1" sz="2000">
                <a:solidFill>
                  <a:schemeClr val="tx1"/>
                </a:solidFill>
                <a:latin typeface="Verdana" pitchFamily="34" charset="0"/>
                <a:ea typeface="+mn-ea"/>
              </a:defRPr>
            </a:lvl4pPr>
            <a:lvl5pPr marL="20574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Verdana" pitchFamily="34" charset="0"/>
                <a:ea typeface="+mn-ea"/>
              </a:defRPr>
            </a:lvl5pPr>
            <a:lvl6pPr marL="25146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6pPr>
            <a:lvl7pPr marL="29718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7pPr>
            <a:lvl8pPr marL="34290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8pPr>
            <a:lvl9pPr marL="3886200" indent="-228600" algn="l" rtl="0" fontAlgn="base" latinLnBrk="1">
              <a:spcBef>
                <a:spcPct val="20000"/>
              </a:spcBef>
              <a:spcAft>
                <a:spcPct val="0"/>
              </a:spcAft>
              <a:buClr>
                <a:schemeClr val="bg2"/>
              </a:buClr>
              <a:buFont typeface="Arial" charset="0"/>
              <a:buChar char="»"/>
              <a:defRPr kumimoji="1" sz="1600">
                <a:solidFill>
                  <a:schemeClr val="tx1"/>
                </a:solidFill>
                <a:latin typeface="Arial" charset="0"/>
                <a:ea typeface="+mn-ea"/>
              </a:defRPr>
            </a:lvl9pPr>
          </a:lstStyle>
          <a:p>
            <a:r>
              <a:rPr lang="en-US" altLang="ko-KR" b="0" i="0" kern="0" dirty="0"/>
              <a:t>CAN </a:t>
            </a:r>
            <a:r>
              <a:rPr lang="ko-KR" altLang="en-US" b="0" i="0" kern="0" dirty="0"/>
              <a:t>송신 </a:t>
            </a:r>
            <a:r>
              <a:rPr lang="en-US" altLang="ko-KR" b="0" i="0" kern="0" dirty="0"/>
              <a:t>/ </a:t>
            </a:r>
            <a:r>
              <a:rPr lang="ko-KR" altLang="en-US" b="0" i="0" kern="0" dirty="0"/>
              <a:t>수신 메시지 프린트 확인</a:t>
            </a:r>
            <a:endParaRPr lang="en-US" altLang="ko-KR" b="0" i="0" kern="0" dirty="0"/>
          </a:p>
          <a:p>
            <a:pPr marL="0" indent="0">
              <a:buNone/>
            </a:pPr>
            <a:endParaRPr lang="en-US" altLang="ko-KR" sz="1400" b="0" i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  <a:p>
            <a:endParaRPr lang="en-US" altLang="ko-KR" b="0" i="0" kern="0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0986D482-AEBC-7CCA-4D20-D91744B447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9856" y="1641858"/>
            <a:ext cx="7164288" cy="443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789482"/>
      </p:ext>
    </p:extLst>
  </p:cSld>
  <p:clrMapOvr>
    <a:masterClrMapping/>
  </p:clrMapOvr>
</p:sld>
</file>

<file path=ppt/theme/theme1.xml><?xml version="1.0" encoding="utf-8"?>
<a:theme xmlns:a="http://schemas.openxmlformats.org/drawingml/2006/main" name="디자인 사용자 지정">
  <a:themeElements>
    <a:clrScheme name="디자인 사용자 지정 1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디자인 사용자 지정">
      <a:majorFont>
        <a:latin typeface="Tahoma"/>
        <a:ea typeface="굴림"/>
        <a:cs typeface=""/>
      </a:majorFont>
      <a:minorFont>
        <a:latin typeface="Tahoma"/>
        <a:ea typeface="굴림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none" lIns="91440" tIns="45720" rIns="91440" bIns="45720" numCol="1" anchor="ctr" anchorCtr="0" compatLnSpc="1">
        <a:prstTxWarp prst="textNoShape">
          <a:avLst/>
        </a:prstTxWarp>
      </a:bodyPr>
      <a:lstStyle>
        <a:defPPr marL="0" marR="0" indent="0" algn="l" defTabSz="914400" rtl="0" eaLnBrk="1" fontAlgn="base" latinLnBrk="1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1" lang="ko-KR" altLang="en-US" sz="800" b="1" i="1" u="none" strike="noStrike" cap="none" normalizeH="0" baseline="0" smtClean="0">
            <a:ln>
              <a:noFill/>
            </a:ln>
            <a:solidFill>
              <a:srgbClr val="C0C0C0"/>
            </a:solidFill>
            <a:effectLst/>
            <a:latin typeface="Tahoma" pitchFamily="34" charset="0"/>
            <a:ea typeface="굴림" pitchFamily="50" charset="-127"/>
          </a:defRPr>
        </a:defPPr>
      </a:lstStyle>
    </a:lnDef>
  </a:objectDefaults>
  <a:extraClrSchemeLst>
    <a:extraClrScheme>
      <a:clrScheme name="디자인 사용자 지정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디자인 사용자 지정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CC3300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E2ADAA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디자인 사용자 지정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20012</TotalTime>
  <Words>1643</Words>
  <Application>Microsoft Office PowerPoint</Application>
  <PresentationFormat>화면 슬라이드 쇼(4:3)</PresentationFormat>
  <Paragraphs>256</Paragraphs>
  <Slides>37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37</vt:i4>
      </vt:variant>
    </vt:vector>
  </HeadingPairs>
  <TitlesOfParts>
    <vt:vector size="45" baseType="lpstr">
      <vt:lpstr>굴림</vt:lpstr>
      <vt:lpstr>Arial</vt:lpstr>
      <vt:lpstr>Century Gothic</vt:lpstr>
      <vt:lpstr>Tahoma</vt:lpstr>
      <vt:lpstr>Verdana</vt:lpstr>
      <vt:lpstr>Wingdings</vt:lpstr>
      <vt:lpstr>Wingdings 2</vt:lpstr>
      <vt:lpstr>디자인 사용자 지정</vt:lpstr>
      <vt:lpstr>CAN 실습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Project 생성 - CAN</vt:lpstr>
      <vt:lpstr>BIN 파일 생성 설정</vt:lpstr>
      <vt:lpstr>BIN 파일 생성 설정</vt:lpstr>
      <vt:lpstr>Code 수정 </vt:lpstr>
      <vt:lpstr>Code 수정 – CAN TX</vt:lpstr>
      <vt:lpstr>Code 수정 – CAN TX</vt:lpstr>
      <vt:lpstr>Code 수정 – CAN RX</vt:lpstr>
      <vt:lpstr>Code 수정 – CAN RX</vt:lpstr>
      <vt:lpstr>Code 수정 – CAN RX</vt:lpstr>
      <vt:lpstr>Build </vt:lpstr>
      <vt:lpstr>Build 결과물 </vt:lpstr>
      <vt:lpstr>BIN 다운로드 </vt:lpstr>
      <vt:lpstr>BIN 다운로드 </vt:lpstr>
      <vt:lpstr>BIN 다운로드 </vt:lpstr>
      <vt:lpstr>실행결과 </vt:lpstr>
      <vt:lpstr>테스트 환경</vt:lpstr>
      <vt:lpstr>테스트 환경</vt:lpstr>
      <vt:lpstr>테스트</vt:lpstr>
      <vt:lpstr>실행결과 </vt:lpstr>
    </vt:vector>
  </TitlesOfParts>
  <Company>마케팅팀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김정남</dc:creator>
  <cp:lastModifiedBy>홍기 최</cp:lastModifiedBy>
  <cp:revision>720</cp:revision>
  <dcterms:created xsi:type="dcterms:W3CDTF">2006-02-08T03:00:46Z</dcterms:created>
  <dcterms:modified xsi:type="dcterms:W3CDTF">2026-01-24T08:36:40Z</dcterms:modified>
</cp:coreProperties>
</file>