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3"/>
  </p:notesMasterIdLst>
  <p:handoutMasterIdLst>
    <p:handoutMasterId r:id="rId34"/>
  </p:handoutMasterIdLst>
  <p:sldIdLst>
    <p:sldId id="308" r:id="rId2"/>
    <p:sldId id="329" r:id="rId3"/>
    <p:sldId id="330" r:id="rId4"/>
    <p:sldId id="331" r:id="rId5"/>
    <p:sldId id="332" r:id="rId6"/>
    <p:sldId id="360" r:id="rId7"/>
    <p:sldId id="334" r:id="rId8"/>
    <p:sldId id="333" r:id="rId9"/>
    <p:sldId id="335" r:id="rId10"/>
    <p:sldId id="336" r:id="rId11"/>
    <p:sldId id="364" r:id="rId12"/>
    <p:sldId id="337" r:id="rId13"/>
    <p:sldId id="338" r:id="rId14"/>
    <p:sldId id="340" r:id="rId15"/>
    <p:sldId id="339" r:id="rId16"/>
    <p:sldId id="341" r:id="rId17"/>
    <p:sldId id="343" r:id="rId18"/>
    <p:sldId id="345" r:id="rId19"/>
    <p:sldId id="366" r:id="rId20"/>
    <p:sldId id="347" r:id="rId21"/>
    <p:sldId id="348" r:id="rId22"/>
    <p:sldId id="365" r:id="rId23"/>
    <p:sldId id="349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44" autoAdjust="0"/>
    <p:restoredTop sz="84551" autoAdjust="0"/>
  </p:normalViewPr>
  <p:slideViewPr>
    <p:cSldViewPr snapToObjects="1">
      <p:cViewPr varScale="1">
        <p:scale>
          <a:sx n="75" d="100"/>
          <a:sy n="75" d="100"/>
        </p:scale>
        <p:origin x="1930" y="283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http://cafe.naver.com/embeddedcrazyboys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Cortex-M3 </a:t>
            </a:r>
            <a:r>
              <a:rPr lang="ko-KR" altLang="en-US" dirty="0"/>
              <a:t>특징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/>
              <a:t>2026.01.19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ko-KR" dirty="0"/>
              <a:t>Cortex A-, R-, M-series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285720" y="1000108"/>
          <a:ext cx="85725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+mn-lt"/>
                        </a:rPr>
                        <a:t>Cortex-Series</a:t>
                      </a:r>
                      <a:endParaRPr lang="ko-KR" altLang="en-US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+mn-lt"/>
                        </a:rPr>
                        <a:t>Description</a:t>
                      </a:r>
                      <a:endParaRPr lang="ko-KR" altLang="en-US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+mn-lt"/>
                        </a:rPr>
                        <a:t>Cortex-A </a:t>
                      </a:r>
                      <a:endParaRPr lang="ko-KR" altLang="en-US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2000" dirty="0">
                          <a:latin typeface="+mn-lt"/>
                        </a:rPr>
                        <a:t> A – Application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2000" dirty="0">
                          <a:latin typeface="+mn-lt"/>
                        </a:rPr>
                        <a:t> 복잡한 </a:t>
                      </a:r>
                      <a:r>
                        <a:rPr lang="en-US" altLang="ko-KR" sz="2000" dirty="0">
                          <a:latin typeface="+mn-lt"/>
                        </a:rPr>
                        <a:t>OS </a:t>
                      </a:r>
                      <a:r>
                        <a:rPr lang="ko-KR" altLang="en-US" sz="2000" dirty="0">
                          <a:latin typeface="+mn-lt"/>
                        </a:rPr>
                        <a:t>및 사용자 응용 프로그램에 사용하는</a:t>
                      </a:r>
                      <a:endParaRPr lang="en-US" altLang="ko-KR" sz="2000" dirty="0">
                        <a:latin typeface="+mn-lt"/>
                      </a:endParaRPr>
                    </a:p>
                    <a:p>
                      <a:pPr latinLnBrk="1">
                        <a:buFont typeface="Wingdings" pitchFamily="2" charset="2"/>
                        <a:buNone/>
                      </a:pPr>
                      <a:r>
                        <a:rPr lang="en-US" altLang="ko-KR" sz="2000" dirty="0">
                          <a:latin typeface="+mn-lt"/>
                        </a:rPr>
                        <a:t> </a:t>
                      </a:r>
                      <a:r>
                        <a:rPr lang="ko-KR" altLang="en-US" sz="2000" dirty="0">
                          <a:latin typeface="+mn-lt"/>
                        </a:rPr>
                        <a:t> 응용 프로그램 프로세서 계열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2000" dirty="0">
                          <a:latin typeface="+mn-lt"/>
                        </a:rPr>
                        <a:t> ARM, Thumb,</a:t>
                      </a:r>
                      <a:r>
                        <a:rPr lang="ko-KR" altLang="en-US" sz="2000" dirty="0">
                          <a:latin typeface="+mn-lt"/>
                        </a:rPr>
                        <a:t> </a:t>
                      </a:r>
                      <a:r>
                        <a:rPr lang="en-US" altLang="ko-KR" sz="2000" dirty="0">
                          <a:latin typeface="+mn-lt"/>
                        </a:rPr>
                        <a:t>Thumb-2 </a:t>
                      </a:r>
                      <a:r>
                        <a:rPr lang="ko-KR" altLang="en-US" sz="2000" dirty="0">
                          <a:latin typeface="+mn-lt"/>
                        </a:rPr>
                        <a:t>명령어 세트 지원</a:t>
                      </a:r>
                      <a:endParaRPr lang="en-US" altLang="ko-KR" sz="2000" dirty="0">
                        <a:latin typeface="+mn-lt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2000" dirty="0">
                          <a:latin typeface="+mn-lt"/>
                        </a:rPr>
                        <a:t> Cortex-A8 </a:t>
                      </a:r>
                      <a:r>
                        <a:rPr lang="ko-KR" altLang="en-US" sz="2000" dirty="0">
                          <a:latin typeface="+mn-lt"/>
                        </a:rPr>
                        <a:t>및 </a:t>
                      </a:r>
                      <a:r>
                        <a:rPr lang="en-US" altLang="ko-KR" sz="2000" dirty="0">
                          <a:latin typeface="+mn-lt"/>
                        </a:rPr>
                        <a:t>Cortex-A9 </a:t>
                      </a:r>
                      <a:r>
                        <a:rPr lang="ko-KR" altLang="en-US" sz="2000" dirty="0">
                          <a:latin typeface="+mn-lt"/>
                        </a:rPr>
                        <a:t>프로세서가 있다</a:t>
                      </a:r>
                      <a:endParaRPr lang="en-US" altLang="ko-KR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+mn-lt"/>
                        </a:rPr>
                        <a:t>Cortex-R </a:t>
                      </a:r>
                      <a:endParaRPr lang="ko-KR" altLang="en-US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2000" dirty="0">
                          <a:latin typeface="+mn-lt"/>
                        </a:rPr>
                        <a:t> R –</a:t>
                      </a:r>
                      <a:r>
                        <a:rPr lang="ko-KR" altLang="en-US" sz="2000" dirty="0">
                          <a:latin typeface="+mn-lt"/>
                        </a:rPr>
                        <a:t> </a:t>
                      </a:r>
                      <a:r>
                        <a:rPr lang="en-US" altLang="ko-KR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Real-Time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실시간 시스템을 위한 임베디드 프로세서 계열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ARM, Thumb,</a:t>
                      </a:r>
                      <a:r>
                        <a:rPr lang="ko-KR" alt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Thumb-2 </a:t>
                      </a:r>
                      <a:r>
                        <a:rPr lang="ko-KR" alt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명령어 세트 지원</a:t>
                      </a:r>
                      <a:endParaRPr lang="en-US" altLang="ko-KR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Cortex-R4</a:t>
                      </a:r>
                      <a:r>
                        <a:rPr lang="en-US" altLang="ko-KR" sz="2000" dirty="0">
                          <a:latin typeface="+mn-lt"/>
                        </a:rPr>
                        <a:t>, Cortex-R4F,</a:t>
                      </a:r>
                      <a:r>
                        <a:rPr lang="ko-KR" altLang="en-US" sz="2000" dirty="0">
                          <a:latin typeface="+mn-lt"/>
                        </a:rPr>
                        <a:t> </a:t>
                      </a:r>
                      <a:r>
                        <a:rPr lang="en-US" altLang="ko-KR" sz="2000" dirty="0">
                          <a:latin typeface="+mn-lt"/>
                        </a:rPr>
                        <a:t>Cortex-R4X </a:t>
                      </a:r>
                      <a:r>
                        <a:rPr lang="ko-KR" altLang="en-US" sz="2000" dirty="0">
                          <a:latin typeface="+mn-lt"/>
                        </a:rPr>
                        <a:t>프로세서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+mn-lt"/>
                        </a:rPr>
                        <a:t>Cortex-M </a:t>
                      </a:r>
                      <a:endParaRPr lang="ko-KR" altLang="en-US" sz="2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2000" dirty="0">
                          <a:latin typeface="+mn-lt"/>
                        </a:rPr>
                        <a:t> </a:t>
                      </a:r>
                      <a:r>
                        <a:rPr lang="en-US" altLang="ko-KR" sz="2000" b="1" dirty="0">
                          <a:solidFill>
                            <a:srgbClr val="FF0000"/>
                          </a:solidFill>
                          <a:latin typeface="+mn-lt"/>
                        </a:rPr>
                        <a:t>M –</a:t>
                      </a:r>
                      <a:r>
                        <a:rPr lang="ko-KR" altLang="en-US" sz="2000" b="1" dirty="0">
                          <a:solidFill>
                            <a:srgbClr val="FF0000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2000" b="1" dirty="0">
                          <a:solidFill>
                            <a:srgbClr val="FF0000"/>
                          </a:solidFill>
                          <a:latin typeface="+mn-lt"/>
                        </a:rPr>
                        <a:t>Microcontroller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ko-KR" altLang="en-US" sz="2000" dirty="0">
                          <a:latin typeface="+mn-lt"/>
                        </a:rPr>
                        <a:t> 저가형 응용프로그램에 최적화된</a:t>
                      </a:r>
                      <a:endParaRPr lang="en-US" altLang="ko-KR" sz="2000" dirty="0">
                        <a:latin typeface="+mn-lt"/>
                      </a:endParaRPr>
                    </a:p>
                    <a:p>
                      <a:pPr latinLnBrk="1">
                        <a:buFont typeface="Wingdings" pitchFamily="2" charset="2"/>
                        <a:buNone/>
                      </a:pPr>
                      <a:r>
                        <a:rPr lang="ko-KR" altLang="en-US" sz="2000" baseline="0" dirty="0">
                          <a:latin typeface="+mn-lt"/>
                        </a:rPr>
                        <a:t>  </a:t>
                      </a:r>
                      <a:r>
                        <a:rPr lang="ko-KR" altLang="en-US" sz="2000" dirty="0">
                          <a:latin typeface="+mn-lt"/>
                        </a:rPr>
                        <a:t>임베디드 프로세서 계열에 적합하게 설계</a:t>
                      </a: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2000" dirty="0">
                          <a:latin typeface="+mn-lt"/>
                        </a:rPr>
                        <a:t> </a:t>
                      </a:r>
                      <a:r>
                        <a:rPr lang="en-US" altLang="ko-KR" sz="2000" b="1" dirty="0">
                          <a:solidFill>
                            <a:srgbClr val="FF0000"/>
                          </a:solidFill>
                          <a:latin typeface="+mn-lt"/>
                        </a:rPr>
                        <a:t>Thumb-2 </a:t>
                      </a:r>
                      <a:r>
                        <a:rPr lang="ko-KR" altLang="en-US" sz="2000" dirty="0">
                          <a:latin typeface="+mn-lt"/>
                        </a:rPr>
                        <a:t>명령어 세트만 지원</a:t>
                      </a:r>
                      <a:endParaRPr lang="en-US" altLang="ko-KR" sz="2000" dirty="0">
                        <a:latin typeface="+mn-lt"/>
                      </a:endParaRPr>
                    </a:p>
                    <a:p>
                      <a:pPr latinLnBrk="1">
                        <a:buFont typeface="Wingdings" pitchFamily="2" charset="2"/>
                        <a:buChar char="§"/>
                      </a:pPr>
                      <a:r>
                        <a:rPr lang="en-US" altLang="ko-KR" sz="2000" b="1" dirty="0">
                          <a:solidFill>
                            <a:srgbClr val="FF0000"/>
                          </a:solidFill>
                          <a:latin typeface="+mn-lt"/>
                        </a:rPr>
                        <a:t> Cortex-M3 </a:t>
                      </a:r>
                      <a:r>
                        <a:rPr lang="ko-KR" altLang="en-US" sz="2000" dirty="0">
                          <a:latin typeface="+mn-lt"/>
                        </a:rPr>
                        <a:t>및 </a:t>
                      </a:r>
                      <a:r>
                        <a:rPr lang="en-US" altLang="ko-KR" sz="2000" dirty="0">
                          <a:latin typeface="+mn-lt"/>
                        </a:rPr>
                        <a:t>Cortex-M0, M1 FPGA </a:t>
                      </a:r>
                      <a:r>
                        <a:rPr lang="ko-KR" altLang="en-US" sz="2000" dirty="0">
                          <a:latin typeface="+mn-lt"/>
                        </a:rPr>
                        <a:t>프로세서</a:t>
                      </a:r>
                      <a:endParaRPr lang="en-US" altLang="ko-KR" sz="20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ARM Licenses</a:t>
            </a:r>
            <a:endParaRPr lang="ko-KR" altLang="en-US" dirty="0"/>
          </a:p>
        </p:txBody>
      </p:sp>
      <p:pic>
        <p:nvPicPr>
          <p:cNvPr id="4" name="그림 3" descr="Snap13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34" y="857232"/>
            <a:ext cx="3429024" cy="1643074"/>
          </a:xfrm>
          <a:prstGeom prst="rect">
            <a:avLst/>
          </a:prstGeom>
        </p:spPr>
      </p:pic>
      <p:pic>
        <p:nvPicPr>
          <p:cNvPr id="5" name="그림 4" descr="Snap12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034" y="2643182"/>
            <a:ext cx="8072494" cy="3143272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 bwMode="auto">
          <a:xfrm>
            <a:off x="2500298" y="5429264"/>
            <a:ext cx="157163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ARM7 Architecture</a:t>
            </a:r>
            <a:r>
              <a:rPr lang="ko-KR" altLang="en-US" dirty="0"/>
              <a:t>와 비교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177800" y="785790"/>
          <a:ext cx="8751918" cy="5500728"/>
        </p:xfrm>
        <a:graphic>
          <a:graphicData uri="http://schemas.openxmlformats.org/drawingml/2006/table">
            <a:tbl>
              <a:tblPr/>
              <a:tblGrid>
                <a:gridCol w="2373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6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1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133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ARM7TDMI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ARM Cortex-M3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133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Architecture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ARMv4T (von Neumann)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ARMv7-M (Harvard)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133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ISA Support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Thumb / ARM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Thumb / </a:t>
                      </a:r>
                      <a:r>
                        <a:rPr lang="en-US" sz="1600" b="1" kern="100" dirty="0">
                          <a:latin typeface="+mj-lt"/>
                          <a:ea typeface="맑은 고딕"/>
                          <a:cs typeface="Times New Roman"/>
                        </a:rPr>
                        <a:t>Thumb-2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133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Pipeline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3-stage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3-stage + </a:t>
                      </a:r>
                      <a:r>
                        <a:rPr lang="en-US" sz="1600" b="1" kern="100" dirty="0">
                          <a:latin typeface="+mj-lt"/>
                          <a:ea typeface="맑은 고딕"/>
                          <a:cs typeface="Times New Roman"/>
                        </a:rPr>
                        <a:t>branch speculation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133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Interrupts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FIQ / IRQ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+mj-lt"/>
                          <a:ea typeface="맑은 고딕"/>
                          <a:cs typeface="Times New Roman"/>
                        </a:rPr>
                        <a:t>NMI +1 to 240 physical interrupts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133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Interrupt Latency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24 - 42 cycles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+mj-lt"/>
                          <a:ea typeface="맑은 고딕"/>
                          <a:cs typeface="Times New Roman"/>
                        </a:rPr>
                        <a:t>12 cycles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133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Inter-Interrupt Latency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24 cycles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+mj-lt"/>
                          <a:ea typeface="맑은 고딕"/>
                          <a:cs typeface="Times New Roman"/>
                        </a:rPr>
                        <a:t>6 cycles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133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Sleep Modes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None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Integrated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133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Memory Protection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None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8 region </a:t>
                      </a:r>
                      <a:r>
                        <a:rPr lang="en-US" sz="1600" b="1" kern="100" dirty="0">
                          <a:latin typeface="+mj-lt"/>
                          <a:ea typeface="맑은 고딕"/>
                          <a:cs typeface="Times New Roman"/>
                        </a:rPr>
                        <a:t>MPU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46265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Dhrystone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0.95 DMIPS/MHz (ARM)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0.74 DMIPS/MHz (Thumb)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+mj-lt"/>
                          <a:ea typeface="맑은 고딕"/>
                          <a:cs typeface="Times New Roman"/>
                        </a:rPr>
                        <a:t>1.25 DMIPS</a:t>
                      </a: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/MHz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133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Power Consumption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0.28mW/MHz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+mj-lt"/>
                          <a:ea typeface="맑은 고딕"/>
                          <a:cs typeface="Times New Roman"/>
                        </a:rPr>
                        <a:t>0.19mW</a:t>
                      </a: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/MHz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133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Area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0.62mm</a:t>
                      </a:r>
                      <a:r>
                        <a:rPr lang="en-US" sz="1600" kern="100" baseline="30000">
                          <a:latin typeface="+mj-lt"/>
                          <a:ea typeface="맑은 고딕"/>
                          <a:cs typeface="Times New Roman"/>
                        </a:rPr>
                        <a:t>2</a:t>
                      </a:r>
                      <a:r>
                        <a:rPr lang="en-US" sz="1600" kern="100">
                          <a:latin typeface="+mj-lt"/>
                          <a:ea typeface="맑은 고딕"/>
                          <a:cs typeface="Times New Roman"/>
                        </a:rPr>
                        <a:t> (Core only)</a:t>
                      </a:r>
                      <a:endParaRPr lang="ko-KR" sz="16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0.86mm</a:t>
                      </a:r>
                      <a:r>
                        <a:rPr lang="en-US" sz="1600" kern="100" baseline="30000" dirty="0">
                          <a:latin typeface="+mj-lt"/>
                          <a:ea typeface="맑은 고딕"/>
                          <a:cs typeface="Times New Roman"/>
                        </a:rPr>
                        <a:t>2</a:t>
                      </a:r>
                      <a:r>
                        <a:rPr lang="en-US" sz="1600" kern="100" dirty="0">
                          <a:latin typeface="+mj-lt"/>
                          <a:ea typeface="맑은 고딕"/>
                          <a:cs typeface="Times New Roman"/>
                        </a:rPr>
                        <a:t> (core + peripherals)</a:t>
                      </a:r>
                      <a:endParaRPr lang="ko-KR" sz="16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Pipeline Branch Speculation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00100" y="5786454"/>
            <a:ext cx="8035950" cy="738170"/>
          </a:xfrm>
        </p:spPr>
        <p:txBody>
          <a:bodyPr/>
          <a:lstStyle/>
          <a:p>
            <a:r>
              <a:rPr lang="en-US" altLang="ko-KR" dirty="0"/>
              <a:t>3-stage + branch speculation</a:t>
            </a:r>
          </a:p>
        </p:txBody>
      </p:sp>
      <p:pic>
        <p:nvPicPr>
          <p:cNvPr id="4" name="그림 3" descr="Snap9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1670" y="1009664"/>
            <a:ext cx="4648200" cy="4562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Pipeline Branch Speculation</a:t>
            </a:r>
            <a:endParaRPr lang="ko-KR" altLang="en-US" dirty="0"/>
          </a:p>
        </p:txBody>
      </p:sp>
      <p:pic>
        <p:nvPicPr>
          <p:cNvPr id="7" name="그림 6" descr="Session 1. Cortex-M3 특징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7650" y="928670"/>
            <a:ext cx="8648700" cy="1990725"/>
          </a:xfrm>
          <a:prstGeom prst="rect">
            <a:avLst/>
          </a:prstGeom>
        </p:spPr>
      </p:pic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142976" y="3286124"/>
          <a:ext cx="7143800" cy="2651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7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1768">
                <a:tc>
                  <a:txBody>
                    <a:bodyPr/>
                    <a:lstStyle/>
                    <a:p>
                      <a:r>
                        <a:rPr lang="en-US" altLang="ko-KR" sz="2400" dirty="0"/>
                        <a:t>do {</a:t>
                      </a:r>
                    </a:p>
                    <a:p>
                      <a:r>
                        <a:rPr lang="en-US" altLang="ko-KR" sz="2400" dirty="0"/>
                        <a:t>    execution A</a:t>
                      </a:r>
                    </a:p>
                    <a:p>
                      <a:r>
                        <a:rPr lang="en-US" altLang="ko-KR" sz="2400" dirty="0"/>
                        <a:t>    execution B</a:t>
                      </a:r>
                    </a:p>
                    <a:p>
                      <a:r>
                        <a:rPr lang="en-US" altLang="ko-KR" sz="2400" dirty="0"/>
                        <a:t>    C --;</a:t>
                      </a:r>
                    </a:p>
                    <a:p>
                      <a:r>
                        <a:rPr lang="en-US" altLang="ko-KR" sz="2400" dirty="0"/>
                        <a:t>} while (C &gt; 0);</a:t>
                      </a:r>
                    </a:p>
                    <a:p>
                      <a:r>
                        <a:rPr lang="en-US" altLang="ko-KR" sz="2400" dirty="0"/>
                        <a:t>execution D</a:t>
                      </a:r>
                    </a:p>
                    <a:p>
                      <a:r>
                        <a:rPr lang="en-US" altLang="ko-KR" sz="2400" dirty="0"/>
                        <a:t>execution E</a:t>
                      </a:r>
                      <a:endParaRPr lang="ko-KR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/>
                        <a:t>Front:</a:t>
                      </a:r>
                    </a:p>
                    <a:p>
                      <a:pPr latinLnBrk="1"/>
                      <a:r>
                        <a:rPr lang="en-US" altLang="ko-KR" sz="2400" dirty="0"/>
                        <a:t>    execution A</a:t>
                      </a:r>
                    </a:p>
                    <a:p>
                      <a:pPr latinLnBrk="1"/>
                      <a:r>
                        <a:rPr lang="en-US" altLang="ko-KR" sz="2400" dirty="0"/>
                        <a:t>    execution B</a:t>
                      </a:r>
                    </a:p>
                    <a:p>
                      <a:pPr latinLnBrk="1"/>
                      <a:r>
                        <a:rPr lang="en-US" altLang="ko-KR" sz="2400" dirty="0"/>
                        <a:t>    C --;</a:t>
                      </a:r>
                    </a:p>
                    <a:p>
                      <a:pPr latinLnBrk="1"/>
                      <a:r>
                        <a:rPr lang="en-US" altLang="ko-KR" sz="2400" dirty="0"/>
                        <a:t>    If(C &gt;</a:t>
                      </a:r>
                      <a:r>
                        <a:rPr lang="en-US" altLang="ko-KR" sz="2400" baseline="0" dirty="0"/>
                        <a:t> 0) </a:t>
                      </a:r>
                      <a:r>
                        <a:rPr lang="en-US" altLang="ko-KR" sz="2400" baseline="0" dirty="0" err="1"/>
                        <a:t>goto</a:t>
                      </a:r>
                      <a:r>
                        <a:rPr lang="en-US" altLang="ko-KR" sz="2400" baseline="0" dirty="0"/>
                        <a:t> Front</a:t>
                      </a:r>
                    </a:p>
                    <a:p>
                      <a:pPr latinLnBrk="1"/>
                      <a:r>
                        <a:rPr lang="en-US" altLang="ko-KR" sz="2400" dirty="0"/>
                        <a:t>    execution D</a:t>
                      </a:r>
                    </a:p>
                    <a:p>
                      <a:pPr latinLnBrk="1"/>
                      <a:r>
                        <a:rPr lang="en-US" altLang="ko-KR" sz="2400" dirty="0"/>
                        <a:t>    execution E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Cortex-M3 block diagram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5214950"/>
            <a:ext cx="8858250" cy="1309674"/>
          </a:xfrm>
        </p:spPr>
        <p:txBody>
          <a:bodyPr/>
          <a:lstStyle/>
          <a:p>
            <a:r>
              <a:rPr lang="en-US" altLang="ko-KR" dirty="0"/>
              <a:t>DWT, ITM, ETM </a:t>
            </a:r>
            <a:r>
              <a:rPr lang="ko-KR" altLang="en-US" dirty="0"/>
              <a:t>등 </a:t>
            </a:r>
            <a:r>
              <a:rPr lang="en-US" altLang="ko-KR" dirty="0"/>
              <a:t>debugging,</a:t>
            </a:r>
            <a:r>
              <a:rPr lang="ko-KR" altLang="en-US" dirty="0"/>
              <a:t> </a:t>
            </a:r>
            <a:r>
              <a:rPr lang="en-US" altLang="ko-KR" dirty="0"/>
              <a:t>trace </a:t>
            </a:r>
            <a:r>
              <a:rPr lang="ko-KR" altLang="en-US" dirty="0"/>
              <a:t>관련 부분 보강</a:t>
            </a:r>
            <a:endParaRPr lang="en-US" altLang="ko-KR" dirty="0"/>
          </a:p>
          <a:p>
            <a:r>
              <a:rPr lang="en-US" altLang="ko-KR" dirty="0"/>
              <a:t>STM32</a:t>
            </a:r>
            <a:r>
              <a:rPr lang="ko-KR" altLang="en-US" dirty="0"/>
              <a:t>의 경우 매우 작고 저렴한 가격을 맞추기 위해서 위의 </a:t>
            </a:r>
            <a:r>
              <a:rPr lang="en-US" altLang="ko-KR" dirty="0"/>
              <a:t>Optional </a:t>
            </a:r>
            <a:r>
              <a:rPr lang="ko-KR" altLang="en-US" dirty="0"/>
              <a:t>부분은 대부분은 들어 있지 않다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 descr="Snap10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2112" y="857232"/>
            <a:ext cx="5819775" cy="4219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Cortex-M3 interrupt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643313"/>
            <a:ext cx="8858250" cy="2881311"/>
          </a:xfrm>
        </p:spPr>
        <p:txBody>
          <a:bodyPr/>
          <a:lstStyle/>
          <a:p>
            <a:r>
              <a:rPr lang="en-US" altLang="ko-KR" dirty="0"/>
              <a:t>interrupt</a:t>
            </a:r>
            <a:r>
              <a:rPr lang="ko-KR" altLang="en-US" dirty="0"/>
              <a:t>를 발생시키는 소스가 획기적으로 늘어났다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u="sng" dirty="0">
                <a:solidFill>
                  <a:srgbClr val="FF0000"/>
                </a:solidFill>
              </a:rPr>
              <a:t>시스템에서 관장하는 </a:t>
            </a:r>
            <a:r>
              <a:rPr lang="en-US" altLang="ko-KR" b="1" u="sng" dirty="0">
                <a:solidFill>
                  <a:srgbClr val="FF0000"/>
                </a:solidFill>
              </a:rPr>
              <a:t>16</a:t>
            </a:r>
            <a:r>
              <a:rPr lang="ko-KR" altLang="en-US" b="1" u="sng" dirty="0">
                <a:solidFill>
                  <a:srgbClr val="FF0000"/>
                </a:solidFill>
              </a:rPr>
              <a:t>개의 인터럽트</a:t>
            </a:r>
            <a:r>
              <a:rPr lang="ko-KR" altLang="en-US" dirty="0"/>
              <a:t>를 포함해서 </a:t>
            </a:r>
            <a:r>
              <a:rPr lang="ko-KR" altLang="en-US" b="1" u="sng" dirty="0">
                <a:solidFill>
                  <a:srgbClr val="FF0000"/>
                </a:solidFill>
              </a:rPr>
              <a:t>외부 인터럽트로 </a:t>
            </a:r>
            <a:r>
              <a:rPr lang="en-US" altLang="ko-KR" b="1" u="sng" dirty="0">
                <a:solidFill>
                  <a:srgbClr val="FF0000"/>
                </a:solidFill>
              </a:rPr>
              <a:t>240</a:t>
            </a:r>
            <a:r>
              <a:rPr lang="ko-KR" altLang="en-US" b="1" u="sng" dirty="0">
                <a:solidFill>
                  <a:srgbClr val="FF0000"/>
                </a:solidFill>
              </a:rPr>
              <a:t>개</a:t>
            </a:r>
            <a:r>
              <a:rPr lang="ko-KR" altLang="en-US" dirty="0"/>
              <a:t>까지 할당할 수 있게 되었다</a:t>
            </a:r>
            <a:r>
              <a:rPr lang="en-US" altLang="ko-KR" dirty="0"/>
              <a:t>. </a:t>
            </a:r>
            <a:r>
              <a:rPr lang="ko-KR" altLang="en-US" dirty="0"/>
              <a:t>칩을 만드는 제조사에서 자유롭게 변경 가능한 부분이 될 것이다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가장 중요한 변화는 </a:t>
            </a:r>
            <a:r>
              <a:rPr lang="en-US" altLang="ko-KR" b="1" dirty="0">
                <a:solidFill>
                  <a:srgbClr val="FF0000"/>
                </a:solidFill>
              </a:rPr>
              <a:t>Interrupt Latency</a:t>
            </a:r>
            <a:r>
              <a:rPr lang="ko-KR" altLang="en-US" b="1" dirty="0">
                <a:solidFill>
                  <a:srgbClr val="FF0000"/>
                </a:solidFill>
              </a:rPr>
              <a:t>의 감소</a:t>
            </a:r>
            <a:r>
              <a:rPr lang="ko-KR" altLang="en-US" dirty="0"/>
              <a:t>를 얘기할 수 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Snap11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662" y="1071546"/>
            <a:ext cx="390525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Registers</a:t>
            </a:r>
            <a:endParaRPr lang="ko-KR" altLang="en-US" dirty="0"/>
          </a:p>
        </p:txBody>
      </p:sp>
      <p:pic>
        <p:nvPicPr>
          <p:cNvPr id="5" name="그림 4" descr="Snap2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158" y="785794"/>
            <a:ext cx="8429684" cy="5572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General-purpose registers &amp; Stack pointer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62003"/>
            <a:ext cx="8858250" cy="5667393"/>
          </a:xfrm>
        </p:spPr>
        <p:txBody>
          <a:bodyPr/>
          <a:lstStyle/>
          <a:p>
            <a:pPr>
              <a:buNone/>
            </a:pPr>
            <a:r>
              <a:rPr lang="en-US" altLang="ko-KR" b="1" dirty="0"/>
              <a:t>&lt;General-purpose registers&gt;</a:t>
            </a:r>
          </a:p>
          <a:p>
            <a:r>
              <a:rPr lang="ko-KR" altLang="en-US" dirty="0"/>
              <a:t>범용 레지스터</a:t>
            </a:r>
            <a:r>
              <a:rPr lang="en-US" altLang="ko-KR" dirty="0"/>
              <a:t>. </a:t>
            </a:r>
            <a:r>
              <a:rPr lang="ko-KR" altLang="en-US" dirty="0"/>
              <a:t>대부분의 </a:t>
            </a:r>
            <a:r>
              <a:rPr lang="en-US" altLang="ko-KR" dirty="0"/>
              <a:t>data </a:t>
            </a:r>
            <a:r>
              <a:rPr lang="ko-KR" altLang="en-US" dirty="0"/>
              <a:t>처리 명령어에서 사용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Low </a:t>
            </a:r>
            <a:r>
              <a:rPr lang="ko-KR" altLang="en-US" dirty="0"/>
              <a:t>레지스터</a:t>
            </a:r>
            <a:r>
              <a:rPr lang="en-US" altLang="ko-KR" dirty="0"/>
              <a:t>: R0~R7</a:t>
            </a:r>
            <a:r>
              <a:rPr lang="ko-KR" altLang="en-US" dirty="0"/>
              <a:t>은 범용 레지스터를 사용할수 있는 모든 명령어에서 접근 가능하다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High </a:t>
            </a:r>
            <a:r>
              <a:rPr lang="ko-KR" altLang="en-US" dirty="0"/>
              <a:t>레지스터</a:t>
            </a:r>
            <a:r>
              <a:rPr lang="en-US" altLang="ko-KR" dirty="0"/>
              <a:t>: R8~R12</a:t>
            </a:r>
            <a:r>
              <a:rPr lang="ko-KR" altLang="en-US" dirty="0"/>
              <a:t>는 범용 레지스터를 사용할수 있는 모든 </a:t>
            </a:r>
            <a:r>
              <a:rPr lang="en-US" altLang="ko-KR" dirty="0"/>
              <a:t>32</a:t>
            </a:r>
            <a:r>
              <a:rPr lang="ko-KR" altLang="en-US" dirty="0"/>
              <a:t>비트 명령에서 접근 가능하다</a:t>
            </a:r>
            <a:r>
              <a:rPr lang="en-US" altLang="ko-KR" dirty="0"/>
              <a:t>. </a:t>
            </a:r>
            <a:r>
              <a:rPr lang="en-US" altLang="ko-KR" b="1" u="sng" dirty="0">
                <a:solidFill>
                  <a:srgbClr val="FF0000"/>
                </a:solidFill>
              </a:rPr>
              <a:t>16</a:t>
            </a:r>
            <a:r>
              <a:rPr lang="ko-KR" altLang="en-US" b="1" u="sng" dirty="0">
                <a:solidFill>
                  <a:srgbClr val="FF0000"/>
                </a:solidFill>
              </a:rPr>
              <a:t>비트 명령은 접근할수 없다</a:t>
            </a:r>
            <a:r>
              <a:rPr lang="en-US" altLang="ko-KR" b="1" u="sng" dirty="0">
                <a:solidFill>
                  <a:srgbClr val="FF0000"/>
                </a:solidFill>
              </a:rPr>
              <a:t>.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b="1" dirty="0"/>
              <a:t>&lt;Stack pointer&gt;</a:t>
            </a:r>
          </a:p>
          <a:p>
            <a:r>
              <a:rPr lang="en-US" altLang="ko-KR" dirty="0"/>
              <a:t>Stack Pointer (SP)</a:t>
            </a:r>
            <a:r>
              <a:rPr lang="ko-KR" altLang="en-US" dirty="0"/>
              <a:t>는 </a:t>
            </a:r>
            <a:r>
              <a:rPr lang="en-US" altLang="ko-KR" dirty="0"/>
              <a:t>register R13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Thread mode</a:t>
            </a:r>
            <a:r>
              <a:rPr lang="ko-KR" altLang="en-US" dirty="0"/>
              <a:t>에서 </a:t>
            </a:r>
            <a:r>
              <a:rPr lang="en-US" altLang="ko-KR" dirty="0"/>
              <a:t>CONTROL register</a:t>
            </a:r>
            <a:r>
              <a:rPr lang="ko-KR" altLang="en-US" dirty="0"/>
              <a:t>의 </a:t>
            </a:r>
            <a:r>
              <a:rPr lang="en-US" altLang="ko-KR" dirty="0"/>
              <a:t>bit[1]</a:t>
            </a:r>
            <a:r>
              <a:rPr lang="ko-KR" altLang="en-US" dirty="0"/>
              <a:t>은 사용될 </a:t>
            </a:r>
            <a:r>
              <a:rPr lang="en-US" altLang="ko-KR" dirty="0"/>
              <a:t>stack pointer</a:t>
            </a:r>
            <a:r>
              <a:rPr lang="ko-KR" altLang="en-US" dirty="0"/>
              <a:t>를 아래와 같이 지정한다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0 = Main Stack Pointer (MSP). </a:t>
            </a:r>
            <a:r>
              <a:rPr lang="ko-KR" altLang="en-US" dirty="0"/>
              <a:t>초기 </a:t>
            </a:r>
            <a:r>
              <a:rPr lang="en-US" altLang="ko-KR" dirty="0"/>
              <a:t>reset value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1 = Process Stack Pointer (PSP).</a:t>
            </a:r>
          </a:p>
          <a:p>
            <a:r>
              <a:rPr lang="en-US" altLang="ko-KR" b="1" u="sng" dirty="0">
                <a:solidFill>
                  <a:srgbClr val="FF0000"/>
                </a:solidFill>
              </a:rPr>
              <a:t>Reset</a:t>
            </a:r>
            <a:r>
              <a:rPr lang="ko-KR" altLang="en-US" b="1" u="sng" dirty="0">
                <a:solidFill>
                  <a:srgbClr val="FF0000"/>
                </a:solidFill>
              </a:rPr>
              <a:t>시 </a:t>
            </a:r>
            <a:r>
              <a:rPr lang="en-US" altLang="ko-KR" b="1" u="sng" dirty="0">
                <a:solidFill>
                  <a:srgbClr val="FF0000"/>
                </a:solidFill>
              </a:rPr>
              <a:t>processor</a:t>
            </a:r>
            <a:r>
              <a:rPr lang="ko-KR" altLang="en-US" b="1" u="sng" dirty="0">
                <a:solidFill>
                  <a:srgbClr val="FF0000"/>
                </a:solidFill>
              </a:rPr>
              <a:t>는 </a:t>
            </a:r>
            <a:r>
              <a:rPr lang="en-US" altLang="ko-KR" b="1" u="sng" dirty="0">
                <a:solidFill>
                  <a:srgbClr val="FF0000"/>
                </a:solidFill>
              </a:rPr>
              <a:t>MSP</a:t>
            </a:r>
            <a:r>
              <a:rPr lang="ko-KR" altLang="en-US" b="1" u="sng" dirty="0">
                <a:solidFill>
                  <a:srgbClr val="FF0000"/>
                </a:solidFill>
              </a:rPr>
              <a:t>로 </a:t>
            </a:r>
            <a:r>
              <a:rPr lang="en-US" altLang="ko-KR" b="1" u="sng" dirty="0">
                <a:solidFill>
                  <a:srgbClr val="FF0000"/>
                </a:solidFill>
              </a:rPr>
              <a:t>address 0x00000000</a:t>
            </a:r>
            <a:r>
              <a:rPr lang="ko-KR" altLang="en-US" b="1" u="sng" dirty="0">
                <a:solidFill>
                  <a:srgbClr val="FF0000"/>
                </a:solidFill>
              </a:rPr>
              <a:t>으로부터 값을 </a:t>
            </a:r>
            <a:r>
              <a:rPr lang="en-US" altLang="ko-KR" b="1" u="sng" dirty="0">
                <a:solidFill>
                  <a:srgbClr val="FF0000"/>
                </a:solidFill>
              </a:rPr>
              <a:t>load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 Privilege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2571744"/>
            <a:ext cx="8858250" cy="3857652"/>
          </a:xfrm>
        </p:spPr>
        <p:txBody>
          <a:bodyPr/>
          <a:lstStyle/>
          <a:p>
            <a:r>
              <a:rPr lang="en-US" altLang="ko-KR" dirty="0"/>
              <a:t>Processor mode</a:t>
            </a:r>
            <a:r>
              <a:rPr lang="ko-KR" altLang="en-US" dirty="0"/>
              <a:t>는 </a:t>
            </a:r>
            <a:r>
              <a:rPr lang="en-US" altLang="ko-KR" b="1" u="sng" dirty="0">
                <a:solidFill>
                  <a:srgbClr val="0000FF"/>
                </a:solidFill>
              </a:rPr>
              <a:t>Thread mode</a:t>
            </a:r>
            <a:r>
              <a:rPr lang="ko-KR" altLang="en-US" b="1" u="sng" dirty="0">
                <a:solidFill>
                  <a:srgbClr val="0000FF"/>
                </a:solidFill>
              </a:rPr>
              <a:t>와 </a:t>
            </a:r>
            <a:r>
              <a:rPr lang="en-US" altLang="ko-KR" b="1" u="sng" dirty="0">
                <a:solidFill>
                  <a:srgbClr val="0000FF"/>
                </a:solidFill>
              </a:rPr>
              <a:t>Handler mode</a:t>
            </a:r>
            <a:r>
              <a:rPr lang="ko-KR" altLang="en-US" dirty="0"/>
              <a:t>로 나뉩니다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프로세서가 보통의 </a:t>
            </a:r>
            <a:r>
              <a:rPr lang="en-US" altLang="ko-KR" dirty="0"/>
              <a:t>Application Program</a:t>
            </a:r>
            <a:r>
              <a:rPr lang="ko-KR" altLang="en-US" dirty="0"/>
              <a:t>을 실행하는지 </a:t>
            </a:r>
            <a:r>
              <a:rPr lang="en-US" altLang="ko-KR" dirty="0"/>
              <a:t>- Thread mode</a:t>
            </a:r>
          </a:p>
          <a:p>
            <a:pPr lvl="1"/>
            <a:r>
              <a:rPr lang="en-US" altLang="ko-KR" dirty="0"/>
              <a:t>Exception handler</a:t>
            </a:r>
            <a:r>
              <a:rPr lang="ko-KR" altLang="en-US" dirty="0"/>
              <a:t>를 실행하는지를 결정 </a:t>
            </a:r>
            <a:r>
              <a:rPr lang="en-US" altLang="ko-KR" dirty="0"/>
              <a:t>- Handler mode</a:t>
            </a:r>
          </a:p>
          <a:p>
            <a:pPr lvl="1"/>
            <a:r>
              <a:rPr lang="ko-KR" altLang="en-US" b="1" u="sng" dirty="0">
                <a:solidFill>
                  <a:srgbClr val="C00000"/>
                </a:solidFill>
              </a:rPr>
              <a:t>처음 </a:t>
            </a:r>
            <a:r>
              <a:rPr lang="en-US" altLang="ko-KR" b="1" u="sng" dirty="0">
                <a:solidFill>
                  <a:srgbClr val="C00000"/>
                </a:solidFill>
              </a:rPr>
              <a:t>Reset</a:t>
            </a:r>
            <a:r>
              <a:rPr lang="ko-KR" altLang="en-US" b="1" u="sng" dirty="0">
                <a:solidFill>
                  <a:srgbClr val="C00000"/>
                </a:solidFill>
              </a:rPr>
              <a:t>이 되었을 때 프로세서는 </a:t>
            </a:r>
            <a:r>
              <a:rPr lang="en-US" altLang="ko-KR" b="1" u="sng" dirty="0">
                <a:solidFill>
                  <a:srgbClr val="C00000"/>
                </a:solidFill>
              </a:rPr>
              <a:t>Thread mode</a:t>
            </a:r>
            <a:r>
              <a:rPr lang="ko-KR" altLang="en-US" dirty="0"/>
              <a:t>에 진입</a:t>
            </a:r>
            <a:endParaRPr lang="en-US" altLang="ko-KR" dirty="0"/>
          </a:p>
          <a:p>
            <a:pPr lvl="1"/>
            <a:r>
              <a:rPr lang="en-US" altLang="ko-KR" dirty="0"/>
              <a:t>Exception </a:t>
            </a:r>
            <a:r>
              <a:rPr lang="ko-KR" altLang="en-US" dirty="0"/>
              <a:t>처리를 끝내면 </a:t>
            </a:r>
            <a:r>
              <a:rPr lang="en-US" altLang="ko-KR" dirty="0"/>
              <a:t>Thread mode</a:t>
            </a:r>
            <a:r>
              <a:rPr lang="ko-KR" altLang="en-US" dirty="0"/>
              <a:t>로 되돌아 간다</a:t>
            </a:r>
            <a:r>
              <a:rPr lang="en-US" altLang="ko-KR" dirty="0"/>
              <a:t>.</a:t>
            </a:r>
          </a:p>
          <a:p>
            <a:pPr>
              <a:buNone/>
            </a:pPr>
            <a:endParaRPr lang="en-US" altLang="ko-KR" dirty="0"/>
          </a:p>
          <a:p>
            <a:r>
              <a:rPr lang="en-US" altLang="ko-KR" dirty="0"/>
              <a:t>Privilege level</a:t>
            </a:r>
            <a:r>
              <a:rPr lang="ko-KR" altLang="en-US" dirty="0"/>
              <a:t>은 특권 레벨과 사용자 레벨</a:t>
            </a:r>
            <a:endParaRPr lang="en-US" altLang="ko-KR" dirty="0"/>
          </a:p>
          <a:p>
            <a:pPr lvl="1"/>
            <a:r>
              <a:rPr lang="en-US" altLang="ko-KR" b="1" u="sng" dirty="0">
                <a:solidFill>
                  <a:srgbClr val="0000FF"/>
                </a:solidFill>
              </a:rPr>
              <a:t>Privilege level</a:t>
            </a:r>
            <a:r>
              <a:rPr lang="ko-KR" altLang="en-US" b="1" u="sng" dirty="0">
                <a:solidFill>
                  <a:srgbClr val="0000FF"/>
                </a:solidFill>
              </a:rPr>
              <a:t>과 </a:t>
            </a:r>
            <a:r>
              <a:rPr lang="en-US" altLang="ko-KR" b="1" u="sng" dirty="0">
                <a:solidFill>
                  <a:srgbClr val="0000FF"/>
                </a:solidFill>
              </a:rPr>
              <a:t>Unprivileged level</a:t>
            </a:r>
            <a:r>
              <a:rPr lang="ko-KR" altLang="en-US" dirty="0"/>
              <a:t>로 구분 </a:t>
            </a:r>
            <a:r>
              <a:rPr lang="en-US" altLang="ko-KR" dirty="0"/>
              <a:t>-</a:t>
            </a:r>
            <a:r>
              <a:rPr lang="ko-KR" altLang="en-US" dirty="0"/>
              <a:t> 보호를 목적</a:t>
            </a:r>
            <a:endParaRPr lang="en-US" altLang="ko-KR" dirty="0"/>
          </a:p>
          <a:p>
            <a:pPr lvl="1"/>
            <a:r>
              <a:rPr lang="ko-KR" altLang="en-US" dirty="0"/>
              <a:t>사용자의 프로그램이 뜻하지 않은 동작으로 중요한 부분에 침해가 발생할 수 있는 가능성을 미연에 방지하려는 것</a:t>
            </a:r>
            <a:endParaRPr lang="en-US" altLang="ko-KR" dirty="0"/>
          </a:p>
          <a:p>
            <a:pPr lvl="1"/>
            <a:r>
              <a:rPr lang="en-US" altLang="ko-KR" dirty="0"/>
              <a:t>Critical</a:t>
            </a:r>
            <a:r>
              <a:rPr lang="ko-KR" altLang="en-US" dirty="0"/>
              <a:t>한 영역으로의 메모리 접근을 보호하기 위한 방법 제공</a:t>
            </a:r>
            <a:endParaRPr lang="en-US" altLang="ko-KR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Picture 1" descr="Snap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128" y="857232"/>
            <a:ext cx="8753583" cy="15001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Link register &amp; Program counter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4"/>
            <a:ext cx="8858250" cy="5643602"/>
          </a:xfrm>
        </p:spPr>
        <p:txBody>
          <a:bodyPr/>
          <a:lstStyle/>
          <a:p>
            <a:pPr>
              <a:buNone/>
            </a:pPr>
            <a:r>
              <a:rPr lang="en-US" altLang="ko-KR" b="1" dirty="0"/>
              <a:t>&lt;Link register&gt;</a:t>
            </a:r>
          </a:p>
          <a:p>
            <a:r>
              <a:rPr lang="en-US" altLang="ko-KR" dirty="0"/>
              <a:t>Link Register (LR)</a:t>
            </a:r>
            <a:r>
              <a:rPr lang="ko-KR" altLang="en-US" dirty="0"/>
              <a:t>는 </a:t>
            </a:r>
            <a:r>
              <a:rPr lang="en-US" altLang="ko-KR" dirty="0"/>
              <a:t>register R14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subroutines, function calls</a:t>
            </a:r>
            <a:r>
              <a:rPr lang="ko-KR" altLang="en-US" dirty="0"/>
              <a:t>이나 </a:t>
            </a:r>
            <a:r>
              <a:rPr lang="en-US" altLang="ko-KR" dirty="0"/>
              <a:t>exceptions</a:t>
            </a:r>
            <a:r>
              <a:rPr lang="ko-KR" altLang="en-US" dirty="0"/>
              <a:t>에 대한 </a:t>
            </a:r>
            <a:r>
              <a:rPr lang="en-US" altLang="ko-KR" dirty="0"/>
              <a:t>return </a:t>
            </a:r>
            <a:r>
              <a:rPr lang="ko-KR" altLang="en-US" dirty="0"/>
              <a:t>정보를 저장하고 있다</a:t>
            </a:r>
            <a:r>
              <a:rPr lang="en-US" altLang="ko-KR" dirty="0"/>
              <a:t>.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b="1" dirty="0"/>
              <a:t>&lt;Program counter&gt;</a:t>
            </a:r>
            <a:endParaRPr lang="en-US" altLang="ko-KR" dirty="0"/>
          </a:p>
          <a:p>
            <a:r>
              <a:rPr lang="en-US" altLang="ko-KR" dirty="0"/>
              <a:t>Program Counter (PC)</a:t>
            </a:r>
            <a:r>
              <a:rPr lang="ko-KR" altLang="en-US" dirty="0"/>
              <a:t>는 </a:t>
            </a:r>
            <a:r>
              <a:rPr lang="en-US" altLang="ko-KR" dirty="0"/>
              <a:t>register R15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현재의 </a:t>
            </a:r>
            <a:r>
              <a:rPr lang="en-US" altLang="ko-KR" dirty="0"/>
              <a:t>program </a:t>
            </a:r>
            <a:r>
              <a:rPr lang="ko-KR" altLang="en-US" dirty="0"/>
              <a:t>주소값을 가지고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instruction fetch</a:t>
            </a:r>
            <a:r>
              <a:rPr lang="ko-KR" altLang="en-US" dirty="0"/>
              <a:t>가 반드시 </a:t>
            </a:r>
            <a:r>
              <a:rPr lang="en-US" altLang="ko-KR" dirty="0"/>
              <a:t>halfword aligned</a:t>
            </a:r>
            <a:r>
              <a:rPr lang="ko-KR" altLang="en-US" dirty="0"/>
              <a:t>되어 있어야 하기 때문에 </a:t>
            </a:r>
            <a:r>
              <a:rPr lang="en-US" altLang="ko-KR" dirty="0"/>
              <a:t>Bit[0]</a:t>
            </a:r>
            <a:r>
              <a:rPr lang="ko-KR" altLang="en-US" dirty="0"/>
              <a:t>는 항상 </a:t>
            </a:r>
            <a:r>
              <a:rPr lang="en-US" altLang="ko-KR" dirty="0"/>
              <a:t>1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Reset</a:t>
            </a:r>
            <a:r>
              <a:rPr lang="ko-KR" altLang="en-US" dirty="0"/>
              <a:t>시 </a:t>
            </a:r>
            <a:r>
              <a:rPr lang="en-US" altLang="ko-KR" dirty="0"/>
              <a:t>processor</a:t>
            </a:r>
            <a:r>
              <a:rPr lang="ko-KR" altLang="en-US" dirty="0"/>
              <a:t>는 </a:t>
            </a:r>
            <a:r>
              <a:rPr lang="en-US" altLang="ko-KR" b="1" u="sng" dirty="0">
                <a:solidFill>
                  <a:srgbClr val="FF0000"/>
                </a:solidFill>
              </a:rPr>
              <a:t>reset vector</a:t>
            </a:r>
            <a:r>
              <a:rPr lang="ko-KR" altLang="en-US" b="1" u="sng" dirty="0">
                <a:solidFill>
                  <a:srgbClr val="FF0000"/>
                </a:solidFill>
              </a:rPr>
              <a:t>의 값을 </a:t>
            </a:r>
            <a:r>
              <a:rPr lang="en-US" altLang="ko-KR" b="1" u="sng" dirty="0">
                <a:solidFill>
                  <a:srgbClr val="FF0000"/>
                </a:solidFill>
              </a:rPr>
              <a:t>PC</a:t>
            </a:r>
            <a:r>
              <a:rPr lang="ko-KR" altLang="en-US" b="1" u="sng" dirty="0">
                <a:solidFill>
                  <a:srgbClr val="FF0000"/>
                </a:solidFill>
              </a:rPr>
              <a:t>로 </a:t>
            </a:r>
            <a:r>
              <a:rPr lang="en-US" altLang="ko-KR" b="1" u="sng" dirty="0">
                <a:solidFill>
                  <a:srgbClr val="FF0000"/>
                </a:solidFill>
              </a:rPr>
              <a:t>load</a:t>
            </a:r>
            <a:r>
              <a:rPr lang="ko-KR" altLang="en-US" b="1" u="sng" dirty="0">
                <a:solidFill>
                  <a:srgbClr val="FF0000"/>
                </a:solidFill>
              </a:rPr>
              <a:t>한다</a:t>
            </a:r>
            <a:r>
              <a:rPr lang="en-US" altLang="ko-KR" b="1" u="sng" dirty="0">
                <a:solidFill>
                  <a:srgbClr val="FF0000"/>
                </a:solidFill>
              </a:rPr>
              <a:t>. </a:t>
            </a:r>
            <a:r>
              <a:rPr lang="ko-KR" altLang="en-US" b="1" u="sng" dirty="0">
                <a:solidFill>
                  <a:srgbClr val="FF0000"/>
                </a:solidFill>
              </a:rPr>
              <a:t>이때의 주소값은 </a:t>
            </a:r>
            <a:r>
              <a:rPr lang="en-US" altLang="ko-KR" b="1" u="sng" dirty="0">
                <a:solidFill>
                  <a:srgbClr val="FF0000"/>
                </a:solidFill>
              </a:rPr>
              <a:t>0x00000004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Program status register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214686"/>
            <a:ext cx="8858250" cy="3143272"/>
          </a:xfrm>
        </p:spPr>
        <p:txBody>
          <a:bodyPr/>
          <a:lstStyle/>
          <a:p>
            <a:r>
              <a:rPr lang="en-US" altLang="ko-KR" dirty="0"/>
              <a:t>Program Status Register (PSR)</a:t>
            </a:r>
            <a:r>
              <a:rPr lang="ko-KR" altLang="en-US" dirty="0"/>
              <a:t>은 다음으로 구성된다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Application Program Status Register (APSR)</a:t>
            </a:r>
          </a:p>
          <a:p>
            <a:pPr lvl="1"/>
            <a:r>
              <a:rPr lang="en-US" altLang="ko-KR" dirty="0"/>
              <a:t>Interrupt Program Status Register (IPSR):</a:t>
            </a:r>
          </a:p>
          <a:p>
            <a:pPr lvl="1">
              <a:buNone/>
            </a:pPr>
            <a:r>
              <a:rPr lang="en-US" altLang="ko-KR" dirty="0"/>
              <a:t>    </a:t>
            </a:r>
            <a:r>
              <a:rPr lang="ko-KR" altLang="en-US" dirty="0"/>
              <a:t>현재 </a:t>
            </a:r>
            <a:r>
              <a:rPr lang="en-US" altLang="ko-KR" dirty="0"/>
              <a:t>Interrupt Service Routine (ISR)</a:t>
            </a:r>
            <a:r>
              <a:rPr lang="ko-KR" altLang="en-US" dirty="0"/>
              <a:t>의 </a:t>
            </a:r>
            <a:r>
              <a:rPr lang="en-US" altLang="ko-KR" dirty="0"/>
              <a:t>exception type </a:t>
            </a:r>
            <a:r>
              <a:rPr lang="ko-KR" altLang="en-US" dirty="0"/>
              <a:t>번호 저장 </a:t>
            </a:r>
            <a:endParaRPr lang="en-US" altLang="ko-KR" dirty="0"/>
          </a:p>
          <a:p>
            <a:pPr lvl="1"/>
            <a:r>
              <a:rPr lang="en-US" altLang="ko-KR" dirty="0"/>
              <a:t>Execution Program Status Register (EPSR)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개의 레지스터들은 </a:t>
            </a:r>
            <a:r>
              <a:rPr lang="en-US" altLang="ko-KR" dirty="0"/>
              <a:t>32-bit PSR</a:t>
            </a:r>
            <a:r>
              <a:rPr lang="ko-KR" altLang="en-US" dirty="0"/>
              <a:t>에 </a:t>
            </a:r>
            <a:r>
              <a:rPr lang="ko-KR" altLang="en-US" b="1" u="sng" dirty="0">
                <a:solidFill>
                  <a:srgbClr val="C00000"/>
                </a:solidFill>
              </a:rPr>
              <a:t>비트 영역이 서로 겹치지 않는다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이들 레지스터들에 대한 </a:t>
            </a:r>
            <a:r>
              <a:rPr lang="ko-KR" altLang="en-US" b="1" u="sng" dirty="0"/>
              <a:t>접근은 개별적으로도 가능하고 둘이나 혹은 모든 </a:t>
            </a:r>
            <a:r>
              <a:rPr lang="en-US" altLang="ko-KR" b="1" u="sng" dirty="0"/>
              <a:t>3</a:t>
            </a:r>
            <a:r>
              <a:rPr lang="ko-KR" altLang="en-US" b="1" u="sng" dirty="0"/>
              <a:t>개의 레지스터를 한꺼번에 조합해서도 접근이 가능</a:t>
            </a:r>
            <a:r>
              <a:rPr lang="ko-KR" altLang="en-US" dirty="0"/>
              <a:t>하다</a:t>
            </a:r>
            <a:r>
              <a:rPr lang="en-US" altLang="ko-KR" dirty="0"/>
              <a:t>. </a:t>
            </a:r>
            <a:r>
              <a:rPr lang="ko-KR" altLang="en-US" dirty="0"/>
              <a:t>사용하는 명령에 </a:t>
            </a:r>
            <a:r>
              <a:rPr lang="en-US" altLang="ko-KR" dirty="0"/>
              <a:t>argument</a:t>
            </a:r>
            <a:r>
              <a:rPr lang="ko-KR" altLang="en-US" dirty="0"/>
              <a:t>로 각각의 이름을 주면된다</a:t>
            </a:r>
            <a:r>
              <a:rPr lang="en-US" altLang="ko-KR" dirty="0"/>
              <a:t>. </a:t>
            </a:r>
          </a:p>
        </p:txBody>
      </p:sp>
      <p:pic>
        <p:nvPicPr>
          <p:cNvPr id="4" name="그림 3" descr="Snap6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34" y="928670"/>
            <a:ext cx="6572296" cy="20002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Control Register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2000240"/>
            <a:ext cx="8858250" cy="4429156"/>
          </a:xfrm>
        </p:spPr>
        <p:txBody>
          <a:bodyPr/>
          <a:lstStyle/>
          <a:p>
            <a:r>
              <a:rPr lang="en-US" altLang="ko-KR" dirty="0"/>
              <a:t>stack</a:t>
            </a:r>
            <a:r>
              <a:rPr lang="ko-KR" altLang="en-US" dirty="0"/>
              <a:t>과 </a:t>
            </a:r>
            <a:r>
              <a:rPr lang="en-US" altLang="ko-KR" dirty="0"/>
              <a:t>Thread mode</a:t>
            </a:r>
            <a:r>
              <a:rPr lang="ko-KR" altLang="en-US" dirty="0"/>
              <a:t> </a:t>
            </a:r>
            <a:r>
              <a:rPr lang="en-US" altLang="ko-KR" dirty="0"/>
              <a:t>privilege level</a:t>
            </a:r>
            <a:r>
              <a:rPr lang="ko-KR" altLang="en-US" dirty="0"/>
              <a:t>을 </a:t>
            </a:r>
            <a:r>
              <a:rPr lang="en-US" altLang="ko-KR" dirty="0"/>
              <a:t>control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Bit 1 ASPSEL: Active stack pointer selection, </a:t>
            </a:r>
            <a:r>
              <a:rPr lang="ko-KR" altLang="en-US" dirty="0"/>
              <a:t>현재 </a:t>
            </a:r>
            <a:r>
              <a:rPr lang="en-US" altLang="ko-KR" dirty="0"/>
              <a:t>stack</a:t>
            </a:r>
            <a:r>
              <a:rPr lang="ko-KR" altLang="en-US" dirty="0"/>
              <a:t> 선택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stack pointer - 0: MSP, 1: PSP</a:t>
            </a:r>
          </a:p>
          <a:p>
            <a:pPr lvl="1"/>
            <a:r>
              <a:rPr lang="en-US" altLang="ko-KR" dirty="0"/>
              <a:t>Handler mode</a:t>
            </a:r>
            <a:r>
              <a:rPr lang="ko-KR" altLang="en-US" dirty="0"/>
              <a:t>에서 읽으면 </a:t>
            </a:r>
            <a:r>
              <a:rPr lang="en-US" altLang="ko-KR" dirty="0"/>
              <a:t>0</a:t>
            </a:r>
            <a:r>
              <a:rPr lang="ko-KR" altLang="en-US" dirty="0"/>
              <a:t>이고 </a:t>
            </a:r>
            <a:r>
              <a:rPr lang="en-US" altLang="ko-KR" dirty="0"/>
              <a:t>write</a:t>
            </a:r>
            <a:r>
              <a:rPr lang="ko-KR" altLang="en-US" dirty="0"/>
              <a:t>는 무시 </a:t>
            </a:r>
            <a:r>
              <a:rPr lang="en-US" altLang="ko-KR" dirty="0"/>
              <a:t>(</a:t>
            </a:r>
            <a:r>
              <a:rPr lang="ko-KR" altLang="en-US" dirty="0"/>
              <a:t>항상 </a:t>
            </a:r>
            <a:r>
              <a:rPr lang="en-US" altLang="ko-KR" dirty="0"/>
              <a:t>MSP</a:t>
            </a:r>
            <a:r>
              <a:rPr lang="ko-KR" altLang="en-US" dirty="0"/>
              <a:t> 사용하기 때문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Bit 0 TPL: Thread mode privilege level</a:t>
            </a:r>
          </a:p>
          <a:p>
            <a:pPr lvl="1"/>
            <a:r>
              <a:rPr lang="en-US" altLang="ko-KR" dirty="0"/>
              <a:t>0: Privileged, 1: Unprivileged.</a:t>
            </a:r>
          </a:p>
          <a:p>
            <a:r>
              <a:rPr lang="en-US" altLang="ko-KR" dirty="0"/>
              <a:t>OS </a:t>
            </a:r>
            <a:r>
              <a:rPr lang="ko-KR" altLang="en-US" dirty="0"/>
              <a:t>환경에서</a:t>
            </a:r>
            <a:r>
              <a:rPr lang="en-US" altLang="ko-KR" dirty="0"/>
              <a:t>, Thread mode</a:t>
            </a:r>
            <a:r>
              <a:rPr lang="ko-KR" altLang="en-US" dirty="0"/>
              <a:t>에서 동작하는 </a:t>
            </a:r>
            <a:r>
              <a:rPr lang="en-US" altLang="ko-KR" dirty="0"/>
              <a:t>thread</a:t>
            </a:r>
            <a:r>
              <a:rPr lang="ko-KR" altLang="en-US" dirty="0"/>
              <a:t>는 </a:t>
            </a:r>
            <a:r>
              <a:rPr lang="en-US" altLang="ko-KR" dirty="0"/>
              <a:t>process stack</a:t>
            </a:r>
            <a:r>
              <a:rPr lang="ko-KR" altLang="en-US" dirty="0"/>
              <a:t> 사용하고</a:t>
            </a:r>
            <a:r>
              <a:rPr lang="en-US" altLang="ko-KR" dirty="0"/>
              <a:t>, kernel</a:t>
            </a:r>
            <a:r>
              <a:rPr lang="ko-KR" altLang="en-US" dirty="0"/>
              <a:t>과 </a:t>
            </a:r>
            <a:r>
              <a:rPr lang="en-US" altLang="ko-KR" dirty="0"/>
              <a:t>exception handlers</a:t>
            </a:r>
            <a:r>
              <a:rPr lang="ko-KR" altLang="en-US" dirty="0"/>
              <a:t>는 </a:t>
            </a:r>
            <a:r>
              <a:rPr lang="en-US" altLang="ko-KR" dirty="0"/>
              <a:t>main stack</a:t>
            </a:r>
            <a:r>
              <a:rPr lang="ko-KR" altLang="en-US" dirty="0"/>
              <a:t>을 사용</a:t>
            </a:r>
            <a:endParaRPr lang="en-US" altLang="ko-KR" dirty="0"/>
          </a:p>
          <a:p>
            <a:r>
              <a:rPr lang="en-US" altLang="ko-KR" dirty="0"/>
              <a:t>Thread mode</a:t>
            </a:r>
            <a:r>
              <a:rPr lang="ko-KR" altLang="en-US" dirty="0"/>
              <a:t>는 </a:t>
            </a:r>
            <a:r>
              <a:rPr lang="en-US" altLang="ko-KR" dirty="0"/>
              <a:t>MSP</a:t>
            </a:r>
            <a:r>
              <a:rPr lang="ko-KR" altLang="en-US" dirty="0"/>
              <a:t>를 사용한다</a:t>
            </a:r>
            <a:r>
              <a:rPr lang="en-US" altLang="ko-KR" dirty="0"/>
              <a:t>. PSP</a:t>
            </a:r>
            <a:r>
              <a:rPr lang="ko-KR" altLang="en-US" dirty="0"/>
              <a:t>로 바꾸려고 하면 </a:t>
            </a:r>
            <a:r>
              <a:rPr lang="en-US" altLang="ko-KR" dirty="0"/>
              <a:t>MSR </a:t>
            </a:r>
            <a:r>
              <a:rPr lang="ko-KR" altLang="en-US" dirty="0"/>
              <a:t>명령을 통해서 </a:t>
            </a:r>
            <a:r>
              <a:rPr lang="en-US" altLang="ko-KR" dirty="0"/>
              <a:t>ASPSEL</a:t>
            </a:r>
            <a:r>
              <a:rPr lang="ko-KR" altLang="en-US" dirty="0"/>
              <a:t>을 </a:t>
            </a:r>
            <a:r>
              <a:rPr lang="en-US" altLang="ko-KR" dirty="0"/>
              <a:t>1</a:t>
            </a:r>
            <a:r>
              <a:rPr lang="ko-KR" altLang="en-US" dirty="0"/>
              <a:t>로 바꾸어야 한다</a:t>
            </a:r>
            <a:r>
              <a:rPr lang="en-US" altLang="ko-KR" dirty="0"/>
              <a:t>. stack pointer</a:t>
            </a:r>
            <a:r>
              <a:rPr lang="ko-KR" altLang="en-US" dirty="0"/>
              <a:t>를 바꿀 때 </a:t>
            </a:r>
            <a:r>
              <a:rPr lang="en-US" altLang="ko-KR" dirty="0"/>
              <a:t>MSR </a:t>
            </a:r>
            <a:r>
              <a:rPr lang="ko-KR" altLang="en-US" dirty="0"/>
              <a:t>다음에 </a:t>
            </a:r>
            <a:r>
              <a:rPr lang="en-US" altLang="ko-KR" b="1" u="sng" dirty="0">
                <a:solidFill>
                  <a:srgbClr val="C00000"/>
                </a:solidFill>
              </a:rPr>
              <a:t>ISB(Instruction Synchronization Barrier)</a:t>
            </a:r>
            <a:r>
              <a:rPr lang="ko-KR" altLang="en-US" dirty="0"/>
              <a:t>을 사용해야 한다</a:t>
            </a:r>
            <a:r>
              <a:rPr lang="en-US" altLang="ko-KR" dirty="0"/>
              <a:t>. </a:t>
            </a:r>
            <a:r>
              <a:rPr lang="ko-KR" altLang="en-US" dirty="0"/>
              <a:t>이것은 </a:t>
            </a:r>
            <a:r>
              <a:rPr lang="en-US" altLang="ko-KR" dirty="0"/>
              <a:t>ISB </a:t>
            </a:r>
            <a:r>
              <a:rPr lang="ko-KR" altLang="en-US" dirty="0"/>
              <a:t>이후 명령들이 새로운 </a:t>
            </a:r>
            <a:r>
              <a:rPr lang="en-US" altLang="ko-KR" dirty="0"/>
              <a:t>stack pointer</a:t>
            </a:r>
            <a:r>
              <a:rPr lang="ko-KR" altLang="en-US" dirty="0"/>
              <a:t>를 사용해서 수행하도록 해준다</a:t>
            </a:r>
            <a:r>
              <a:rPr lang="en-US" altLang="ko-KR" dirty="0"/>
              <a:t>. </a:t>
            </a:r>
            <a:r>
              <a:rPr lang="en-US" altLang="ko-KR" b="1" u="sng" dirty="0">
                <a:solidFill>
                  <a:srgbClr val="C00000"/>
                </a:solidFill>
              </a:rPr>
              <a:t>ISB</a:t>
            </a:r>
            <a:r>
              <a:rPr lang="ko-KR" altLang="en-US" b="1" u="sng" dirty="0">
                <a:solidFill>
                  <a:srgbClr val="C00000"/>
                </a:solidFill>
              </a:rPr>
              <a:t>는</a:t>
            </a:r>
            <a:r>
              <a:rPr lang="en-US" altLang="ko-KR" b="1" u="sng" dirty="0">
                <a:solidFill>
                  <a:srgbClr val="C00000"/>
                </a:solidFill>
              </a:rPr>
              <a:t> pipeline</a:t>
            </a:r>
            <a:r>
              <a:rPr lang="ko-KR" altLang="en-US" b="1" u="sng" dirty="0">
                <a:solidFill>
                  <a:srgbClr val="C00000"/>
                </a:solidFill>
              </a:rPr>
              <a:t>을 </a:t>
            </a:r>
            <a:r>
              <a:rPr lang="en-US" altLang="ko-KR" b="1" u="sng" dirty="0">
                <a:solidFill>
                  <a:srgbClr val="C00000"/>
                </a:solidFill>
              </a:rPr>
              <a:t>flush</a:t>
            </a:r>
            <a:r>
              <a:rPr lang="ko-KR" altLang="en-US" b="1" u="sng" dirty="0">
                <a:solidFill>
                  <a:srgbClr val="C00000"/>
                </a:solidFill>
              </a:rPr>
              <a:t>한다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Snap10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414" y="714356"/>
            <a:ext cx="5715040" cy="12144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Exception Mask Register</a:t>
            </a:r>
            <a:endParaRPr lang="ko-KR" altLang="en-US" dirty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</p:nvPr>
        </p:nvGraphicFramePr>
        <p:xfrm>
          <a:off x="714348" y="3643313"/>
          <a:ext cx="8001056" cy="2714644"/>
        </p:xfrm>
        <a:graphic>
          <a:graphicData uri="http://schemas.openxmlformats.org/drawingml/2006/table">
            <a:tbl>
              <a:tblPr/>
              <a:tblGrid>
                <a:gridCol w="1571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559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j-lt"/>
                          <a:ea typeface="맑은 고딕"/>
                          <a:cs typeface="Times New Roman"/>
                        </a:rPr>
                        <a:t>PRIMASK</a:t>
                      </a:r>
                      <a:endParaRPr lang="ko-KR" sz="20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j-lt"/>
                          <a:ea typeface="맑은 고딕"/>
                          <a:cs typeface="Times New Roman"/>
                        </a:rPr>
                        <a:t>nonmaskable interrupt (NMI)</a:t>
                      </a:r>
                      <a:r>
                        <a:rPr lang="ko-KR" sz="2000" kern="100" dirty="0">
                          <a:latin typeface="+mj-lt"/>
                          <a:ea typeface="맑은 고딕"/>
                          <a:cs typeface="Times New Roman"/>
                        </a:rPr>
                        <a:t>와</a:t>
                      </a:r>
                      <a:r>
                        <a:rPr lang="en-US" sz="2000" kern="100" dirty="0">
                          <a:latin typeface="+mj-lt"/>
                          <a:ea typeface="맑은 고딕"/>
                          <a:cs typeface="Times New Roman"/>
                        </a:rPr>
                        <a:t> Hard-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j-lt"/>
                          <a:ea typeface="맑은 고딕"/>
                          <a:cs typeface="Times New Roman"/>
                        </a:rPr>
                        <a:t>Fault</a:t>
                      </a:r>
                      <a:r>
                        <a:rPr lang="ko-KR" sz="2000" kern="100" dirty="0">
                          <a:latin typeface="+mj-lt"/>
                          <a:ea typeface="맑은 고딕"/>
                          <a:cs typeface="Times New Roman"/>
                        </a:rPr>
                        <a:t>를 제외한 모든 인터럽트</a:t>
                      </a:r>
                      <a:r>
                        <a:rPr lang="en-US" altLang="ko-KR" sz="2000" kern="100" dirty="0">
                          <a:latin typeface="+mj-lt"/>
                          <a:ea typeface="맑은 고딕"/>
                          <a:cs typeface="Times New Roman"/>
                        </a:rPr>
                        <a:t> mask</a:t>
                      </a:r>
                      <a:endParaRPr lang="ko-KR" sz="20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599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j-lt"/>
                          <a:ea typeface="맑은 고딕"/>
                          <a:cs typeface="Times New Roman"/>
                        </a:rPr>
                        <a:t>FAULTMASK</a:t>
                      </a:r>
                      <a:endParaRPr lang="ko-KR" sz="20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+mj-lt"/>
                          <a:ea typeface="맑은 고딕"/>
                          <a:cs typeface="Times New Roman"/>
                        </a:rPr>
                        <a:t>nonmaskable interrupt (NMI)</a:t>
                      </a:r>
                      <a:r>
                        <a:rPr lang="ko-KR" sz="2000" kern="100" dirty="0">
                          <a:latin typeface="+mj-lt"/>
                          <a:ea typeface="맑은 고딕"/>
                          <a:cs typeface="Times New Roman"/>
                        </a:rPr>
                        <a:t>를 제외한 모든 인터럽트가 발생하지 못하게 한다</a:t>
                      </a:r>
                      <a:r>
                        <a:rPr lang="en-US" sz="2000" kern="100" dirty="0">
                          <a:latin typeface="+mj-lt"/>
                          <a:ea typeface="맑은 고딕"/>
                          <a:cs typeface="Times New Roman"/>
                        </a:rPr>
                        <a:t>.</a:t>
                      </a:r>
                      <a:endParaRPr lang="ko-KR" sz="20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447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>
                          <a:latin typeface="+mj-lt"/>
                          <a:ea typeface="맑은 고딕"/>
                          <a:cs typeface="Times New Roman"/>
                        </a:rPr>
                        <a:t>BASEPRI</a:t>
                      </a:r>
                      <a:endParaRPr lang="ko-KR" sz="20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ko-KR" sz="2000" kern="100" dirty="0">
                          <a:latin typeface="+mj-lt"/>
                          <a:ea typeface="맑은 고딕"/>
                          <a:cs typeface="Times New Roman"/>
                        </a:rPr>
                        <a:t>여기에 적힌 </a:t>
                      </a:r>
                      <a:r>
                        <a:rPr lang="en-US" sz="2000" kern="100" dirty="0">
                          <a:latin typeface="+mj-lt"/>
                          <a:ea typeface="맑은 고딕"/>
                          <a:cs typeface="Times New Roman"/>
                        </a:rPr>
                        <a:t>priority level</a:t>
                      </a:r>
                      <a:r>
                        <a:rPr lang="ko-KR" sz="2000" kern="100" dirty="0">
                          <a:latin typeface="+mj-lt"/>
                          <a:ea typeface="맑은 고딕"/>
                          <a:cs typeface="Times New Roman"/>
                        </a:rPr>
                        <a:t>과 같은 것을 포함해서 이보다 큰</a:t>
                      </a:r>
                      <a:r>
                        <a:rPr lang="ko-KR" altLang="ko-KR" sz="2000" kern="1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Times New Roman"/>
                        </a:rPr>
                        <a:t> 값</a:t>
                      </a:r>
                      <a:r>
                        <a:rPr lang="en-US" altLang="ko-KR" sz="2000" kern="100" dirty="0">
                          <a:latin typeface="+mj-lt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ko-KR" altLang="en-US" sz="2000" kern="100" dirty="0">
                          <a:latin typeface="+mj-lt"/>
                          <a:ea typeface="맑은 고딕"/>
                          <a:cs typeface="Times New Roman"/>
                        </a:rPr>
                        <a:t>낮은 </a:t>
                      </a:r>
                      <a:r>
                        <a:rPr lang="en-US" altLang="ko-KR" sz="2000" kern="100" dirty="0">
                          <a:latin typeface="+mj-lt"/>
                          <a:ea typeface="맑은 고딕"/>
                          <a:cs typeface="Times New Roman"/>
                        </a:rPr>
                        <a:t>priority)</a:t>
                      </a:r>
                      <a:r>
                        <a:rPr lang="ko-KR" sz="2000" kern="100" dirty="0">
                          <a:latin typeface="+mj-lt"/>
                          <a:ea typeface="맑은 고딕"/>
                          <a:cs typeface="Times New Roman"/>
                        </a:rPr>
                        <a:t>을 가진 모든 인터럽트</a:t>
                      </a:r>
                      <a:r>
                        <a:rPr lang="en-US" altLang="ko-KR" sz="2000" kern="100" dirty="0">
                          <a:latin typeface="+mj-lt"/>
                          <a:ea typeface="맑은 고딕"/>
                          <a:cs typeface="Times New Roman"/>
                        </a:rPr>
                        <a:t> mask</a:t>
                      </a:r>
                      <a:endParaRPr lang="en-US" sz="20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6" descr="Snap3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414" y="857232"/>
            <a:ext cx="6821504" cy="884795"/>
          </a:xfrm>
          <a:prstGeom prst="rect">
            <a:avLst/>
          </a:prstGeom>
        </p:spPr>
      </p:pic>
      <p:pic>
        <p:nvPicPr>
          <p:cNvPr id="8" name="그림 7" descr="Snap4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4414" y="1742027"/>
            <a:ext cx="6821504" cy="857353"/>
          </a:xfrm>
          <a:prstGeom prst="rect">
            <a:avLst/>
          </a:prstGeom>
        </p:spPr>
      </p:pic>
      <p:pic>
        <p:nvPicPr>
          <p:cNvPr id="9" name="그림 8" descr="Snap5.jp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4414" y="2655086"/>
            <a:ext cx="6821504" cy="6905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Thumb-2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196153"/>
            <a:ext cx="8858250" cy="3233243"/>
          </a:xfrm>
        </p:spPr>
        <p:txBody>
          <a:bodyPr/>
          <a:lstStyle/>
          <a:p>
            <a:r>
              <a:rPr lang="en-US" altLang="ko-KR" dirty="0"/>
              <a:t>Thumb-2</a:t>
            </a:r>
            <a:r>
              <a:rPr lang="ko-KR" altLang="en-US" dirty="0"/>
              <a:t>에 대해 처음 소개된 것은 </a:t>
            </a:r>
            <a:r>
              <a:rPr lang="en-US" altLang="ko-KR" dirty="0"/>
              <a:t>ARMv6T2</a:t>
            </a:r>
            <a:r>
              <a:rPr lang="ko-KR" altLang="en-US" dirty="0"/>
              <a:t>에서이다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 profile</a:t>
            </a:r>
            <a:r>
              <a:rPr lang="ko-KR" altLang="en-US" dirty="0"/>
              <a:t>에서 새로운 모델 시도 </a:t>
            </a:r>
            <a:r>
              <a:rPr lang="en-US" altLang="ko-KR" dirty="0"/>
              <a:t>-</a:t>
            </a:r>
            <a:r>
              <a:rPr lang="ko-KR" altLang="en-US" dirty="0"/>
              <a:t> 오직 </a:t>
            </a:r>
            <a:r>
              <a:rPr lang="en-US" altLang="ko-KR" dirty="0"/>
              <a:t>Thumb mode</a:t>
            </a:r>
            <a:r>
              <a:rPr lang="ko-KR" altLang="en-US" dirty="0"/>
              <a:t>에서만 동작</a:t>
            </a:r>
            <a:endParaRPr lang="en-US" altLang="ko-KR" dirty="0"/>
          </a:p>
          <a:p>
            <a:r>
              <a:rPr lang="ko-KR" altLang="en-US" dirty="0"/>
              <a:t>모든 </a:t>
            </a:r>
            <a:r>
              <a:rPr lang="en-US" altLang="ko-KR" dirty="0"/>
              <a:t>instructions</a:t>
            </a:r>
            <a:r>
              <a:rPr lang="ko-KR" altLang="en-US" dirty="0"/>
              <a:t>에 대해서 </a:t>
            </a:r>
            <a:r>
              <a:rPr lang="en-US" altLang="ko-KR" dirty="0"/>
              <a:t>16-bit alignment</a:t>
            </a:r>
            <a:r>
              <a:rPr lang="ko-KR" altLang="en-US" dirty="0"/>
              <a:t>를 강제한다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Thumb-2</a:t>
            </a:r>
            <a:r>
              <a:rPr lang="ko-KR" altLang="en-US" dirty="0"/>
              <a:t>는 </a:t>
            </a:r>
            <a:r>
              <a:rPr lang="en-US" altLang="ko-KR" b="1" u="sng" dirty="0">
                <a:solidFill>
                  <a:srgbClr val="C00000"/>
                </a:solidFill>
              </a:rPr>
              <a:t>16 </a:t>
            </a:r>
            <a:r>
              <a:rPr lang="ko-KR" altLang="en-US" b="1" u="sng" dirty="0">
                <a:solidFill>
                  <a:srgbClr val="C00000"/>
                </a:solidFill>
              </a:rPr>
              <a:t>비트 명령과 </a:t>
            </a:r>
            <a:r>
              <a:rPr lang="en-US" altLang="ko-KR" b="1" u="sng" dirty="0">
                <a:solidFill>
                  <a:srgbClr val="C00000"/>
                </a:solidFill>
              </a:rPr>
              <a:t>32 </a:t>
            </a:r>
            <a:r>
              <a:rPr lang="ko-KR" altLang="en-US" b="1" u="sng" dirty="0">
                <a:solidFill>
                  <a:srgbClr val="C00000"/>
                </a:solidFill>
              </a:rPr>
              <a:t>비트 명령을 모두 수행</a:t>
            </a:r>
            <a:r>
              <a:rPr lang="ko-KR" altLang="en-US" dirty="0"/>
              <a:t>하게 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hw1</a:t>
            </a:r>
            <a:r>
              <a:rPr lang="ko-KR" altLang="en-US" dirty="0"/>
              <a:t>이 </a:t>
            </a:r>
            <a:r>
              <a:rPr lang="en-US" altLang="ko-KR" dirty="0"/>
              <a:t>low address</a:t>
            </a:r>
            <a:r>
              <a:rPr lang="ko-KR" altLang="en-US" dirty="0"/>
              <a:t>이고 </a:t>
            </a:r>
            <a:r>
              <a:rPr lang="en-US" altLang="ko-KR" dirty="0"/>
              <a:t>hw2</a:t>
            </a:r>
            <a:r>
              <a:rPr lang="ko-KR" altLang="en-US" dirty="0"/>
              <a:t>가 </a:t>
            </a:r>
            <a:r>
              <a:rPr lang="en-US" altLang="ko-KR" dirty="0"/>
              <a:t>high address</a:t>
            </a:r>
            <a:r>
              <a:rPr lang="ko-KR" altLang="en-US" dirty="0"/>
              <a:t>가 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hw1,2 </a:t>
            </a:r>
            <a:r>
              <a:rPr lang="ko-KR" altLang="en-US" dirty="0"/>
              <a:t>각각 </a:t>
            </a:r>
            <a:r>
              <a:rPr lang="en-US" altLang="ko-KR" dirty="0"/>
              <a:t>16 </a:t>
            </a:r>
            <a:r>
              <a:rPr lang="ko-KR" altLang="en-US" dirty="0"/>
              <a:t>비트 명령이거나</a:t>
            </a:r>
            <a:r>
              <a:rPr lang="en-US" altLang="ko-KR" dirty="0"/>
              <a:t>, </a:t>
            </a:r>
            <a:r>
              <a:rPr lang="ko-KR" altLang="en-US" dirty="0"/>
              <a:t>둘을 합쳐 하나의 </a:t>
            </a:r>
            <a:r>
              <a:rPr lang="en-US" altLang="ko-KR" dirty="0"/>
              <a:t>32 </a:t>
            </a:r>
            <a:r>
              <a:rPr lang="ko-KR" altLang="en-US" dirty="0"/>
              <a:t>비트 명령</a:t>
            </a:r>
            <a:endParaRPr lang="en-US" altLang="ko-KR" dirty="0"/>
          </a:p>
          <a:p>
            <a:r>
              <a:rPr lang="ko-KR" altLang="en-US" dirty="0"/>
              <a:t>맨 상위 비트가 </a:t>
            </a:r>
            <a:r>
              <a:rPr lang="en-US" altLang="ko-KR" dirty="0"/>
              <a:t>111</a:t>
            </a:r>
            <a:r>
              <a:rPr lang="ko-KR" altLang="en-US" dirty="0"/>
              <a:t>인 경우는</a:t>
            </a:r>
            <a:r>
              <a:rPr lang="en-US" altLang="ko-KR" dirty="0"/>
              <a:t>, </a:t>
            </a:r>
            <a:r>
              <a:rPr lang="ko-KR" altLang="en-US" dirty="0"/>
              <a:t>아래 </a:t>
            </a:r>
            <a:r>
              <a:rPr lang="en-US" altLang="ko-KR" dirty="0"/>
              <a:t>16 </a:t>
            </a:r>
            <a:r>
              <a:rPr lang="ko-KR" altLang="en-US" dirty="0"/>
              <a:t>비트를 다르게 처리</a:t>
            </a:r>
            <a:endParaRPr lang="en-US" altLang="ko-KR" dirty="0"/>
          </a:p>
          <a:p>
            <a:pPr lvl="1"/>
            <a:r>
              <a:rPr lang="ko-KR" altLang="en-US" dirty="0"/>
              <a:t>하나의 예외가 상위 비트가 </a:t>
            </a:r>
            <a:r>
              <a:rPr lang="en-US" altLang="ko-KR" dirty="0"/>
              <a:t>111</a:t>
            </a:r>
            <a:r>
              <a:rPr lang="ko-KR" altLang="en-US" dirty="0"/>
              <a:t>이고 그 다음 비트 </a:t>
            </a:r>
            <a:r>
              <a:rPr lang="en-US" altLang="ko-KR" dirty="0"/>
              <a:t>2</a:t>
            </a:r>
            <a:r>
              <a:rPr lang="ko-KR" altLang="en-US" dirty="0"/>
              <a:t>개가 </a:t>
            </a:r>
            <a:r>
              <a:rPr lang="en-US" altLang="ko-KR" dirty="0"/>
              <a:t>00</a:t>
            </a:r>
            <a:r>
              <a:rPr lang="ko-KR" altLang="en-US" dirty="0"/>
              <a:t>이면 </a:t>
            </a:r>
            <a:r>
              <a:rPr lang="en-US" altLang="ko-KR" dirty="0"/>
              <a:t>Unconditional branch</a:t>
            </a:r>
            <a:r>
              <a:rPr lang="ko-KR" altLang="en-US" dirty="0"/>
              <a:t>로 처리하는 </a:t>
            </a:r>
            <a:r>
              <a:rPr lang="en-US" altLang="ko-KR" dirty="0"/>
              <a:t>16 </a:t>
            </a:r>
            <a:r>
              <a:rPr lang="ko-KR" altLang="en-US" dirty="0"/>
              <a:t>비트 명령이다</a:t>
            </a:r>
            <a:r>
              <a:rPr lang="en-US" altLang="ko-KR" dirty="0"/>
              <a:t>.</a:t>
            </a:r>
          </a:p>
          <a:p>
            <a:pPr>
              <a:buNone/>
            </a:pPr>
            <a:endParaRPr lang="ko-KR" altLang="en-US" dirty="0"/>
          </a:p>
        </p:txBody>
      </p:sp>
      <p:pic>
        <p:nvPicPr>
          <p:cNvPr id="4" name="그림 3" descr="Snap3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44" y="1395144"/>
            <a:ext cx="3894133" cy="1195134"/>
          </a:xfrm>
          <a:prstGeom prst="rect">
            <a:avLst/>
          </a:prstGeom>
        </p:spPr>
      </p:pic>
      <p:pic>
        <p:nvPicPr>
          <p:cNvPr id="5" name="그림 4" descr="Snap11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1934" y="685798"/>
            <a:ext cx="4964116" cy="2457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Memory Map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4608514" cy="5286413"/>
          </a:xfrm>
        </p:spPr>
        <p:txBody>
          <a:bodyPr/>
          <a:lstStyle/>
          <a:p>
            <a:r>
              <a:rPr lang="ko-KR" altLang="en-US" b="1" u="sng" dirty="0">
                <a:solidFill>
                  <a:srgbClr val="C00000"/>
                </a:solidFill>
              </a:rPr>
              <a:t>미리 정의된 </a:t>
            </a:r>
            <a:r>
              <a:rPr lang="en-US" altLang="ko-KR" b="1" u="sng" dirty="0">
                <a:solidFill>
                  <a:srgbClr val="C00000"/>
                </a:solidFill>
              </a:rPr>
              <a:t>Memory Map</a:t>
            </a:r>
          </a:p>
          <a:p>
            <a:r>
              <a:rPr lang="ko-KR" altLang="en-US" dirty="0"/>
              <a:t>단순하고 고정된 </a:t>
            </a:r>
            <a:r>
              <a:rPr lang="en-US" altLang="ko-KR" dirty="0"/>
              <a:t>memory map</a:t>
            </a:r>
            <a:r>
              <a:rPr lang="ko-KR" altLang="en-US" dirty="0"/>
              <a:t>을 </a:t>
            </a:r>
            <a:r>
              <a:rPr lang="en-US" altLang="ko-KR" dirty="0"/>
              <a:t>4 Giga bytes</a:t>
            </a:r>
            <a:r>
              <a:rPr lang="ko-KR" altLang="en-US" dirty="0"/>
              <a:t>의 주소 공간을 할당해서 미리 정의를 내려놓고 있는 것이다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Code (code space), SRAM (memory space), external memories/devices</a:t>
            </a:r>
            <a:r>
              <a:rPr lang="ko-KR" altLang="en-US" dirty="0"/>
              <a:t>와 </a:t>
            </a:r>
            <a:r>
              <a:rPr lang="en-US" altLang="ko-KR" dirty="0"/>
              <a:t>internal/external peripherals</a:t>
            </a:r>
            <a:r>
              <a:rPr lang="ko-KR" altLang="en-US" dirty="0"/>
              <a:t>까지 모든 영역에 대해서 </a:t>
            </a:r>
            <a:r>
              <a:rPr lang="ko-KR" altLang="en-US" b="1" u="sng" dirty="0">
                <a:solidFill>
                  <a:srgbClr val="C00000"/>
                </a:solidFill>
              </a:rPr>
              <a:t>고정된 주소 영역이 할당</a:t>
            </a:r>
            <a:r>
              <a:rPr lang="ko-KR" altLang="en-US" dirty="0"/>
              <a:t> 되어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칩을 만드는 제조사에서 업체에서 특별히 관리해 주어야 하는 영역에 사용할 수 있도록 특별한 영역인 </a:t>
            </a:r>
            <a:r>
              <a:rPr lang="en-US" altLang="ko-KR" b="1" u="sng" dirty="0">
                <a:solidFill>
                  <a:srgbClr val="C00000"/>
                </a:solidFill>
              </a:rPr>
              <a:t>vendor specific </a:t>
            </a:r>
            <a:r>
              <a:rPr lang="ko-KR" altLang="en-US" b="1" u="sng" dirty="0">
                <a:solidFill>
                  <a:srgbClr val="C00000"/>
                </a:solidFill>
              </a:rPr>
              <a:t>부분도 존재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Snap1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6314" y="1000108"/>
            <a:ext cx="4129067" cy="46434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Bit banding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241149"/>
            <a:ext cx="8858250" cy="3188247"/>
          </a:xfrm>
        </p:spPr>
        <p:txBody>
          <a:bodyPr/>
          <a:lstStyle/>
          <a:p>
            <a:r>
              <a:rPr lang="en-US" altLang="ko-KR" dirty="0"/>
              <a:t>bit operation</a:t>
            </a:r>
            <a:r>
              <a:rPr lang="ko-KR" altLang="en-US" dirty="0"/>
              <a:t>을 빠르게 해줄 수 있는 방법 제공</a:t>
            </a:r>
            <a:endParaRPr lang="en-US" altLang="ko-KR" dirty="0"/>
          </a:p>
          <a:p>
            <a:pPr lvl="1"/>
            <a:r>
              <a:rPr lang="ko-KR" altLang="en-US" dirty="0"/>
              <a:t>하드웨어적으로 특정 비트를 각각 특정 어드레스에 할당 해놓고 있다</a:t>
            </a:r>
            <a:r>
              <a:rPr lang="en-US" altLang="ko-KR" dirty="0"/>
              <a:t>.</a:t>
            </a:r>
          </a:p>
          <a:p>
            <a:r>
              <a:rPr lang="en-US" altLang="ko-KR" b="1" u="sng" dirty="0">
                <a:solidFill>
                  <a:srgbClr val="C00000"/>
                </a:solidFill>
              </a:rPr>
              <a:t>32 MB alias </a:t>
            </a:r>
            <a:r>
              <a:rPr lang="ko-KR" altLang="en-US" b="1" u="sng" dirty="0">
                <a:solidFill>
                  <a:srgbClr val="C00000"/>
                </a:solidFill>
              </a:rPr>
              <a:t>영역에 쓰는 행위는 </a:t>
            </a:r>
            <a:r>
              <a:rPr lang="en-US" altLang="ko-KR" b="1" u="sng" dirty="0">
                <a:solidFill>
                  <a:srgbClr val="C00000"/>
                </a:solidFill>
              </a:rPr>
              <a:t>bit-band </a:t>
            </a:r>
            <a:r>
              <a:rPr lang="ko-KR" altLang="en-US" b="1" u="sng" dirty="0">
                <a:solidFill>
                  <a:srgbClr val="C00000"/>
                </a:solidFill>
              </a:rPr>
              <a:t>영역 특정 비트에 영향</a:t>
            </a:r>
            <a:endParaRPr lang="en-US" altLang="ko-KR" b="1" u="sng" dirty="0">
              <a:solidFill>
                <a:srgbClr val="C00000"/>
              </a:solidFill>
            </a:endParaRPr>
          </a:p>
          <a:p>
            <a:r>
              <a:rPr lang="en-US" altLang="ko-KR" dirty="0"/>
              <a:t>0x20000000 </a:t>
            </a:r>
            <a:r>
              <a:rPr lang="ko-KR" altLang="en-US" dirty="0"/>
              <a:t>번지의 </a:t>
            </a:r>
            <a:r>
              <a:rPr lang="en-US" altLang="ko-KR" dirty="0"/>
              <a:t>1</a:t>
            </a:r>
            <a:r>
              <a:rPr lang="ko-KR" altLang="en-US" dirty="0"/>
              <a:t>번 비트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0x22000004 </a:t>
            </a:r>
            <a:r>
              <a:rPr lang="ko-KR" altLang="en-US" dirty="0"/>
              <a:t>번지에 할당</a:t>
            </a:r>
            <a:endParaRPr lang="en-US" altLang="ko-KR" dirty="0"/>
          </a:p>
          <a:p>
            <a:pPr lvl="1"/>
            <a:r>
              <a:rPr lang="en-US" altLang="ko-KR" dirty="0"/>
              <a:t>32 </a:t>
            </a:r>
            <a:r>
              <a:rPr lang="ko-KR" altLang="en-US" dirty="0"/>
              <a:t>비트 </a:t>
            </a:r>
            <a:r>
              <a:rPr lang="en-US" altLang="ko-KR" dirty="0"/>
              <a:t>(4 </a:t>
            </a:r>
            <a:r>
              <a:rPr lang="ko-KR" altLang="en-US" dirty="0"/>
              <a:t>바이트</a:t>
            </a:r>
            <a:r>
              <a:rPr lang="en-US" altLang="ko-KR" dirty="0"/>
              <a:t>)</a:t>
            </a:r>
            <a:r>
              <a:rPr lang="ko-KR" altLang="en-US" dirty="0"/>
              <a:t>로 증가되기 때문에 </a:t>
            </a:r>
            <a:r>
              <a:rPr lang="en-US" altLang="ko-KR" dirty="0"/>
              <a:t>0x22000004 </a:t>
            </a:r>
            <a:r>
              <a:rPr lang="ko-KR" altLang="en-US" dirty="0"/>
              <a:t>번지로 </a:t>
            </a:r>
            <a:r>
              <a:rPr lang="en-US" altLang="ko-KR" dirty="0"/>
              <a:t>4 </a:t>
            </a:r>
            <a:r>
              <a:rPr lang="ko-KR" altLang="en-US" dirty="0"/>
              <a:t>만큼 증가</a:t>
            </a:r>
            <a:endParaRPr lang="en-US" altLang="ko-KR" dirty="0"/>
          </a:p>
          <a:p>
            <a:pPr lvl="1"/>
            <a:r>
              <a:rPr lang="en-US" altLang="ko-KR" dirty="0"/>
              <a:t>0x20000004 </a:t>
            </a:r>
            <a:r>
              <a:rPr lang="ko-KR" altLang="en-US" dirty="0"/>
              <a:t>번지의 </a:t>
            </a:r>
            <a:r>
              <a:rPr lang="en-US" altLang="ko-KR" dirty="0"/>
              <a:t>0</a:t>
            </a:r>
            <a:r>
              <a:rPr lang="ko-KR" altLang="en-US" dirty="0"/>
              <a:t>번 비트 </a:t>
            </a:r>
            <a:r>
              <a:rPr lang="en-US" altLang="ko-KR" dirty="0"/>
              <a:t>alias </a:t>
            </a:r>
            <a:r>
              <a:rPr lang="ko-KR" altLang="en-US" dirty="0"/>
              <a:t>영역</a:t>
            </a:r>
            <a:r>
              <a:rPr lang="en-US" altLang="ko-KR" dirty="0"/>
              <a:t>? 4 X 32 </a:t>
            </a:r>
            <a:r>
              <a:rPr lang="ko-KR" altLang="en-US" dirty="0"/>
              <a:t>만큼 떨어진 곳</a:t>
            </a:r>
            <a:r>
              <a:rPr lang="en-US" altLang="ko-KR" dirty="0"/>
              <a:t>. 4 X 32 = 128, </a:t>
            </a:r>
            <a:r>
              <a:rPr lang="ko-KR" altLang="en-US" dirty="0"/>
              <a:t>즉 </a:t>
            </a:r>
            <a:r>
              <a:rPr lang="en-US" altLang="ko-KR" dirty="0"/>
              <a:t>0x80. 0x22000080 </a:t>
            </a:r>
            <a:r>
              <a:rPr lang="ko-KR" altLang="en-US" dirty="0"/>
              <a:t>번지가 </a:t>
            </a:r>
            <a:r>
              <a:rPr lang="en-US" altLang="ko-KR" dirty="0"/>
              <a:t>0x20000004 </a:t>
            </a:r>
            <a:r>
              <a:rPr lang="ko-KR" altLang="en-US" dirty="0"/>
              <a:t>번지의 </a:t>
            </a:r>
            <a:r>
              <a:rPr lang="en-US" altLang="ko-KR" dirty="0"/>
              <a:t>0</a:t>
            </a:r>
            <a:r>
              <a:rPr lang="ko-KR" altLang="en-US" dirty="0"/>
              <a:t>번 비트</a:t>
            </a:r>
            <a:endParaRPr lang="en-US" altLang="ko-KR" dirty="0"/>
          </a:p>
          <a:p>
            <a:r>
              <a:rPr lang="en-US" altLang="ko-KR" dirty="0" err="1"/>
              <a:t>bit_word_addr</a:t>
            </a:r>
            <a:r>
              <a:rPr lang="en-US" altLang="ko-KR" dirty="0"/>
              <a:t> = </a:t>
            </a:r>
            <a:r>
              <a:rPr lang="en-US" altLang="ko-KR" dirty="0" err="1"/>
              <a:t>bit_band_base</a:t>
            </a:r>
            <a:r>
              <a:rPr lang="en-US" altLang="ko-KR" dirty="0"/>
              <a:t> + (</a:t>
            </a:r>
            <a:r>
              <a:rPr lang="en-US" altLang="ko-KR" dirty="0" err="1"/>
              <a:t>byte_offset</a:t>
            </a:r>
            <a:r>
              <a:rPr lang="en-US" altLang="ko-KR" dirty="0"/>
              <a:t> x 32)</a:t>
            </a:r>
          </a:p>
          <a:p>
            <a:pPr>
              <a:buNone/>
            </a:pPr>
            <a:r>
              <a:rPr lang="en-US" altLang="ko-KR" dirty="0"/>
              <a:t>                             + (</a:t>
            </a:r>
            <a:r>
              <a:rPr lang="en-US" altLang="ko-KR" dirty="0" err="1"/>
              <a:t>bit_number</a:t>
            </a:r>
            <a:r>
              <a:rPr lang="en-US" altLang="ko-KR" dirty="0"/>
              <a:t> × 4)</a:t>
            </a:r>
          </a:p>
        </p:txBody>
      </p:sp>
      <p:pic>
        <p:nvPicPr>
          <p:cNvPr id="5" name="그림 4" descr="Snap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9188" y="830770"/>
            <a:ext cx="5095886" cy="231247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Bit banding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071546"/>
            <a:ext cx="8601736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Exception </a:t>
            </a:r>
            <a:r>
              <a:rPr lang="ko-KR" altLang="en-US" dirty="0"/>
              <a:t>종류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198904" y="785794"/>
          <a:ext cx="8751918" cy="5554368"/>
        </p:xfrm>
        <a:graphic>
          <a:graphicData uri="http://schemas.openxmlformats.org/drawingml/2006/table">
            <a:tbl>
              <a:tblPr/>
              <a:tblGrid>
                <a:gridCol w="729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7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55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800" b="1" kern="100" dirty="0">
                          <a:latin typeface="+mj-lt"/>
                          <a:ea typeface="맑은 고딕"/>
                          <a:cs typeface="Times New Roman"/>
                        </a:rPr>
                        <a:t>위치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C9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Exception type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C9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Priority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C9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800" b="1" kern="100" dirty="0">
                          <a:latin typeface="+mj-lt"/>
                          <a:ea typeface="맑은 고딕"/>
                          <a:cs typeface="Times New Roman"/>
                        </a:rPr>
                        <a:t>설명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C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0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-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-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리셋 시 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vector table</a:t>
                      </a: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의 첫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 entry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1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Reset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–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3 (highest)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Power up</a:t>
                      </a: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과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 Warm reset</a:t>
                      </a: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시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.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2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Non-maskable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Interrupt (NMI)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-2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pre-empted</a:t>
                      </a: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되지 않는다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.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71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3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Hard Fault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-1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모든 종류의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 Fault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4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Memory Management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MPU mismatch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5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Bus Fault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Pre-fetch, memory fault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6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Usage Fault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Undefined instruction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7~10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-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-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Reserved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11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SVCall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System service </a:t>
                      </a:r>
                      <a:r>
                        <a:rPr lang="ko-KR" sz="1800" kern="100" dirty="0">
                          <a:latin typeface="+mj-lt"/>
                          <a:ea typeface="맑은 고딕"/>
                          <a:cs typeface="Times New Roman"/>
                        </a:rPr>
                        <a:t>호출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12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Debug Monitor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not halting Debug monitor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13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-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-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Reserved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14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PendSV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Pendable request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15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SysTick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System tick timer.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16~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255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External Interrupt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core </a:t>
                      </a:r>
                      <a:r>
                        <a:rPr lang="ko-KR" sz="1800" kern="100" dirty="0">
                          <a:latin typeface="+mj-lt"/>
                          <a:ea typeface="맑은 고딕"/>
                          <a:cs typeface="Times New Roman"/>
                        </a:rPr>
                        <a:t>밖 외부</a:t>
                      </a: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 interrupt (0~239)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Exception Priority &amp; Nested </a:t>
            </a:r>
            <a:r>
              <a:rPr lang="ko-KR" altLang="en-US" dirty="0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NVIC(Nested Vectored Interrupt Controller):</a:t>
            </a:r>
            <a:r>
              <a:rPr lang="ko-KR" altLang="en-US" dirty="0"/>
              <a:t> 각종 인터럽트를 효율적으로 제어</a:t>
            </a:r>
            <a:r>
              <a:rPr lang="en-US" altLang="ko-KR" dirty="0"/>
              <a:t> - </a:t>
            </a:r>
            <a:r>
              <a:rPr lang="ko-KR" altLang="en-US" dirty="0"/>
              <a:t>모든 </a:t>
            </a:r>
            <a:r>
              <a:rPr lang="en-US" altLang="ko-KR" dirty="0"/>
              <a:t>Exception</a:t>
            </a:r>
            <a:r>
              <a:rPr lang="ko-KR" altLang="en-US" dirty="0"/>
              <a:t>의 우선순위를 결정하고 처리한다</a:t>
            </a:r>
            <a:r>
              <a:rPr lang="en-US" altLang="ko-KR" dirty="0"/>
              <a:t>.</a:t>
            </a:r>
          </a:p>
          <a:p>
            <a:r>
              <a:rPr lang="en-US" altLang="ko-KR" b="1" u="sng" dirty="0">
                <a:solidFill>
                  <a:srgbClr val="C00000"/>
                </a:solidFill>
              </a:rPr>
              <a:t>Nested </a:t>
            </a:r>
            <a:r>
              <a:rPr lang="ko-KR" altLang="en-US" b="1" u="sng" dirty="0">
                <a:solidFill>
                  <a:srgbClr val="C00000"/>
                </a:solidFill>
              </a:rPr>
              <a:t>처리 </a:t>
            </a:r>
            <a:r>
              <a:rPr lang="en-US" altLang="ko-KR" dirty="0"/>
              <a:t>- </a:t>
            </a:r>
            <a:r>
              <a:rPr lang="ko-KR" altLang="en-US" dirty="0"/>
              <a:t>하나의 인터럽트가 처리되고 있는 중에 보다 높은 우선순위의 인터럽트 발생시 처리되던 인터럽트는 잠시 멈추고 높은 우선순위의 인터럽트가 처리될 수 있다</a:t>
            </a:r>
            <a:r>
              <a:rPr lang="en-US" altLang="ko-KR" dirty="0"/>
              <a:t>.</a:t>
            </a:r>
          </a:p>
          <a:p>
            <a:r>
              <a:rPr lang="en-US" altLang="ko-KR" b="1" u="sng" dirty="0"/>
              <a:t>Interrupt </a:t>
            </a:r>
            <a:r>
              <a:rPr lang="ko-KR" altLang="en-US" b="1" u="sng" dirty="0"/>
              <a:t>번호가 낮을 수록 높은 </a:t>
            </a:r>
            <a:r>
              <a:rPr lang="en-US" altLang="ko-KR" b="1" u="sng" dirty="0"/>
              <a:t>Priority</a:t>
            </a:r>
            <a:r>
              <a:rPr lang="ko-KR" altLang="en-US" dirty="0"/>
              <a:t>를 가진다</a:t>
            </a:r>
            <a:r>
              <a:rPr lang="en-US" altLang="ko-KR" dirty="0"/>
              <a:t>. Reset</a:t>
            </a:r>
            <a:r>
              <a:rPr lang="ko-KR" altLang="en-US" dirty="0"/>
              <a:t>은 가장 높은 </a:t>
            </a:r>
            <a:r>
              <a:rPr lang="en-US" altLang="ko-KR" dirty="0"/>
              <a:t>Priority</a:t>
            </a:r>
            <a:r>
              <a:rPr lang="ko-KR" altLang="en-US" dirty="0"/>
              <a:t>를 가진다</a:t>
            </a:r>
            <a:r>
              <a:rPr lang="en-US" altLang="ko-KR" dirty="0"/>
              <a:t>. </a:t>
            </a:r>
            <a:r>
              <a:rPr lang="ko-KR" altLang="en-US" dirty="0"/>
              <a:t>우선순위 </a:t>
            </a:r>
            <a:r>
              <a:rPr lang="en-US" altLang="ko-KR" dirty="0"/>
              <a:t>-3, -2, -1</a:t>
            </a:r>
            <a:r>
              <a:rPr lang="ko-KR" altLang="en-US" dirty="0"/>
              <a:t>을 가지는 </a:t>
            </a:r>
            <a:r>
              <a:rPr lang="en-US" altLang="ko-KR" dirty="0"/>
              <a:t>Reset, Non-maskable Interrupt (NMI), Hard Fault</a:t>
            </a:r>
            <a:r>
              <a:rPr lang="ko-KR" altLang="en-US" dirty="0"/>
              <a:t>는 우선 순위를 변경할 수 없다</a:t>
            </a:r>
            <a:r>
              <a:rPr lang="en-US" altLang="ko-KR" dirty="0"/>
              <a:t>. </a:t>
            </a:r>
            <a:r>
              <a:rPr lang="ko-KR" altLang="en-US" dirty="0"/>
              <a:t>고정된 우선 순위를 가지고 있고</a:t>
            </a:r>
            <a:r>
              <a:rPr lang="en-US" altLang="ko-KR" dirty="0"/>
              <a:t>, </a:t>
            </a:r>
            <a:r>
              <a:rPr lang="ko-KR" altLang="en-US" dirty="0"/>
              <a:t>가장 높은 우선순위를 가진다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하나의 우선 순위를 공유할 수도 있다</a:t>
            </a:r>
            <a:r>
              <a:rPr lang="en-US" altLang="ko-KR" dirty="0"/>
              <a:t>. </a:t>
            </a:r>
            <a:r>
              <a:rPr lang="ko-KR" altLang="en-US" dirty="0"/>
              <a:t>이를 위해 </a:t>
            </a:r>
            <a:r>
              <a:rPr lang="en-US" altLang="ko-KR" b="1" u="sng" dirty="0">
                <a:solidFill>
                  <a:srgbClr val="0070C0"/>
                </a:solidFill>
              </a:rPr>
              <a:t>Preempting Priority</a:t>
            </a:r>
            <a:r>
              <a:rPr lang="ko-KR" altLang="en-US" b="1" u="sng" dirty="0">
                <a:solidFill>
                  <a:srgbClr val="0070C0"/>
                </a:solidFill>
              </a:rPr>
              <a:t>와 </a:t>
            </a:r>
            <a:r>
              <a:rPr lang="en-US" altLang="ko-KR" b="1" u="sng" dirty="0">
                <a:solidFill>
                  <a:srgbClr val="0070C0"/>
                </a:solidFill>
              </a:rPr>
              <a:t>Subpriority</a:t>
            </a:r>
            <a:r>
              <a:rPr lang="ko-KR" altLang="en-US" dirty="0"/>
              <a:t>를 두어서 그룹으로 만들어서 관리하는 방법을 제시한다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15</a:t>
            </a:r>
            <a:r>
              <a:rPr lang="ko-KR" altLang="en-US" dirty="0"/>
              <a:t>개의 </a:t>
            </a:r>
            <a:r>
              <a:rPr lang="en-US" altLang="ko-KR" dirty="0"/>
              <a:t>exception</a:t>
            </a:r>
            <a:r>
              <a:rPr lang="ko-KR" altLang="en-US" dirty="0"/>
              <a:t>을 포함해서 사용자 </a:t>
            </a:r>
            <a:r>
              <a:rPr lang="en-US" altLang="ko-KR" dirty="0"/>
              <a:t>Interrupt</a:t>
            </a:r>
            <a:r>
              <a:rPr lang="ko-KR" altLang="en-US" dirty="0"/>
              <a:t>가 </a:t>
            </a:r>
            <a:r>
              <a:rPr lang="en-US" altLang="ko-KR" dirty="0"/>
              <a:t>240</a:t>
            </a:r>
            <a:r>
              <a:rPr lang="ko-KR" altLang="en-US" dirty="0"/>
              <a:t>개까지 지원되기 때문에 </a:t>
            </a:r>
            <a:r>
              <a:rPr lang="en-US" altLang="ko-KR" dirty="0"/>
              <a:t>ARM7</a:t>
            </a:r>
            <a:r>
              <a:rPr lang="ko-KR" altLang="en-US" dirty="0"/>
              <a:t>이나 </a:t>
            </a:r>
            <a:r>
              <a:rPr lang="en-US" altLang="ko-KR" dirty="0"/>
              <a:t>ARM9</a:t>
            </a:r>
            <a:r>
              <a:rPr lang="ko-KR" altLang="en-US" dirty="0"/>
              <a:t>에서 사용하던 </a:t>
            </a:r>
            <a:r>
              <a:rPr lang="en-US" altLang="ko-KR" dirty="0"/>
              <a:t>Supervisor </a:t>
            </a:r>
            <a:r>
              <a:rPr lang="ko-KR" altLang="en-US" dirty="0"/>
              <a:t>모드 및 다양한 모드들이 </a:t>
            </a:r>
            <a:r>
              <a:rPr lang="en-US" altLang="ko-KR" dirty="0"/>
              <a:t>2</a:t>
            </a:r>
            <a:r>
              <a:rPr lang="ko-KR" altLang="en-US" dirty="0"/>
              <a:t>가지 모드로 줄었다</a:t>
            </a:r>
            <a:r>
              <a:rPr lang="en-US" altLang="ko-KR" dirty="0"/>
              <a:t>. Privileged Mode</a:t>
            </a:r>
            <a:r>
              <a:rPr lang="ko-KR" altLang="en-US" dirty="0"/>
              <a:t>와 </a:t>
            </a:r>
            <a:r>
              <a:rPr lang="en-US" altLang="ko-KR" dirty="0"/>
              <a:t>Non-Privileged </a:t>
            </a:r>
            <a:r>
              <a:rPr lang="ko-KR" altLang="en-US" dirty="0"/>
              <a:t>모드 두 개 뿐이다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Preempting Priority &amp;</a:t>
            </a:r>
            <a:r>
              <a:rPr lang="ko-KR" altLang="en-US" dirty="0"/>
              <a:t> </a:t>
            </a:r>
            <a:r>
              <a:rPr lang="en-US" altLang="ko-KR" dirty="0"/>
              <a:t>Subpriority</a:t>
            </a:r>
            <a:endParaRPr lang="ko-KR" altLang="en-US" dirty="0"/>
          </a:p>
        </p:txBody>
      </p:sp>
      <p:pic>
        <p:nvPicPr>
          <p:cNvPr id="47106" name="그림 32" descr="Snap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840904"/>
            <a:ext cx="6816856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07" name="그림 33" descr="Snap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24" y="4000504"/>
            <a:ext cx="7527455" cy="2314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Table</a:t>
            </a:r>
            <a:r>
              <a:rPr lang="ko-KR" altLang="en-US" dirty="0"/>
              <a:t>은 </a:t>
            </a:r>
            <a:r>
              <a:rPr lang="en-US" altLang="ko-KR" dirty="0"/>
              <a:t>Address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ARM7, ARM9</a:t>
            </a:r>
            <a:r>
              <a:rPr lang="ko-KR" altLang="en-US" dirty="0"/>
              <a:t>의 경우 </a:t>
            </a:r>
            <a:r>
              <a:rPr lang="en-US" altLang="ko-KR" dirty="0"/>
              <a:t>Vector Table</a:t>
            </a:r>
            <a:r>
              <a:rPr lang="ko-KR" altLang="en-US" dirty="0"/>
              <a:t>은 명령어이었다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en-US" altLang="ko-KR" dirty="0"/>
              <a:t>Cortex-M3</a:t>
            </a:r>
            <a:r>
              <a:rPr lang="ko-KR" altLang="en-US" dirty="0"/>
              <a:t>의 경우는 </a:t>
            </a:r>
            <a:r>
              <a:rPr lang="ko-KR" altLang="en-US" b="1" u="sng" dirty="0">
                <a:solidFill>
                  <a:srgbClr val="C00000"/>
                </a:solidFill>
              </a:rPr>
              <a:t>명령이 아닌 주소 값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Vector Table</a:t>
            </a:r>
            <a:r>
              <a:rPr lang="ko-KR" altLang="en-US" dirty="0"/>
              <a:t>에 명령이 존재하게 될 경우에의 문제점은 </a:t>
            </a:r>
            <a:r>
              <a:rPr lang="en-US" altLang="ko-KR" dirty="0"/>
              <a:t>interrupt</a:t>
            </a:r>
            <a:r>
              <a:rPr lang="ko-KR" altLang="en-US" dirty="0"/>
              <a:t>의 지연 시간이다</a:t>
            </a:r>
            <a:r>
              <a:rPr lang="en-US" altLang="ko-KR" dirty="0"/>
              <a:t>. </a:t>
            </a:r>
            <a:r>
              <a:rPr lang="ko-KR" altLang="en-US" dirty="0"/>
              <a:t>인터럽트가 발생했을 때 해당 테이블에 존재하는 명령을 </a:t>
            </a:r>
            <a:r>
              <a:rPr lang="en-US" altLang="ko-KR" dirty="0"/>
              <a:t>fetch</a:t>
            </a:r>
            <a:r>
              <a:rPr lang="ko-KR" altLang="en-US" dirty="0"/>
              <a:t>해서 가져오면 거기에 다시 분기 명령이 들어있게 되고</a:t>
            </a:r>
            <a:r>
              <a:rPr lang="en-US" altLang="ko-KR" dirty="0"/>
              <a:t>, </a:t>
            </a:r>
            <a:r>
              <a:rPr lang="ko-KR" altLang="en-US" dirty="0"/>
              <a:t>분기하는 처리를 다시 해야 하기 때문에 상당한 지연시간이 발생하게 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Cortex-M3</a:t>
            </a:r>
            <a:r>
              <a:rPr lang="ko-KR" altLang="en-US" dirty="0"/>
              <a:t>에서는 직접 주소값을 넣어두고 그것을 </a:t>
            </a:r>
            <a:r>
              <a:rPr lang="en-US" altLang="ko-KR" dirty="0"/>
              <a:t>PC </a:t>
            </a:r>
            <a:r>
              <a:rPr lang="ko-KR" altLang="en-US" dirty="0"/>
              <a:t>값으로 바로 복사함으로써 분기에 따른 지연시간이 상당 부분 감소하게 된다</a:t>
            </a:r>
            <a:r>
              <a:rPr lang="en-US" altLang="ko-KR" dirty="0"/>
              <a:t>. </a:t>
            </a:r>
            <a:r>
              <a:rPr lang="ko-KR" altLang="en-US" dirty="0"/>
              <a:t>과거에도 </a:t>
            </a:r>
            <a:r>
              <a:rPr lang="en-US" altLang="ko-KR" dirty="0"/>
              <a:t>VIC (Vectored Interrupt Controller)</a:t>
            </a:r>
            <a:r>
              <a:rPr lang="ko-KR" altLang="en-US" dirty="0"/>
              <a:t>라는 개념으로 이것을 구현한 경우도 있었다</a:t>
            </a:r>
            <a:r>
              <a:rPr lang="en-US" altLang="ko-KR" dirty="0"/>
              <a:t>. </a:t>
            </a:r>
            <a:r>
              <a:rPr lang="ko-KR" altLang="en-US" dirty="0"/>
              <a:t>이를 하드웨어적으로 기본으로 탑재하게 하면서 </a:t>
            </a:r>
            <a:r>
              <a:rPr lang="en-US" altLang="ko-KR" dirty="0"/>
              <a:t>nested </a:t>
            </a:r>
            <a:r>
              <a:rPr lang="ko-KR" altLang="en-US" dirty="0"/>
              <a:t>기능까지 추가한 것이라고 보면 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Reset</a:t>
            </a:r>
            <a:r>
              <a:rPr lang="ko-KR" altLang="en-US" dirty="0"/>
              <a:t>에 대한 </a:t>
            </a:r>
            <a:r>
              <a:rPr lang="en-US" altLang="ko-KR" b="1" u="sng" dirty="0">
                <a:solidFill>
                  <a:srgbClr val="C00000"/>
                </a:solidFill>
              </a:rPr>
              <a:t>Exception Address</a:t>
            </a:r>
            <a:r>
              <a:rPr lang="ko-KR" altLang="en-US" b="1" u="sng" dirty="0">
                <a:solidFill>
                  <a:srgbClr val="C00000"/>
                </a:solidFill>
              </a:rPr>
              <a:t>가 </a:t>
            </a:r>
            <a:r>
              <a:rPr lang="en-US" altLang="ko-KR" b="1" u="sng" dirty="0">
                <a:solidFill>
                  <a:srgbClr val="C00000"/>
                </a:solidFill>
              </a:rPr>
              <a:t>0x0</a:t>
            </a:r>
            <a:r>
              <a:rPr lang="ko-KR" altLang="en-US" b="1" u="sng" dirty="0">
                <a:solidFill>
                  <a:srgbClr val="C00000"/>
                </a:solidFill>
              </a:rPr>
              <a:t>번지가 아니고 </a:t>
            </a:r>
            <a:r>
              <a:rPr lang="en-US" altLang="ko-KR" b="1" u="sng" dirty="0">
                <a:solidFill>
                  <a:srgbClr val="C00000"/>
                </a:solidFill>
              </a:rPr>
              <a:t>0x4</a:t>
            </a:r>
            <a:r>
              <a:rPr lang="ko-KR" altLang="en-US" b="1" u="sng" dirty="0">
                <a:solidFill>
                  <a:srgbClr val="C00000"/>
                </a:solidFill>
              </a:rPr>
              <a:t>번지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en-US" altLang="ko-KR" b="1" u="sng" dirty="0">
                <a:solidFill>
                  <a:srgbClr val="C00000"/>
                </a:solidFill>
              </a:rPr>
              <a:t>0x0</a:t>
            </a:r>
            <a:r>
              <a:rPr lang="ko-KR" altLang="en-US" b="1" u="sng" dirty="0">
                <a:solidFill>
                  <a:srgbClr val="C00000"/>
                </a:solidFill>
              </a:rPr>
              <a:t>번 번지에는 초기 </a:t>
            </a:r>
            <a:r>
              <a:rPr lang="en-US" altLang="ko-KR" b="1" u="sng" dirty="0">
                <a:solidFill>
                  <a:srgbClr val="C00000"/>
                </a:solidFill>
              </a:rPr>
              <a:t>Stack Address</a:t>
            </a:r>
            <a:r>
              <a:rPr lang="ko-KR" altLang="en-US" b="1" u="sng" dirty="0">
                <a:solidFill>
                  <a:srgbClr val="C00000"/>
                </a:solidFill>
              </a:rPr>
              <a:t>가 들어간다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Cortex-M3</a:t>
            </a:r>
            <a:r>
              <a:rPr lang="ko-KR" altLang="en-US" dirty="0"/>
              <a:t>는 </a:t>
            </a:r>
            <a:r>
              <a:rPr lang="ko-KR" altLang="en-US" b="1" u="sng" dirty="0">
                <a:solidFill>
                  <a:srgbClr val="0000FF"/>
                </a:solidFill>
              </a:rPr>
              <a:t>재설정 가능한 </a:t>
            </a:r>
            <a:r>
              <a:rPr lang="en-US" altLang="ko-KR" b="1" u="sng" dirty="0">
                <a:solidFill>
                  <a:srgbClr val="0000FF"/>
                </a:solidFill>
              </a:rPr>
              <a:t>(re-locatable) vector table</a:t>
            </a:r>
            <a:r>
              <a:rPr lang="ko-KR" altLang="en-US" dirty="0"/>
              <a:t> 사용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SCB </a:t>
            </a:r>
            <a:r>
              <a:rPr lang="ko-KR" altLang="en-US" dirty="0"/>
              <a:t>레지스터를 이용해서 </a:t>
            </a:r>
            <a:r>
              <a:rPr lang="en-US" altLang="ko-KR" dirty="0"/>
              <a:t>Vector Table</a:t>
            </a:r>
            <a:r>
              <a:rPr lang="ko-KR" altLang="en-US" dirty="0"/>
              <a:t>이 저장될 주소와 위치 변경 가능</a:t>
            </a:r>
            <a:endParaRPr lang="en-US" altLang="ko-KR" dirty="0"/>
          </a:p>
          <a:p>
            <a:pPr lvl="1"/>
            <a:r>
              <a:rPr lang="en-US" altLang="ko-KR" dirty="0"/>
              <a:t>RAM </a:t>
            </a:r>
            <a:r>
              <a:rPr lang="ko-KR" altLang="en-US" dirty="0"/>
              <a:t>공간에 넣을 수도 있고</a:t>
            </a:r>
            <a:r>
              <a:rPr lang="en-US" altLang="ko-KR" dirty="0"/>
              <a:t>, Flash </a:t>
            </a:r>
            <a:r>
              <a:rPr lang="ko-KR" altLang="en-US" dirty="0"/>
              <a:t>영역에 저장할 수도 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Wait For Interrupt (WFI), Wait For Event (WFE)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NVIC</a:t>
            </a:r>
            <a:r>
              <a:rPr lang="ko-KR" altLang="en-US" dirty="0"/>
              <a:t>는 </a:t>
            </a:r>
            <a:r>
              <a:rPr lang="en-US" altLang="ko-KR" dirty="0"/>
              <a:t>Cortex-M3 processor</a:t>
            </a:r>
            <a:r>
              <a:rPr lang="ko-KR" altLang="en-US" dirty="0"/>
              <a:t>의 </a:t>
            </a:r>
            <a:r>
              <a:rPr lang="en-US" altLang="ko-KR" dirty="0"/>
              <a:t>power-management scheme</a:t>
            </a:r>
            <a:r>
              <a:rPr lang="ko-KR" altLang="en-US" dirty="0"/>
              <a:t>을 위한 부분도 구현하고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Wait For Interrupt (WFI)</a:t>
            </a:r>
            <a:r>
              <a:rPr lang="ko-KR" altLang="en-US" dirty="0"/>
              <a:t>나 </a:t>
            </a:r>
            <a:r>
              <a:rPr lang="en-US" altLang="ko-KR" dirty="0"/>
              <a:t>Wait For Event (WFE) instructions</a:t>
            </a:r>
            <a:r>
              <a:rPr lang="ko-KR" altLang="en-US" dirty="0"/>
              <a:t>이 호출되면 </a:t>
            </a:r>
            <a:r>
              <a:rPr lang="en-US" altLang="ko-KR" dirty="0"/>
              <a:t>Core</a:t>
            </a:r>
            <a:r>
              <a:rPr lang="ko-KR" altLang="en-US" dirty="0"/>
              <a:t>는 </a:t>
            </a:r>
            <a:r>
              <a:rPr lang="en-US" altLang="ko-KR" dirty="0"/>
              <a:t>low-power </a:t>
            </a:r>
            <a:r>
              <a:rPr lang="ko-KR" altLang="en-US" dirty="0"/>
              <a:t>상태로 되면서 </a:t>
            </a:r>
            <a:r>
              <a:rPr lang="en-US" altLang="ko-KR" dirty="0"/>
              <a:t>exception</a:t>
            </a:r>
            <a:r>
              <a:rPr lang="ko-KR" altLang="en-US" dirty="0"/>
              <a:t>이 발생하기를 기다리게 된다</a:t>
            </a:r>
            <a:r>
              <a:rPr lang="en-US" altLang="ko-KR" dirty="0"/>
              <a:t>. </a:t>
            </a:r>
            <a:r>
              <a:rPr lang="ko-KR" altLang="en-US" dirty="0"/>
              <a:t>다른 </a:t>
            </a:r>
            <a:r>
              <a:rPr lang="en-US" altLang="ko-KR" dirty="0"/>
              <a:t>exception</a:t>
            </a:r>
            <a:r>
              <a:rPr lang="ko-KR" altLang="en-US" dirty="0"/>
              <a:t>이 발생할 때까지 </a:t>
            </a:r>
            <a:r>
              <a:rPr lang="en-US" altLang="ko-KR" dirty="0"/>
              <a:t>Core</a:t>
            </a:r>
            <a:r>
              <a:rPr lang="ko-KR" altLang="en-US" dirty="0"/>
              <a:t>는 </a:t>
            </a:r>
            <a:r>
              <a:rPr lang="en-US" altLang="ko-KR" dirty="0"/>
              <a:t>Sleep </a:t>
            </a:r>
            <a:r>
              <a:rPr lang="ko-KR" altLang="en-US" dirty="0"/>
              <a:t>상태에 있게 된다</a:t>
            </a:r>
            <a:r>
              <a:rPr lang="en-US" altLang="ko-KR" dirty="0"/>
              <a:t>.</a:t>
            </a:r>
          </a:p>
        </p:txBody>
      </p:sp>
      <p:pic>
        <p:nvPicPr>
          <p:cNvPr id="11265" name="Picture 1" descr="Snap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2928934"/>
            <a:ext cx="5730875" cy="335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Hardware</a:t>
            </a:r>
            <a:r>
              <a:rPr lang="ko-KR" altLang="en-US" dirty="0"/>
              <a:t> </a:t>
            </a:r>
            <a:r>
              <a:rPr lang="en-US" altLang="ko-KR" dirty="0"/>
              <a:t>Stack </a:t>
            </a:r>
            <a:r>
              <a:rPr lang="ko-KR" altLang="en-US" dirty="0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ARM7 </a:t>
            </a:r>
            <a:r>
              <a:rPr lang="ko-KR" altLang="en-US" dirty="0"/>
              <a:t>프로세서의 경우 여러가지 </a:t>
            </a:r>
            <a:r>
              <a:rPr lang="en-US" altLang="ko-KR" dirty="0"/>
              <a:t>exception mode</a:t>
            </a:r>
            <a:r>
              <a:rPr lang="ko-KR" altLang="en-US" dirty="0"/>
              <a:t>가 존재하고 각각의 경우마다 </a:t>
            </a:r>
            <a:r>
              <a:rPr lang="en-US" altLang="ko-KR" dirty="0"/>
              <a:t>banked </a:t>
            </a:r>
            <a:r>
              <a:rPr lang="ko-KR" altLang="en-US" dirty="0"/>
              <a:t>레지스터들이 존재했었다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en-US" altLang="ko-KR" dirty="0"/>
              <a:t>Cortex-M3</a:t>
            </a:r>
            <a:r>
              <a:rPr lang="ko-KR" altLang="en-US" dirty="0"/>
              <a:t>에서는 이러한 부분들을 거의 없애버리고 단순화시켜서 </a:t>
            </a:r>
            <a:r>
              <a:rPr lang="en-US" altLang="ko-KR" dirty="0"/>
              <a:t>gate count</a:t>
            </a:r>
            <a:r>
              <a:rPr lang="ko-KR" altLang="en-US" dirty="0"/>
              <a:t>를 줄이면서 시스템의 복잡도도 줄였다</a:t>
            </a:r>
            <a:r>
              <a:rPr lang="en-US" altLang="ko-KR" dirty="0"/>
              <a:t>. </a:t>
            </a:r>
            <a:r>
              <a:rPr lang="ko-KR" altLang="en-US" dirty="0"/>
              <a:t>대신 이러한 방식을 대신하는 방법으로 </a:t>
            </a:r>
            <a:r>
              <a:rPr lang="en-US" altLang="ko-KR" b="1" u="sng" dirty="0">
                <a:solidFill>
                  <a:srgbClr val="FF0000"/>
                </a:solidFill>
              </a:rPr>
              <a:t>stack base</a:t>
            </a:r>
            <a:r>
              <a:rPr lang="ko-KR" altLang="en-US" b="1" u="sng" dirty="0">
                <a:solidFill>
                  <a:srgbClr val="FF0000"/>
                </a:solidFill>
              </a:rPr>
              <a:t>의 </a:t>
            </a:r>
            <a:r>
              <a:rPr lang="en-US" altLang="ko-KR" b="1" u="sng" dirty="0">
                <a:solidFill>
                  <a:srgbClr val="FF0000"/>
                </a:solidFill>
              </a:rPr>
              <a:t>exception </a:t>
            </a:r>
            <a:r>
              <a:rPr lang="ko-KR" altLang="en-US" b="1" u="sng" dirty="0">
                <a:solidFill>
                  <a:srgbClr val="FF0000"/>
                </a:solidFill>
              </a:rPr>
              <a:t>모델</a:t>
            </a:r>
            <a:r>
              <a:rPr lang="ko-KR" altLang="en-US" dirty="0"/>
              <a:t>을 제시하고 있는 것이다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exception</a:t>
            </a:r>
            <a:r>
              <a:rPr lang="ko-KR" altLang="en-US" dirty="0"/>
              <a:t>이 발생했을 때 프로세서는 자동으로 </a:t>
            </a:r>
            <a:r>
              <a:rPr lang="ko-KR" altLang="en-US" b="1" u="sng" dirty="0">
                <a:solidFill>
                  <a:srgbClr val="FF0000"/>
                </a:solidFill>
              </a:rPr>
              <a:t>하드웨어적으로 </a:t>
            </a:r>
            <a:r>
              <a:rPr lang="en-US" altLang="ko-KR" b="1" u="sng" dirty="0">
                <a:solidFill>
                  <a:srgbClr val="FF0000"/>
                </a:solidFill>
              </a:rPr>
              <a:t>Program Counter, Program Status Register, Link Register </a:t>
            </a:r>
            <a:r>
              <a:rPr lang="ko-KR" altLang="en-US" b="1" u="sng" dirty="0">
                <a:solidFill>
                  <a:srgbClr val="FF0000"/>
                </a:solidFill>
              </a:rPr>
              <a:t>그리고 </a:t>
            </a:r>
            <a:r>
              <a:rPr lang="en-US" altLang="ko-KR" b="1" u="sng" dirty="0">
                <a:solidFill>
                  <a:srgbClr val="FF0000"/>
                </a:solidFill>
              </a:rPr>
              <a:t>R0-R3, R12</a:t>
            </a:r>
            <a:r>
              <a:rPr lang="ko-KR" altLang="en-US" b="1" u="sng" dirty="0">
                <a:solidFill>
                  <a:srgbClr val="FF0000"/>
                </a:solidFill>
              </a:rPr>
              <a:t>의 일반 레지스터를 스텍에 저장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저장 과정은 </a:t>
            </a:r>
            <a:r>
              <a:rPr lang="en-US" altLang="ko-KR" dirty="0"/>
              <a:t>instruction bus</a:t>
            </a:r>
            <a:r>
              <a:rPr lang="ko-KR" altLang="en-US" dirty="0"/>
              <a:t>가 </a:t>
            </a:r>
            <a:r>
              <a:rPr lang="en-US" altLang="ko-KR" dirty="0"/>
              <a:t>vector table</a:t>
            </a:r>
            <a:r>
              <a:rPr lang="ko-KR" altLang="en-US" dirty="0"/>
              <a:t>로부터 </a:t>
            </a:r>
            <a:r>
              <a:rPr lang="en-US" altLang="ko-KR" dirty="0"/>
              <a:t>exception vector</a:t>
            </a:r>
            <a:r>
              <a:rPr lang="ko-KR" altLang="en-US" dirty="0"/>
              <a:t>를 인지하고 </a:t>
            </a:r>
            <a:r>
              <a:rPr lang="en-US" altLang="ko-KR" dirty="0"/>
              <a:t>exception code</a:t>
            </a:r>
            <a:r>
              <a:rPr lang="ko-KR" altLang="en-US" dirty="0"/>
              <a:t>의 첫 번째 </a:t>
            </a:r>
            <a:r>
              <a:rPr lang="en-US" altLang="ko-KR" dirty="0"/>
              <a:t>instruction</a:t>
            </a:r>
            <a:r>
              <a:rPr lang="ko-KR" altLang="en-US" dirty="0"/>
              <a:t>을 </a:t>
            </a:r>
            <a:r>
              <a:rPr lang="en-US" altLang="ko-KR" dirty="0"/>
              <a:t>fetch</a:t>
            </a:r>
            <a:r>
              <a:rPr lang="ko-KR" altLang="en-US" dirty="0"/>
              <a:t>하는 동안에</a:t>
            </a:r>
            <a:r>
              <a:rPr lang="en-US" altLang="ko-KR" dirty="0"/>
              <a:t>, data bus</a:t>
            </a:r>
            <a:r>
              <a:rPr lang="ko-KR" altLang="en-US" dirty="0"/>
              <a:t>가 레지스터를 </a:t>
            </a:r>
            <a:r>
              <a:rPr lang="en-US" altLang="ko-KR" dirty="0"/>
              <a:t>stack</a:t>
            </a:r>
            <a:r>
              <a:rPr lang="ko-KR" altLang="en-US" dirty="0"/>
              <a:t>에 저장하게 된다</a:t>
            </a:r>
            <a:r>
              <a:rPr lang="en-US" altLang="ko-KR" dirty="0"/>
              <a:t>.</a:t>
            </a:r>
          </a:p>
          <a:p>
            <a:r>
              <a:rPr lang="ko-KR" altLang="en-US" b="1" u="sng" dirty="0">
                <a:solidFill>
                  <a:srgbClr val="0000FF"/>
                </a:solidFill>
              </a:rPr>
              <a:t>동시에 작업을 진행함으로 인해서 </a:t>
            </a:r>
            <a:r>
              <a:rPr lang="en-US" altLang="ko-KR" b="1" u="sng" dirty="0">
                <a:solidFill>
                  <a:srgbClr val="0000FF"/>
                </a:solidFill>
              </a:rPr>
              <a:t>interrupt</a:t>
            </a:r>
            <a:r>
              <a:rPr lang="ko-KR" altLang="en-US" b="1" u="sng" dirty="0">
                <a:solidFill>
                  <a:srgbClr val="0000FF"/>
                </a:solidFill>
              </a:rPr>
              <a:t>가 발생하였을 때의 지연시간을 극소화시키는 것이다</a:t>
            </a:r>
            <a:r>
              <a:rPr lang="en-US" altLang="ko-KR" b="1" u="sng" dirty="0">
                <a:solidFill>
                  <a:srgbClr val="0000FF"/>
                </a:solidFill>
              </a:rPr>
              <a:t>.</a:t>
            </a:r>
          </a:p>
          <a:p>
            <a:r>
              <a:rPr lang="en-US" altLang="ko-KR" dirty="0"/>
              <a:t>hardware</a:t>
            </a:r>
            <a:r>
              <a:rPr lang="ko-KR" altLang="en-US" dirty="0"/>
              <a:t>가 </a:t>
            </a:r>
            <a:r>
              <a:rPr lang="en-US" altLang="ko-KR" dirty="0"/>
              <a:t>stack</a:t>
            </a:r>
            <a:r>
              <a:rPr lang="ko-KR" altLang="en-US" dirty="0"/>
              <a:t>의 처리에 대한 것을 담당함으로써 전통적인 </a:t>
            </a:r>
            <a:r>
              <a:rPr lang="en-US" altLang="ko-KR" dirty="0"/>
              <a:t>C </a:t>
            </a:r>
            <a:r>
              <a:rPr lang="ko-KR" altLang="en-US" dirty="0"/>
              <a:t>함수에서 </a:t>
            </a:r>
            <a:r>
              <a:rPr lang="en-US" altLang="ko-KR" dirty="0"/>
              <a:t>ISR routine</a:t>
            </a:r>
            <a:r>
              <a:rPr lang="ko-KR" altLang="en-US" dirty="0"/>
              <a:t>의 경우에 특별히 처리해주던 </a:t>
            </a:r>
            <a:r>
              <a:rPr lang="en-US" altLang="ko-KR" dirty="0"/>
              <a:t>stack </a:t>
            </a:r>
            <a:r>
              <a:rPr lang="ko-KR" altLang="en-US" dirty="0"/>
              <a:t>처리와 관련한 </a:t>
            </a:r>
            <a:r>
              <a:rPr lang="en-US" altLang="ko-KR" dirty="0"/>
              <a:t>assembler wrappers</a:t>
            </a:r>
            <a:r>
              <a:rPr lang="ko-KR" altLang="en-US" dirty="0"/>
              <a:t>를 추가하던 부분이 </a:t>
            </a:r>
            <a:r>
              <a:rPr lang="en-US" altLang="ko-KR" dirty="0"/>
              <a:t>Cortex-M3 processor</a:t>
            </a:r>
            <a:r>
              <a:rPr lang="ko-KR" altLang="en-US" dirty="0"/>
              <a:t>에서는 필요 없어진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ARM7,9</a:t>
            </a:r>
            <a:r>
              <a:rPr lang="ko-KR" altLang="en-US" dirty="0"/>
              <a:t> </a:t>
            </a:r>
            <a:r>
              <a:rPr lang="en-US" altLang="ko-KR" dirty="0"/>
              <a:t>ISR routine</a:t>
            </a:r>
            <a:r>
              <a:rPr lang="ko-KR" altLang="en-US" dirty="0"/>
              <a:t> 선언 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1200" b="1" dirty="0"/>
              <a:t>#</a:t>
            </a:r>
            <a:r>
              <a:rPr lang="en-US" altLang="ko-KR" sz="1200" b="1" dirty="0" err="1"/>
              <a:t>ifdef</a:t>
            </a:r>
            <a:r>
              <a:rPr lang="en-US" altLang="ko-KR" sz="1200" b="1" dirty="0"/>
              <a:t> __GNUC__ /* gcc */</a:t>
            </a:r>
          </a:p>
          <a:p>
            <a:pPr>
              <a:buNone/>
            </a:pPr>
            <a:r>
              <a:rPr lang="en-US" altLang="ko-KR" sz="1200" b="1" dirty="0"/>
              <a:t>#</a:t>
            </a:r>
            <a:r>
              <a:rPr lang="en-US" altLang="ko-KR" sz="1200" b="1" dirty="0" err="1"/>
              <a:t>ifdef</a:t>
            </a:r>
            <a:r>
              <a:rPr lang="en-US" altLang="ko-KR" sz="1200" b="1" dirty="0"/>
              <a:t> TEST_FIQ</a:t>
            </a:r>
          </a:p>
          <a:p>
            <a:pPr>
              <a:buNone/>
            </a:pPr>
            <a:r>
              <a:rPr lang="en-US" altLang="ko-KR" sz="1200" b="1" dirty="0"/>
              <a:t>void Timer1_InterruptServiceRoutine(void) </a:t>
            </a:r>
            <a:r>
              <a:rPr lang="en-US" altLang="ko-KR" sz="1200" b="1" dirty="0">
                <a:solidFill>
                  <a:srgbClr val="FF0000"/>
                </a:solidFill>
              </a:rPr>
              <a:t>__attribute__ ((interrupt("FIQ")));</a:t>
            </a:r>
          </a:p>
          <a:p>
            <a:pPr>
              <a:buNone/>
            </a:pPr>
            <a:r>
              <a:rPr lang="en-US" altLang="ko-KR" sz="1200" b="1" dirty="0"/>
              <a:t>#else</a:t>
            </a:r>
          </a:p>
          <a:p>
            <a:pPr>
              <a:buNone/>
            </a:pPr>
            <a:r>
              <a:rPr lang="en-US" altLang="ko-KR" sz="1200" b="1" dirty="0"/>
              <a:t>void Timer1_InterruptServiceRoutine(void) </a:t>
            </a:r>
            <a:r>
              <a:rPr lang="en-US" altLang="ko-KR" sz="1200" b="1" dirty="0">
                <a:solidFill>
                  <a:srgbClr val="FF0000"/>
                </a:solidFill>
              </a:rPr>
              <a:t>__attribute__ ((interrupt("IRQ")));</a:t>
            </a:r>
          </a:p>
          <a:p>
            <a:pPr>
              <a:buNone/>
            </a:pPr>
            <a:r>
              <a:rPr lang="en-US" altLang="ko-KR" sz="1200" b="1" dirty="0"/>
              <a:t>#</a:t>
            </a:r>
            <a:r>
              <a:rPr lang="en-US" altLang="ko-KR" sz="1200" b="1" dirty="0" err="1"/>
              <a:t>endif</a:t>
            </a:r>
            <a:endParaRPr lang="en-US" altLang="ko-KR" sz="1200" b="1" dirty="0"/>
          </a:p>
          <a:p>
            <a:pPr>
              <a:buNone/>
            </a:pPr>
            <a:r>
              <a:rPr lang="en-US" altLang="ko-KR" sz="1200" b="1" dirty="0"/>
              <a:t>#</a:t>
            </a:r>
            <a:r>
              <a:rPr lang="en-US" altLang="ko-KR" sz="1200" b="1" dirty="0" err="1"/>
              <a:t>endif</a:t>
            </a:r>
            <a:endParaRPr lang="en-US" altLang="ko-KR" sz="1200" b="1" dirty="0"/>
          </a:p>
          <a:p>
            <a:endParaRPr lang="en-US" altLang="ko-KR" sz="1200" b="1" dirty="0"/>
          </a:p>
          <a:p>
            <a:pPr>
              <a:buNone/>
            </a:pPr>
            <a:r>
              <a:rPr lang="en-US" altLang="ko-KR" sz="1200" b="1" dirty="0"/>
              <a:t>#</a:t>
            </a:r>
            <a:r>
              <a:rPr lang="en-US" altLang="ko-KR" sz="1200" b="1" dirty="0" err="1"/>
              <a:t>ifdef</a:t>
            </a:r>
            <a:r>
              <a:rPr lang="en-US" altLang="ko-KR" sz="1200" b="1" dirty="0"/>
              <a:t> __ARMCC_VERSION /* </a:t>
            </a:r>
            <a:r>
              <a:rPr lang="en-US" altLang="ko-KR" sz="1200" b="1" dirty="0" err="1"/>
              <a:t>armcc</a:t>
            </a:r>
            <a:r>
              <a:rPr lang="en-US" altLang="ko-KR" sz="1200" b="1" dirty="0"/>
              <a:t> (for ADS 1.2) */</a:t>
            </a:r>
          </a:p>
          <a:p>
            <a:pPr>
              <a:buNone/>
            </a:pPr>
            <a:r>
              <a:rPr lang="en-US" altLang="ko-KR" sz="1200" b="1" dirty="0"/>
              <a:t>void</a:t>
            </a:r>
            <a:r>
              <a:rPr lang="en-US" altLang="ko-KR" sz="1200" b="1" dirty="0">
                <a:solidFill>
                  <a:srgbClr val="FF0000"/>
                </a:solidFill>
              </a:rPr>
              <a:t> __irq </a:t>
            </a:r>
            <a:r>
              <a:rPr lang="en-US" altLang="ko-KR" sz="1200" b="1" dirty="0"/>
              <a:t>Timer1_InterruptServiceRoutine (void)</a:t>
            </a:r>
          </a:p>
          <a:p>
            <a:pPr>
              <a:buNone/>
            </a:pPr>
            <a:r>
              <a:rPr lang="en-US" altLang="ko-KR" sz="1200" b="1" dirty="0"/>
              <a:t>#else // __GNUC__ /* gcc */</a:t>
            </a:r>
          </a:p>
          <a:p>
            <a:pPr>
              <a:buNone/>
            </a:pPr>
            <a:r>
              <a:rPr lang="en-US" altLang="ko-KR" sz="1200" b="1" dirty="0"/>
              <a:t>void Timer1_InterruptServiceRoutine (void)</a:t>
            </a:r>
          </a:p>
          <a:p>
            <a:pPr>
              <a:buNone/>
            </a:pPr>
            <a:r>
              <a:rPr lang="en-US" altLang="ko-KR" sz="1200" b="1" dirty="0"/>
              <a:t>#</a:t>
            </a:r>
            <a:r>
              <a:rPr lang="en-US" altLang="ko-KR" sz="1200" b="1" dirty="0" err="1"/>
              <a:t>endif</a:t>
            </a:r>
            <a:endParaRPr lang="en-US" altLang="ko-KR" sz="1200" b="1" dirty="0"/>
          </a:p>
          <a:p>
            <a:pPr>
              <a:buNone/>
            </a:pPr>
            <a:endParaRPr lang="en-US" altLang="ko-KR" dirty="0"/>
          </a:p>
          <a:p>
            <a:r>
              <a:rPr lang="en-US" altLang="ko-KR" dirty="0"/>
              <a:t>ADS V1.2</a:t>
            </a:r>
            <a:r>
              <a:rPr lang="ko-KR" altLang="en-US" dirty="0"/>
              <a:t>에서는 </a:t>
            </a:r>
            <a:r>
              <a:rPr lang="en-US" altLang="ko-KR" dirty="0"/>
              <a:t>__irq</a:t>
            </a:r>
            <a:r>
              <a:rPr lang="ko-KR" altLang="en-US" dirty="0"/>
              <a:t>라는 컴파일러 지시어를 사용하고 </a:t>
            </a:r>
            <a:r>
              <a:rPr lang="en-US" altLang="ko-KR" dirty="0"/>
              <a:t>GCC</a:t>
            </a:r>
            <a:r>
              <a:rPr lang="ko-KR" altLang="en-US" dirty="0"/>
              <a:t>는 </a:t>
            </a:r>
            <a:r>
              <a:rPr lang="en-US" altLang="ko-KR" dirty="0"/>
              <a:t>__attribute__ ((interrupt("IRQ")))</a:t>
            </a:r>
            <a:r>
              <a:rPr lang="ko-KR" altLang="en-US" dirty="0"/>
              <a:t>와 같은 지시어를 사용한다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지시어는 컴파일러로 하여금 이것이 </a:t>
            </a:r>
            <a:r>
              <a:rPr lang="en-US" altLang="ko-KR" dirty="0"/>
              <a:t>interrupt service routine</a:t>
            </a:r>
            <a:r>
              <a:rPr lang="ko-KR" altLang="en-US" dirty="0"/>
              <a:t>이라는 것을 알수 있게 하는 것이다</a:t>
            </a:r>
            <a:r>
              <a:rPr lang="en-US" altLang="ko-KR" dirty="0"/>
              <a:t>. </a:t>
            </a:r>
            <a:r>
              <a:rPr lang="ko-KR" altLang="en-US" dirty="0"/>
              <a:t>일반 함수들이 호출되는 과정과 </a:t>
            </a:r>
            <a:r>
              <a:rPr lang="en-US" altLang="ko-KR" dirty="0"/>
              <a:t>ISR</a:t>
            </a:r>
            <a:r>
              <a:rPr lang="ko-KR" altLang="en-US" dirty="0"/>
              <a:t>에서의 </a:t>
            </a:r>
            <a:r>
              <a:rPr lang="en-US" altLang="ko-KR" dirty="0"/>
              <a:t>stack</a:t>
            </a:r>
            <a:r>
              <a:rPr lang="ko-KR" altLang="en-US" dirty="0"/>
              <a:t>에 대한 처리를 구분해서 컴파일 할 수 있도록 해야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Cortex-M3</a:t>
            </a:r>
            <a:r>
              <a:rPr lang="ko-KR" altLang="en-US" dirty="0"/>
              <a:t>에서는 하드웨어가 </a:t>
            </a:r>
            <a:r>
              <a:rPr lang="en-US" altLang="ko-KR" dirty="0"/>
              <a:t>stack</a:t>
            </a:r>
            <a:r>
              <a:rPr lang="ko-KR" altLang="en-US" dirty="0"/>
              <a:t>에 대한 부분을 처리해주기 때문에 이러한 지시어가 필요 없어진 것이다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Interrupt Latency</a:t>
            </a:r>
            <a:r>
              <a:rPr lang="ko-KR" altLang="en-US" dirty="0"/>
              <a:t> 감소 </a:t>
            </a:r>
            <a:r>
              <a:rPr lang="en-US" altLang="ko-KR" dirty="0"/>
              <a:t>3</a:t>
            </a:r>
            <a:r>
              <a:rPr lang="ko-KR" altLang="en-US" dirty="0"/>
              <a:t>가지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u="sng" dirty="0">
                <a:solidFill>
                  <a:srgbClr val="0000FF"/>
                </a:solidFill>
              </a:rPr>
              <a:t>Tail chaining, late arrival, pop pre-emption</a:t>
            </a:r>
          </a:p>
          <a:p>
            <a:endParaRPr lang="en-US" altLang="ko-KR" dirty="0"/>
          </a:p>
          <a:p>
            <a:r>
              <a:rPr lang="en-US" altLang="ko-KR" dirty="0"/>
              <a:t>Nested</a:t>
            </a:r>
            <a:r>
              <a:rPr lang="ko-KR" altLang="en-US" dirty="0"/>
              <a:t>에 대한 지원으로 인해서 이미 처리되고 있는 </a:t>
            </a:r>
            <a:r>
              <a:rPr lang="en-US" altLang="ko-KR" dirty="0"/>
              <a:t>interrupt</a:t>
            </a:r>
            <a:r>
              <a:rPr lang="ko-KR" altLang="en-US" dirty="0"/>
              <a:t>가 보다 더 높은 우선순위를 갖는 </a:t>
            </a:r>
            <a:r>
              <a:rPr lang="en-US" altLang="ko-KR" dirty="0"/>
              <a:t>interrupt</a:t>
            </a:r>
            <a:r>
              <a:rPr lang="ko-KR" altLang="en-US" dirty="0"/>
              <a:t>에 의해서 언제든 중단될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우선 순위에 대한 것이 영구적으로 고정된 것이 아니라 소프트웨어적으로 변경하는 것도 가능하다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인터럽트가 현재 처리 중인 상태에서 보다 높은 우선순위의 인터럽트에 의해서 중단되는 경우는 어쩔 수 없이 지금 수행 중이던 인터럽트의 상태를 보존하기 위한 </a:t>
            </a:r>
            <a:r>
              <a:rPr lang="en-US" altLang="ko-KR" dirty="0"/>
              <a:t>Stack push</a:t>
            </a:r>
            <a:r>
              <a:rPr lang="ko-KR" altLang="en-US" dirty="0"/>
              <a:t>와 높은 우선순위의 인터럽트 종료 후에 </a:t>
            </a:r>
            <a:r>
              <a:rPr lang="en-US" altLang="ko-KR" dirty="0"/>
              <a:t>Stack pop</a:t>
            </a:r>
            <a:r>
              <a:rPr lang="ko-KR" altLang="en-US" dirty="0"/>
              <a:t>을 수행할 수밖에 없다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ko-KR" altLang="en-US" b="1" u="sng" dirty="0"/>
              <a:t>그런 상황이 아닌 경우에 타이밍 상으로 보다 빠르게 인터럽트를 처리할 수 있는 방안들</a:t>
            </a:r>
            <a:r>
              <a:rPr lang="ko-KR" altLang="en-US" dirty="0"/>
              <a:t>이 여러 개 있을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Tail Chaining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000372"/>
            <a:ext cx="8858250" cy="3524252"/>
          </a:xfrm>
        </p:spPr>
        <p:txBody>
          <a:bodyPr/>
          <a:lstStyle/>
          <a:p>
            <a:r>
              <a:rPr lang="en-US" altLang="ko-KR" dirty="0"/>
              <a:t>back-to-back interrupts: </a:t>
            </a:r>
            <a:r>
              <a:rPr lang="ko-KR" altLang="en-US" dirty="0"/>
              <a:t>동시에 여러 인터럽트가 쌓여 있는 경우</a:t>
            </a:r>
            <a:endParaRPr lang="en-US" altLang="ko-KR" dirty="0"/>
          </a:p>
          <a:p>
            <a:r>
              <a:rPr lang="ko-KR" altLang="en-US" dirty="0"/>
              <a:t>전통적인 방식에서는 </a:t>
            </a:r>
            <a:r>
              <a:rPr lang="en-US" altLang="ko-KR" dirty="0"/>
              <a:t>Stack push pop</a:t>
            </a:r>
            <a:r>
              <a:rPr lang="ko-KR" altLang="en-US" dirty="0"/>
              <a:t>이 </a:t>
            </a:r>
            <a:r>
              <a:rPr lang="en-US" altLang="ko-KR" dirty="0"/>
              <a:t>2</a:t>
            </a:r>
            <a:r>
              <a:rPr lang="ko-KR" altLang="en-US" dirty="0"/>
              <a:t>회 발생하게 되지만 </a:t>
            </a:r>
            <a:r>
              <a:rPr lang="en-US" altLang="ko-KR" dirty="0"/>
              <a:t>tail-chaining </a:t>
            </a:r>
            <a:r>
              <a:rPr lang="ko-KR" altLang="en-US" dirty="0"/>
              <a:t>방법을 이용해서 이 횟수를 한번으로 줄이는 것이다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전통적인 방식에서 두 인터럽트의 처리 부분에 대한 실행시간을 제외하고 오버헤드로 붙는 클럭 수가 총 </a:t>
            </a:r>
            <a:r>
              <a:rPr lang="en-US" altLang="ko-KR" dirty="0"/>
              <a:t>84 cycle</a:t>
            </a:r>
            <a:r>
              <a:rPr lang="ko-KR" altLang="en-US" dirty="0"/>
              <a:t>이 된다</a:t>
            </a:r>
            <a:r>
              <a:rPr lang="en-US" altLang="ko-KR" dirty="0"/>
              <a:t>. </a:t>
            </a:r>
            <a:r>
              <a:rPr lang="ko-KR" altLang="en-US" dirty="0"/>
              <a:t>하지만 </a:t>
            </a:r>
            <a:r>
              <a:rPr lang="en-US" altLang="ko-KR" dirty="0"/>
              <a:t>tail-chining</a:t>
            </a:r>
            <a:r>
              <a:rPr lang="ko-KR" altLang="en-US" dirty="0"/>
              <a:t>을 사용하는 </a:t>
            </a:r>
            <a:r>
              <a:rPr lang="en-US" altLang="ko-KR" dirty="0"/>
              <a:t>Cortex-M3</a:t>
            </a:r>
            <a:r>
              <a:rPr lang="ko-KR" altLang="en-US" dirty="0"/>
              <a:t>에서는 </a:t>
            </a:r>
            <a:r>
              <a:rPr lang="en-US" altLang="ko-KR" dirty="0"/>
              <a:t>30 cycle</a:t>
            </a:r>
            <a:r>
              <a:rPr lang="ko-KR" altLang="en-US" dirty="0"/>
              <a:t>로 무려 </a:t>
            </a:r>
            <a:r>
              <a:rPr lang="en-US" altLang="ko-KR" b="1" u="sng" dirty="0"/>
              <a:t>54 cycle</a:t>
            </a:r>
            <a:r>
              <a:rPr lang="ko-KR" altLang="en-US" b="1" u="sng" dirty="0"/>
              <a:t>을 절약</a:t>
            </a:r>
            <a:r>
              <a:rPr lang="ko-KR" altLang="en-US" dirty="0"/>
              <a:t>하게 되는 것이다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NVIC hardware </a:t>
            </a:r>
            <a:r>
              <a:rPr lang="ko-KR" altLang="en-US" dirty="0"/>
              <a:t>내에 구현되어 있어서 보다 빠르고 쉽게 사용할수 있도록 해주고 있는 것이다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100 MHz </a:t>
            </a:r>
            <a:r>
              <a:rPr lang="ko-KR" altLang="en-US" dirty="0"/>
              <a:t>이하의 성능을 가지는 </a:t>
            </a:r>
            <a:r>
              <a:rPr lang="en-US" altLang="ko-KR" dirty="0"/>
              <a:t>micro-processor </a:t>
            </a:r>
            <a:r>
              <a:rPr lang="ko-KR" altLang="en-US" dirty="0"/>
              <a:t>시장에서 이 부분은 획기적인 성능 향상을 가져온다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Snap4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910" y="857245"/>
            <a:ext cx="56769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Late Arrival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571876"/>
            <a:ext cx="8858250" cy="2952748"/>
          </a:xfrm>
        </p:spPr>
        <p:txBody>
          <a:bodyPr/>
          <a:lstStyle/>
          <a:p>
            <a:r>
              <a:rPr lang="ko-KR" altLang="en-US" b="1" u="sng" dirty="0">
                <a:solidFill>
                  <a:srgbClr val="0000FF"/>
                </a:solidFill>
              </a:rPr>
              <a:t>높은 우선순위를 가지는 인터럽트가 더 늦게 도착한 경우</a:t>
            </a:r>
            <a:endParaRPr lang="en-US" altLang="ko-KR" b="1" u="sng" dirty="0">
              <a:solidFill>
                <a:srgbClr val="0000FF"/>
              </a:solidFill>
            </a:endParaRPr>
          </a:p>
          <a:p>
            <a:r>
              <a:rPr lang="ko-KR" altLang="en-US" dirty="0"/>
              <a:t>낮은 우선순위를 가지는 </a:t>
            </a:r>
            <a:r>
              <a:rPr lang="en-US" altLang="ko-KR" dirty="0"/>
              <a:t>IRQ2</a:t>
            </a:r>
            <a:r>
              <a:rPr lang="ko-KR" altLang="en-US" dirty="0"/>
              <a:t>가 먼저 발생을 했고 이를 위해서 현재의 프로세서 상태를 저장하기 위한 </a:t>
            </a:r>
            <a:r>
              <a:rPr lang="en-US" altLang="ko-KR" dirty="0"/>
              <a:t>Push </a:t>
            </a:r>
            <a:r>
              <a:rPr lang="ko-KR" altLang="en-US" dirty="0"/>
              <a:t>작업을 수행하고 있는 동안 </a:t>
            </a:r>
            <a:r>
              <a:rPr lang="en-US" altLang="ko-KR" b="1" u="sng" dirty="0">
                <a:solidFill>
                  <a:srgbClr val="C00000"/>
                </a:solidFill>
              </a:rPr>
              <a:t>(</a:t>
            </a:r>
            <a:r>
              <a:rPr lang="ko-KR" altLang="en-US" b="1" u="sng" dirty="0">
                <a:solidFill>
                  <a:srgbClr val="C00000"/>
                </a:solidFill>
              </a:rPr>
              <a:t>즉</a:t>
            </a:r>
            <a:r>
              <a:rPr lang="en-US" altLang="ko-KR" b="1" u="sng" dirty="0">
                <a:solidFill>
                  <a:srgbClr val="C00000"/>
                </a:solidFill>
              </a:rPr>
              <a:t>, </a:t>
            </a:r>
            <a:r>
              <a:rPr lang="ko-KR" altLang="en-US" b="1" u="sng" dirty="0">
                <a:solidFill>
                  <a:srgbClr val="C00000"/>
                </a:solidFill>
              </a:rPr>
              <a:t>아직까지 </a:t>
            </a:r>
            <a:r>
              <a:rPr lang="en-US" altLang="ko-KR" b="1" u="sng" dirty="0">
                <a:solidFill>
                  <a:srgbClr val="C00000"/>
                </a:solidFill>
              </a:rPr>
              <a:t>IRQ2</a:t>
            </a:r>
            <a:r>
              <a:rPr lang="ko-KR" altLang="en-US" b="1" u="sng" dirty="0">
                <a:solidFill>
                  <a:srgbClr val="C00000"/>
                </a:solidFill>
              </a:rPr>
              <a:t>의 </a:t>
            </a:r>
            <a:r>
              <a:rPr lang="en-US" altLang="ko-KR" b="1" u="sng" dirty="0">
                <a:solidFill>
                  <a:srgbClr val="C00000"/>
                </a:solidFill>
              </a:rPr>
              <a:t>ISR2</a:t>
            </a:r>
            <a:r>
              <a:rPr lang="ko-KR" altLang="en-US" b="1" u="sng" dirty="0">
                <a:solidFill>
                  <a:srgbClr val="C00000"/>
                </a:solidFill>
              </a:rPr>
              <a:t>가 실행되지 않은 상태인 것이 중요하다</a:t>
            </a:r>
            <a:r>
              <a:rPr lang="en-US" altLang="ko-KR" b="1" u="sng" dirty="0">
                <a:solidFill>
                  <a:srgbClr val="C00000"/>
                </a:solidFill>
              </a:rPr>
              <a:t>)</a:t>
            </a:r>
            <a:r>
              <a:rPr lang="en-US" altLang="ko-KR" dirty="0"/>
              <a:t> </a:t>
            </a:r>
            <a:r>
              <a:rPr lang="ko-KR" altLang="en-US" dirty="0"/>
              <a:t>이때 보다 높은 우선순위를 가진 </a:t>
            </a:r>
            <a:r>
              <a:rPr lang="en-US" altLang="ko-KR" dirty="0"/>
              <a:t>IRQ1</a:t>
            </a:r>
            <a:r>
              <a:rPr lang="ko-KR" altLang="en-US" dirty="0"/>
              <a:t>이 발생하게 되면</a:t>
            </a:r>
            <a:r>
              <a:rPr lang="en-US" altLang="ko-KR" dirty="0"/>
              <a:t>, </a:t>
            </a:r>
            <a:r>
              <a:rPr lang="ko-KR" altLang="en-US" dirty="0"/>
              <a:t>이전에 수행하던 </a:t>
            </a:r>
            <a:r>
              <a:rPr lang="en-US" altLang="ko-KR" dirty="0"/>
              <a:t>Push </a:t>
            </a:r>
            <a:r>
              <a:rPr lang="ko-KR" altLang="en-US" dirty="0"/>
              <a:t>작업은 그대로 수행을 하면서 </a:t>
            </a:r>
            <a:r>
              <a:rPr lang="en-US" altLang="ko-KR" dirty="0"/>
              <a:t>Push </a:t>
            </a:r>
            <a:r>
              <a:rPr lang="ko-KR" altLang="en-US" dirty="0"/>
              <a:t>작업이 끝난 이후에 먼저 발생한 </a:t>
            </a:r>
            <a:r>
              <a:rPr lang="en-US" altLang="ko-KR" dirty="0"/>
              <a:t>ISR2</a:t>
            </a:r>
            <a:r>
              <a:rPr lang="ko-KR" altLang="en-US" dirty="0"/>
              <a:t>를 수행하는 것이 아니고 </a:t>
            </a:r>
            <a:r>
              <a:rPr lang="en-US" altLang="ko-KR" dirty="0"/>
              <a:t>ISR1</a:t>
            </a:r>
            <a:r>
              <a:rPr lang="ko-KR" altLang="en-US" dirty="0"/>
              <a:t>을 먼저 수행한다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이후의 동작은 </a:t>
            </a:r>
            <a:r>
              <a:rPr lang="en-US" altLang="ko-KR" dirty="0"/>
              <a:t>tail-chaining</a:t>
            </a:r>
            <a:r>
              <a:rPr lang="ko-KR" altLang="en-US" dirty="0"/>
              <a:t>과 같이 </a:t>
            </a:r>
            <a:r>
              <a:rPr lang="en-US" altLang="ko-KR" dirty="0"/>
              <a:t>ISR1</a:t>
            </a:r>
            <a:r>
              <a:rPr lang="ko-KR" altLang="en-US" dirty="0"/>
              <a:t>에 대한 수행을 이어서 한다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Snap6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34" y="800099"/>
            <a:ext cx="6072230" cy="277177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Pop pre-emption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714752"/>
            <a:ext cx="8858250" cy="2809872"/>
          </a:xfrm>
        </p:spPr>
        <p:txBody>
          <a:bodyPr/>
          <a:lstStyle/>
          <a:p>
            <a:r>
              <a:rPr lang="en-US" altLang="ko-KR" dirty="0"/>
              <a:t>ISR </a:t>
            </a:r>
            <a:r>
              <a:rPr lang="ko-KR" altLang="en-US" dirty="0"/>
              <a:t>동작을 종료한 이후 이전 상태를 복구하기 위한 </a:t>
            </a:r>
            <a:r>
              <a:rPr lang="en-US" altLang="ko-KR" b="1" u="sng" dirty="0">
                <a:solidFill>
                  <a:srgbClr val="0000FF"/>
                </a:solidFill>
              </a:rPr>
              <a:t>Pop</a:t>
            </a:r>
            <a:r>
              <a:rPr lang="ko-KR" altLang="en-US" b="1" u="sng" dirty="0">
                <a:solidFill>
                  <a:srgbClr val="0000FF"/>
                </a:solidFill>
              </a:rPr>
              <a:t>을 수행하고 있는 시점에 다른 </a:t>
            </a:r>
            <a:r>
              <a:rPr lang="en-US" altLang="ko-KR" b="1" u="sng" dirty="0">
                <a:solidFill>
                  <a:srgbClr val="0000FF"/>
                </a:solidFill>
              </a:rPr>
              <a:t>IRQ</a:t>
            </a:r>
            <a:r>
              <a:rPr lang="ko-KR" altLang="en-US" b="1" u="sng" dirty="0">
                <a:solidFill>
                  <a:srgbClr val="0000FF"/>
                </a:solidFill>
              </a:rPr>
              <a:t>가 발생하는 경우</a:t>
            </a:r>
            <a:endParaRPr lang="en-US" altLang="ko-KR" b="1" u="sng" dirty="0">
              <a:solidFill>
                <a:srgbClr val="0000FF"/>
              </a:solidFill>
            </a:endParaRPr>
          </a:p>
          <a:p>
            <a:r>
              <a:rPr lang="ko-KR" altLang="en-US" dirty="0"/>
              <a:t>만약 </a:t>
            </a:r>
            <a:r>
              <a:rPr lang="en-US" altLang="ko-KR" b="1" u="sng" dirty="0">
                <a:solidFill>
                  <a:srgbClr val="C00000"/>
                </a:solidFill>
              </a:rPr>
              <a:t>Pop</a:t>
            </a:r>
            <a:r>
              <a:rPr lang="ko-KR" altLang="en-US" b="1" u="sng" dirty="0">
                <a:solidFill>
                  <a:srgbClr val="C00000"/>
                </a:solidFill>
              </a:rPr>
              <a:t>을 종료하지 않은 상황</a:t>
            </a:r>
            <a:r>
              <a:rPr lang="ko-KR" altLang="en-US" dirty="0"/>
              <a:t>이라면 이전의 </a:t>
            </a:r>
            <a:r>
              <a:rPr lang="en-US" altLang="ko-KR" dirty="0"/>
              <a:t>Pop</a:t>
            </a:r>
            <a:r>
              <a:rPr lang="ko-KR" altLang="en-US" dirty="0"/>
              <a:t>이 되고 있던 상황 자체를 무시하고 </a:t>
            </a:r>
            <a:r>
              <a:rPr lang="en-US" altLang="ko-KR" dirty="0"/>
              <a:t>Stack pointer</a:t>
            </a:r>
            <a:r>
              <a:rPr lang="ko-KR" altLang="en-US" dirty="0"/>
              <a:t>도 원래의 자리로 옮기고</a:t>
            </a:r>
            <a:r>
              <a:rPr lang="en-US" altLang="ko-KR" dirty="0"/>
              <a:t>, </a:t>
            </a:r>
            <a:r>
              <a:rPr lang="ko-KR" altLang="en-US" dirty="0"/>
              <a:t>새로 들어온 </a:t>
            </a:r>
            <a:r>
              <a:rPr lang="en-US" altLang="ko-KR" dirty="0"/>
              <a:t>interrupt</a:t>
            </a:r>
            <a:r>
              <a:rPr lang="ko-KR" altLang="en-US" dirty="0"/>
              <a:t>를 처리하게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경우 지연 시간 부분에서 </a:t>
            </a:r>
            <a:r>
              <a:rPr lang="en-US" altLang="ko-KR" dirty="0"/>
              <a:t>Pop</a:t>
            </a:r>
            <a:r>
              <a:rPr lang="ko-KR" altLang="en-US" dirty="0"/>
              <a:t>을 수행하던 </a:t>
            </a:r>
            <a:r>
              <a:rPr lang="en-US" altLang="ko-KR" dirty="0"/>
              <a:t>cycle</a:t>
            </a:r>
            <a:r>
              <a:rPr lang="ko-KR" altLang="en-US" dirty="0"/>
              <a:t>이 얼마나 진행되고 있었는가에 따라서 추가되는 </a:t>
            </a:r>
            <a:r>
              <a:rPr lang="en-US" altLang="ko-KR" dirty="0"/>
              <a:t>cycle</a:t>
            </a:r>
            <a:r>
              <a:rPr lang="ko-KR" altLang="en-US" dirty="0"/>
              <a:t>의 수는 달라질 수 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Snap7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34" y="785807"/>
            <a:ext cx="6000792" cy="278606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H/W divide</a:t>
            </a:r>
            <a:r>
              <a:rPr lang="ko-KR" altLang="en-US" dirty="0"/>
              <a:t>와 </a:t>
            </a:r>
            <a:r>
              <a:rPr lang="en-US" altLang="ko-KR" dirty="0"/>
              <a:t>single cycle multiply</a:t>
            </a:r>
          </a:p>
          <a:p>
            <a:pPr lvl="1"/>
            <a:r>
              <a:rPr lang="en-US" altLang="ko-KR" dirty="0"/>
              <a:t>32 </a:t>
            </a:r>
            <a:r>
              <a:rPr lang="ko-KR" altLang="en-US" dirty="0"/>
              <a:t>비트 곱셈을 한 </a:t>
            </a:r>
            <a:r>
              <a:rPr lang="en-US" altLang="ko-KR" dirty="0"/>
              <a:t>cycle</a:t>
            </a:r>
            <a:r>
              <a:rPr lang="ko-KR" altLang="en-US" dirty="0"/>
              <a:t>에 수행할 수 있도록 제공</a:t>
            </a:r>
            <a:endParaRPr lang="en-US" altLang="ko-KR" dirty="0"/>
          </a:p>
          <a:p>
            <a:pPr lvl="1"/>
            <a:r>
              <a:rPr lang="en-US" altLang="ko-KR" dirty="0"/>
              <a:t>Hardware divide</a:t>
            </a:r>
            <a:r>
              <a:rPr lang="ko-KR" altLang="en-US" dirty="0"/>
              <a:t> </a:t>
            </a:r>
            <a:r>
              <a:rPr lang="en-US" altLang="ko-KR" dirty="0"/>
              <a:t>ALU</a:t>
            </a:r>
            <a:r>
              <a:rPr lang="ko-KR" altLang="en-US" dirty="0"/>
              <a:t> 제공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2~12 cycle </a:t>
            </a:r>
            <a:r>
              <a:rPr lang="ko-KR" altLang="en-US" dirty="0"/>
              <a:t>내에 처리 가능한 </a:t>
            </a:r>
            <a:r>
              <a:rPr lang="en-US" altLang="ko-KR" dirty="0"/>
              <a:t>divider</a:t>
            </a:r>
            <a:r>
              <a:rPr lang="ko-KR" altLang="en-US" dirty="0"/>
              <a:t> 포함</a:t>
            </a:r>
            <a:endParaRPr lang="en-US" altLang="ko-KR" dirty="0"/>
          </a:p>
          <a:p>
            <a:r>
              <a:rPr lang="ko-KR" altLang="en-US" dirty="0"/>
              <a:t>완전히 </a:t>
            </a:r>
            <a:r>
              <a:rPr lang="en-US" altLang="ko-KR" dirty="0"/>
              <a:t>C</a:t>
            </a:r>
            <a:r>
              <a:rPr lang="ko-KR" altLang="en-US" dirty="0"/>
              <a:t>로만 구현하는 </a:t>
            </a:r>
            <a:r>
              <a:rPr lang="en-US" altLang="ko-KR" dirty="0"/>
              <a:t>Firmware</a:t>
            </a:r>
          </a:p>
          <a:p>
            <a:pPr lvl="1"/>
            <a:r>
              <a:rPr lang="ko-KR" altLang="en-US" dirty="0"/>
              <a:t>이유는 </a:t>
            </a:r>
            <a:r>
              <a:rPr lang="en-US" altLang="ko-KR" dirty="0"/>
              <a:t>Stack</a:t>
            </a:r>
            <a:r>
              <a:rPr lang="ko-KR" altLang="en-US" dirty="0"/>
              <a:t>에 대한 주소가 </a:t>
            </a:r>
            <a:r>
              <a:rPr lang="en-US" altLang="ko-KR" dirty="0"/>
              <a:t>0x0</a:t>
            </a:r>
            <a:r>
              <a:rPr lang="ko-KR" altLang="en-US" dirty="0"/>
              <a:t>번지에 들어가 있게 됨으로써 </a:t>
            </a:r>
            <a:r>
              <a:rPr lang="en-US" altLang="ko-KR" dirty="0"/>
              <a:t>ARM7, ARM9</a:t>
            </a:r>
            <a:r>
              <a:rPr lang="ko-KR" altLang="en-US" dirty="0"/>
              <a:t>에서의 초기화 작업이 </a:t>
            </a:r>
            <a:r>
              <a:rPr lang="en-US" altLang="ko-KR" dirty="0"/>
              <a:t>C </a:t>
            </a:r>
            <a:r>
              <a:rPr lang="ko-KR" altLang="en-US" dirty="0"/>
              <a:t>언어로도 가능해졌기 때문이다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Reset</a:t>
            </a:r>
            <a:r>
              <a:rPr lang="ko-KR" altLang="en-US" dirty="0"/>
              <a:t> 상태에서 </a:t>
            </a:r>
            <a:r>
              <a:rPr lang="en-US" altLang="ko-KR" dirty="0"/>
              <a:t>Stack </a:t>
            </a:r>
            <a:r>
              <a:rPr lang="ko-KR" altLang="en-US" dirty="0"/>
              <a:t>주소가 초기화 되어있지 않기 때문에 </a:t>
            </a:r>
            <a:r>
              <a:rPr lang="en-US" altLang="ko-KR" dirty="0"/>
              <a:t>Stack</a:t>
            </a:r>
            <a:r>
              <a:rPr lang="ko-KR" altLang="en-US" dirty="0"/>
              <a:t>을 초기화 하고 </a:t>
            </a:r>
            <a:r>
              <a:rPr lang="en-US" altLang="ko-KR" dirty="0"/>
              <a:t>Startup</a:t>
            </a:r>
            <a:r>
              <a:rPr lang="ko-KR" altLang="en-US" dirty="0"/>
              <a:t>과 관련한 </a:t>
            </a:r>
            <a:r>
              <a:rPr lang="en-US" altLang="ko-KR" dirty="0"/>
              <a:t>code</a:t>
            </a:r>
            <a:r>
              <a:rPr lang="ko-KR" altLang="en-US" dirty="0"/>
              <a:t>를 실행해야 하고 </a:t>
            </a:r>
            <a:r>
              <a:rPr lang="en-US" altLang="ko-KR" dirty="0"/>
              <a:t>(</a:t>
            </a:r>
            <a:r>
              <a:rPr lang="ko-KR" altLang="en-US" dirty="0"/>
              <a:t>이것을 어셈블리 언어로 작성해야 했다</a:t>
            </a:r>
            <a:r>
              <a:rPr lang="en-US" altLang="ko-KR" dirty="0"/>
              <a:t>) </a:t>
            </a:r>
            <a:r>
              <a:rPr lang="ko-KR" altLang="en-US" dirty="0"/>
              <a:t>비로소 </a:t>
            </a:r>
            <a:r>
              <a:rPr lang="en-US" altLang="ko-KR" dirty="0"/>
              <a:t>C</a:t>
            </a:r>
            <a:r>
              <a:rPr lang="ko-KR" altLang="en-US" dirty="0"/>
              <a:t>로 작성된 </a:t>
            </a:r>
            <a:r>
              <a:rPr lang="en-US" altLang="ko-KR" dirty="0"/>
              <a:t>main </a:t>
            </a:r>
            <a:r>
              <a:rPr lang="ko-KR" altLang="en-US" dirty="0"/>
              <a:t>함수로 진입할수 있었다</a:t>
            </a:r>
            <a:r>
              <a:rPr lang="en-US" altLang="ko-KR" dirty="0"/>
              <a:t>. Stack</a:t>
            </a:r>
            <a:r>
              <a:rPr lang="ko-KR" altLang="en-US" dirty="0"/>
              <a:t>이 초기화되지 않고서는 </a:t>
            </a:r>
            <a:r>
              <a:rPr lang="en-US" altLang="ko-KR" dirty="0"/>
              <a:t>C</a:t>
            </a:r>
            <a:r>
              <a:rPr lang="ko-KR" altLang="en-US" dirty="0"/>
              <a:t>로 구현된 내용이 처리될 수 없기 때문이다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Cortex-M3</a:t>
            </a:r>
            <a:r>
              <a:rPr lang="ko-KR" altLang="en-US" dirty="0"/>
              <a:t>의 경우 </a:t>
            </a:r>
            <a:r>
              <a:rPr lang="en-US" altLang="ko-KR" b="1" u="sng" dirty="0">
                <a:solidFill>
                  <a:srgbClr val="C00000"/>
                </a:solidFill>
              </a:rPr>
              <a:t>0x0</a:t>
            </a:r>
            <a:r>
              <a:rPr lang="ko-KR" altLang="en-US" b="1" u="sng" dirty="0">
                <a:solidFill>
                  <a:srgbClr val="C00000"/>
                </a:solidFill>
              </a:rPr>
              <a:t>번지에서 </a:t>
            </a:r>
            <a:r>
              <a:rPr lang="en-US" altLang="ko-KR" b="1" u="sng" dirty="0">
                <a:solidFill>
                  <a:srgbClr val="C00000"/>
                </a:solidFill>
              </a:rPr>
              <a:t>32 </a:t>
            </a:r>
            <a:r>
              <a:rPr lang="ko-KR" altLang="en-US" b="1" u="sng" dirty="0">
                <a:solidFill>
                  <a:srgbClr val="C00000"/>
                </a:solidFill>
              </a:rPr>
              <a:t>비트의 값을 가져와서 </a:t>
            </a:r>
            <a:r>
              <a:rPr lang="en-US" altLang="ko-KR" b="1" u="sng" dirty="0">
                <a:solidFill>
                  <a:srgbClr val="C00000"/>
                </a:solidFill>
              </a:rPr>
              <a:t>Stack </a:t>
            </a:r>
            <a:r>
              <a:rPr lang="ko-KR" altLang="en-US" b="1" u="sng" dirty="0">
                <a:solidFill>
                  <a:srgbClr val="C00000"/>
                </a:solidFill>
              </a:rPr>
              <a:t>주소를 초기화 한 이후에 </a:t>
            </a:r>
            <a:r>
              <a:rPr lang="en-US" altLang="ko-KR" b="1" u="sng" dirty="0">
                <a:solidFill>
                  <a:srgbClr val="C00000"/>
                </a:solidFill>
              </a:rPr>
              <a:t>Reset</a:t>
            </a:r>
            <a:r>
              <a:rPr lang="ko-KR" altLang="en-US" b="1" u="sng" dirty="0">
                <a:solidFill>
                  <a:srgbClr val="C00000"/>
                </a:solidFill>
              </a:rPr>
              <a:t>을 하기 때문</a:t>
            </a:r>
            <a:r>
              <a:rPr lang="ko-KR" altLang="en-US" dirty="0"/>
              <a:t>에 이것이 가능해진 것이다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Unaligned data access</a:t>
            </a:r>
          </a:p>
          <a:p>
            <a:pPr lvl="1"/>
            <a:r>
              <a:rPr lang="en-US" altLang="ko-KR" dirty="0"/>
              <a:t>ARM7</a:t>
            </a:r>
            <a:r>
              <a:rPr lang="ko-KR" altLang="en-US" dirty="0"/>
              <a:t>에서 </a:t>
            </a:r>
            <a:r>
              <a:rPr lang="en-US" altLang="ko-KR" dirty="0"/>
              <a:t>align</a:t>
            </a:r>
            <a:r>
              <a:rPr lang="ko-KR" altLang="en-US" dirty="0"/>
              <a:t>이 맞지 않으면 </a:t>
            </a:r>
            <a:r>
              <a:rPr lang="en-US" altLang="ko-KR" dirty="0"/>
              <a:t>Abort exception</a:t>
            </a:r>
            <a:r>
              <a:rPr lang="ko-KR" altLang="en-US" dirty="0"/>
              <a:t>이 발생</a:t>
            </a:r>
            <a:endParaRPr lang="en-US" altLang="ko-KR" dirty="0"/>
          </a:p>
          <a:p>
            <a:pPr lvl="1"/>
            <a:r>
              <a:rPr lang="en-US" altLang="ko-KR" dirty="0"/>
              <a:t>Cortex-M3</a:t>
            </a:r>
            <a:r>
              <a:rPr lang="ko-KR" altLang="en-US" dirty="0"/>
              <a:t>에서는 </a:t>
            </a:r>
            <a:r>
              <a:rPr lang="en-US" altLang="ko-KR" dirty="0"/>
              <a:t>4 </a:t>
            </a:r>
            <a:r>
              <a:rPr lang="ko-KR" altLang="en-US" dirty="0"/>
              <a:t>바이트로 </a:t>
            </a:r>
            <a:r>
              <a:rPr lang="en-US" altLang="ko-KR" dirty="0"/>
              <a:t>align</a:t>
            </a:r>
            <a:r>
              <a:rPr lang="ko-KR" altLang="en-US" dirty="0"/>
              <a:t>이 되어있지 않은 데이타 구조에서도 </a:t>
            </a:r>
            <a:r>
              <a:rPr lang="en-US" altLang="ko-KR" dirty="0"/>
              <a:t>access</a:t>
            </a:r>
            <a:r>
              <a:rPr lang="ko-KR" altLang="en-US" dirty="0"/>
              <a:t>가 가능하도록 설계되어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물론 </a:t>
            </a:r>
            <a:r>
              <a:rPr lang="en-US" altLang="ko-KR" dirty="0"/>
              <a:t>align</a:t>
            </a:r>
            <a:r>
              <a:rPr lang="ko-KR" altLang="en-US" dirty="0"/>
              <a:t>이 맞지 않는 접근을 하면 속도에서의 손실을 볼수 밖에 없다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17051</TotalTime>
  <Words>2573</Words>
  <Application>Microsoft Office PowerPoint</Application>
  <PresentationFormat>화면 슬라이드 쇼(4:3)</PresentationFormat>
  <Paragraphs>306</Paragraphs>
  <Slides>31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9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Cortex-M3 특징</vt:lpstr>
      <vt:lpstr>Cortex A-, R-, M-series</vt:lpstr>
      <vt:lpstr>ARM Licenses</vt:lpstr>
      <vt:lpstr>ARM7 Architecture와 비교</vt:lpstr>
      <vt:lpstr>Pipeline Branch Speculation</vt:lpstr>
      <vt:lpstr>Pipeline Branch Speculation</vt:lpstr>
      <vt:lpstr>Cortex-M3 block diagram</vt:lpstr>
      <vt:lpstr>Cortex-M3 interrupt</vt:lpstr>
      <vt:lpstr>Registers</vt:lpstr>
      <vt:lpstr>General-purpose registers &amp; Stack pointer</vt:lpstr>
      <vt:lpstr>Mode Privilege</vt:lpstr>
      <vt:lpstr>Link register &amp; Program counter</vt:lpstr>
      <vt:lpstr>Program status register</vt:lpstr>
      <vt:lpstr>Control Register</vt:lpstr>
      <vt:lpstr>Exception Mask Register</vt:lpstr>
      <vt:lpstr>Thumb-2</vt:lpstr>
      <vt:lpstr>Memory Map</vt:lpstr>
      <vt:lpstr>Bit banding</vt:lpstr>
      <vt:lpstr>Bit banding</vt:lpstr>
      <vt:lpstr>Exception 종류</vt:lpstr>
      <vt:lpstr>Exception Priority &amp; Nested 처리</vt:lpstr>
      <vt:lpstr>Preempting Priority &amp; Subpriority</vt:lpstr>
      <vt:lpstr>Vector Table은 Address</vt:lpstr>
      <vt:lpstr>Wait For Interrupt (WFI), Wait For Event (WFE)</vt:lpstr>
      <vt:lpstr>Hardware Stack 처리</vt:lpstr>
      <vt:lpstr>ARM7,9 ISR routine 선언 예</vt:lpstr>
      <vt:lpstr>Interrupt Latency 감소 3가지 방법</vt:lpstr>
      <vt:lpstr>Tail Chaining</vt:lpstr>
      <vt:lpstr>Late Arrival</vt:lpstr>
      <vt:lpstr>Pop pre-emption</vt:lpstr>
      <vt:lpstr>기타 특징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573</cp:revision>
  <dcterms:created xsi:type="dcterms:W3CDTF">2006-02-08T03:00:46Z</dcterms:created>
  <dcterms:modified xsi:type="dcterms:W3CDTF">2026-01-17T02:35:50Z</dcterms:modified>
</cp:coreProperties>
</file>