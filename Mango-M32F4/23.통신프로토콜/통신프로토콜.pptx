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5"/>
  </p:notesMasterIdLst>
  <p:handoutMasterIdLst>
    <p:handoutMasterId r:id="rId56"/>
  </p:handoutMasterIdLst>
  <p:sldIdLst>
    <p:sldId id="308" r:id="rId2"/>
    <p:sldId id="332" r:id="rId3"/>
    <p:sldId id="352" r:id="rId4"/>
    <p:sldId id="421" r:id="rId5"/>
    <p:sldId id="349" r:id="rId6"/>
    <p:sldId id="422" r:id="rId7"/>
    <p:sldId id="430" r:id="rId8"/>
    <p:sldId id="423" r:id="rId9"/>
    <p:sldId id="424" r:id="rId10"/>
    <p:sldId id="354" r:id="rId11"/>
    <p:sldId id="358" r:id="rId12"/>
    <p:sldId id="425" r:id="rId13"/>
    <p:sldId id="426" r:id="rId14"/>
    <p:sldId id="441" r:id="rId15"/>
    <p:sldId id="427" r:id="rId16"/>
    <p:sldId id="353" r:id="rId17"/>
    <p:sldId id="442" r:id="rId18"/>
    <p:sldId id="428" r:id="rId19"/>
    <p:sldId id="356" r:id="rId20"/>
    <p:sldId id="429" r:id="rId21"/>
    <p:sldId id="431" r:id="rId22"/>
    <p:sldId id="433" r:id="rId23"/>
    <p:sldId id="432" r:id="rId24"/>
    <p:sldId id="434" r:id="rId25"/>
    <p:sldId id="435" r:id="rId26"/>
    <p:sldId id="437" r:id="rId27"/>
    <p:sldId id="436" r:id="rId28"/>
    <p:sldId id="438" r:id="rId29"/>
    <p:sldId id="439" r:id="rId30"/>
    <p:sldId id="440" r:id="rId31"/>
    <p:sldId id="443" r:id="rId32"/>
    <p:sldId id="444" r:id="rId33"/>
    <p:sldId id="445" r:id="rId34"/>
    <p:sldId id="446" r:id="rId35"/>
    <p:sldId id="447" r:id="rId36"/>
    <p:sldId id="449" r:id="rId37"/>
    <p:sldId id="451" r:id="rId38"/>
    <p:sldId id="450" r:id="rId39"/>
    <p:sldId id="452" r:id="rId40"/>
    <p:sldId id="453" r:id="rId41"/>
    <p:sldId id="454" r:id="rId42"/>
    <p:sldId id="455" r:id="rId43"/>
    <p:sldId id="456" r:id="rId44"/>
    <p:sldId id="457" r:id="rId45"/>
    <p:sldId id="458" r:id="rId46"/>
    <p:sldId id="459" r:id="rId47"/>
    <p:sldId id="460" r:id="rId48"/>
    <p:sldId id="461" r:id="rId49"/>
    <p:sldId id="462" r:id="rId50"/>
    <p:sldId id="463" r:id="rId51"/>
    <p:sldId id="464" r:id="rId52"/>
    <p:sldId id="465" r:id="rId53"/>
    <p:sldId id="466" r:id="rId54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75" d="100"/>
          <a:sy n="75" d="100"/>
        </p:scale>
        <p:origin x="1795" y="283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ko-KR" altLang="en-US" dirty="0"/>
              <a:t>통신 프로토콜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UART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범용 비동기식 수신 송신</a:t>
            </a:r>
            <a:endParaRPr lang="en-US" altLang="ko-KR" b="0" i="0" kern="0" dirty="0"/>
          </a:p>
          <a:p>
            <a:r>
              <a:rPr lang="en-US" altLang="ko-KR" b="0" i="0" kern="0" dirty="0"/>
              <a:t>Universal Asynchronous Receive Transmit</a:t>
            </a:r>
          </a:p>
          <a:p>
            <a:r>
              <a:rPr lang="en-US" altLang="ko-KR" b="0" i="0" kern="0" dirty="0"/>
              <a:t>Start / Stop bit </a:t>
            </a:r>
            <a:r>
              <a:rPr lang="ko-KR" altLang="en-US" b="0" i="0" kern="0" dirty="0"/>
              <a:t>기반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Data bits – </a:t>
            </a:r>
            <a:r>
              <a:rPr lang="ko-KR" altLang="en-US" b="0" i="0" kern="0" dirty="0"/>
              <a:t>전송 데이터</a:t>
            </a:r>
            <a:endParaRPr lang="en-US" altLang="ko-KR" b="0" i="0" kern="0" dirty="0"/>
          </a:p>
          <a:p>
            <a:r>
              <a:rPr lang="en-US" altLang="ko-KR" b="0" i="0" kern="0" dirty="0"/>
              <a:t>Synchronization bits – </a:t>
            </a:r>
            <a:r>
              <a:rPr lang="ko-KR" altLang="en-US" b="0" i="0" kern="0" dirty="0"/>
              <a:t>패킷의 시작과 끝</a:t>
            </a:r>
            <a:endParaRPr lang="en-US" altLang="ko-KR" b="0" i="0" kern="0" dirty="0"/>
          </a:p>
          <a:p>
            <a:r>
              <a:rPr lang="en-US" altLang="ko-KR" b="0" i="0" kern="0" dirty="0"/>
              <a:t>Parity bits – </a:t>
            </a:r>
            <a:r>
              <a:rPr lang="ko-KR" altLang="en-US" b="0" i="0" kern="0" dirty="0"/>
              <a:t>데이터 손실 검출</a:t>
            </a:r>
            <a:endParaRPr lang="en-US" altLang="ko-KR" b="0" i="0" kern="0" dirty="0"/>
          </a:p>
          <a:p>
            <a:r>
              <a:rPr lang="en-US" altLang="ko-KR" b="0" i="0" kern="0" dirty="0"/>
              <a:t>Baud rate – 1bit</a:t>
            </a:r>
            <a:r>
              <a:rPr lang="ko-KR" altLang="en-US" b="0" i="0" kern="0" dirty="0"/>
              <a:t>가 유지되는 시간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UART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UART </a:t>
            </a:r>
            <a:r>
              <a:rPr lang="ko-KR" altLang="en-US" b="0" i="0" kern="0" dirty="0"/>
              <a:t>통신 시퀀스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RX </a:t>
            </a:r>
            <a:r>
              <a:rPr lang="ko-KR" altLang="en-US" b="0" i="0" kern="0" dirty="0"/>
              <a:t>라인에 </a:t>
            </a:r>
            <a:r>
              <a:rPr lang="en-US" altLang="ko-KR" b="0" i="0" kern="0" dirty="0"/>
              <a:t>Pull-Up </a:t>
            </a:r>
            <a:r>
              <a:rPr lang="ko-KR" altLang="en-US" b="0" i="0" kern="0" dirty="0"/>
              <a:t>저항 연결 필요</a:t>
            </a:r>
            <a:endParaRPr lang="en-US" altLang="ko-KR" b="0" i="0" kern="0" dirty="0"/>
          </a:p>
        </p:txBody>
      </p:sp>
      <p:pic>
        <p:nvPicPr>
          <p:cNvPr id="6" name="그림 5" descr="스크린샷, 텍스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773212-1884-4F3E-4E66-323B5679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97" y="1735979"/>
            <a:ext cx="623887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53E6-0D04-F442-E09B-A997BB0E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62AD8-01AB-8A51-F15B-49A157D9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UART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6FA9-CFC8-5A75-5EDF-FA03A426EE8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결선 방법</a:t>
            </a:r>
            <a:endParaRPr lang="en-US" altLang="ko-KR" b="0" i="0" kern="0" dirty="0"/>
          </a:p>
        </p:txBody>
      </p:sp>
      <p:pic>
        <p:nvPicPr>
          <p:cNvPr id="7" name="그림 6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8CFEBA-7AA0-AD40-09F2-2D0E4913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844824"/>
            <a:ext cx="51435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2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RS232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NRZL(Non Return to Zero Level)</a:t>
            </a:r>
          </a:p>
          <a:p>
            <a:r>
              <a:rPr lang="ko-KR" altLang="en-US" b="0" i="0" kern="0" dirty="0"/>
              <a:t>◑ 음의 전압</a:t>
            </a:r>
            <a:r>
              <a:rPr lang="en-US" altLang="ko-KR" b="0" i="0" kern="0" dirty="0"/>
              <a:t>(negative voltage)</a:t>
            </a:r>
            <a:r>
              <a:rPr lang="ko-KR" altLang="en-US" b="0" i="0" kern="0" dirty="0"/>
              <a:t>은 </a:t>
            </a:r>
            <a:r>
              <a:rPr lang="en-US" altLang="ko-KR" b="0" i="0" kern="0" dirty="0"/>
              <a:t>1</a:t>
            </a:r>
            <a:r>
              <a:rPr lang="ko-KR" altLang="en-US" b="0" i="0" kern="0" dirty="0"/>
              <a:t>로 표현</a:t>
            </a:r>
          </a:p>
          <a:p>
            <a:r>
              <a:rPr lang="ko-KR" altLang="en-US" b="0" i="0" kern="0" dirty="0"/>
              <a:t>◑ 양의 전압</a:t>
            </a:r>
            <a:r>
              <a:rPr lang="en-US" altLang="ko-KR" b="0" i="0" kern="0" dirty="0"/>
              <a:t>(positive voltage)</a:t>
            </a:r>
            <a:r>
              <a:rPr lang="ko-KR" altLang="en-US" b="0" i="0" kern="0" dirty="0"/>
              <a:t>은 </a:t>
            </a:r>
            <a:r>
              <a:rPr lang="en-US" altLang="ko-KR" b="0" i="0" kern="0" dirty="0"/>
              <a:t>0</a:t>
            </a:r>
            <a:r>
              <a:rPr lang="ko-KR" altLang="en-US" b="0" i="0" kern="0" dirty="0"/>
              <a:t>로 표현 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8" descr="F5_1C">
            <a:extLst>
              <a:ext uri="{FF2B5EF4-FFF2-40B4-BE49-F238E27FC236}">
                <a16:creationId xmlns:a16="http://schemas.microsoft.com/office/drawing/2014/main" id="{F8839677-32E0-0A49-5294-623E5CF0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" y="2060848"/>
            <a:ext cx="841692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ABED-B897-F304-6257-57651015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41C16-9974-B534-B461-A2F0C5E6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RS232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EA053-847C-D376-6470-CBBAA91650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NRZL </a:t>
            </a:r>
            <a:r>
              <a:rPr lang="ko-KR" altLang="en-US" b="0" i="0" kern="0" dirty="0"/>
              <a:t>방식의 </a:t>
            </a:r>
            <a:r>
              <a:rPr lang="en-US" altLang="ko-KR" b="0" i="0" kern="0" dirty="0"/>
              <a:t>Encoding:  1 (-15V), 0 (+15V)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MCU TTL </a:t>
            </a:r>
            <a:r>
              <a:rPr lang="ko-KR" altLang="en-US" b="0" i="0" kern="0" dirty="0"/>
              <a:t>레벨</a:t>
            </a:r>
            <a:r>
              <a:rPr lang="en-US" altLang="ko-KR" b="0" i="0" kern="0" dirty="0"/>
              <a:t>(0V ~ 5V)</a:t>
            </a:r>
            <a:r>
              <a:rPr lang="ko-KR" altLang="en-US" b="0" i="0" kern="0" dirty="0"/>
              <a:t>에서</a:t>
            </a:r>
            <a:r>
              <a:rPr lang="en-US" altLang="ko-KR" b="0" i="0" kern="0" dirty="0"/>
              <a:t> RS232 </a:t>
            </a:r>
            <a:r>
              <a:rPr lang="ko-KR" altLang="en-US" b="0" i="0" kern="0" dirty="0"/>
              <a:t>레벨로 변환하는 레벨 컨버터 필요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D871ABB8-D4F5-E882-42AE-C1C4CDF63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40" y="1700808"/>
            <a:ext cx="71437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971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B3010-8D74-EE36-A34F-DD6D9ADEB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F1670-54FB-14EC-8DDC-1B1D124E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RS232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88C1-60F8-2C32-B93B-1E69E2C4B62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5BCD27-0579-3225-6A73-DAD8B2681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76582"/>
            <a:ext cx="8028384" cy="370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1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563E5-547F-DB7E-750B-88B48D25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C4CD3-EC08-9A55-59CD-F2B5C763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RS232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AF1A1-76C1-BA46-B518-9CEA4CB7B9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핀 배열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F65B1B-3B99-41E1-1438-25A766BC4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57" y="2212899"/>
            <a:ext cx="7596336" cy="250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2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0860-78D3-68FF-3282-BE155472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4126B-ACCB-09D3-4C6B-545223E4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RS485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E6377-2CE5-1731-D077-6178E9E1C84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차동</a:t>
            </a:r>
            <a:r>
              <a:rPr lang="ko-KR" altLang="en-US" b="0" i="0" kern="0" dirty="0"/>
              <a:t> 신호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장거리 통신 가능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5B90B1-4DCE-87CB-AC5A-56BAEB7D9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412776"/>
            <a:ext cx="62198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6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RS485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Half-Duplex – enable </a:t>
            </a:r>
            <a:r>
              <a:rPr lang="ko-KR" altLang="en-US" b="0" i="0" kern="0" dirty="0"/>
              <a:t>신호 필요</a:t>
            </a:r>
            <a:endParaRPr lang="en-US" altLang="ko-KR" b="0" i="0" kern="0" dirty="0"/>
          </a:p>
          <a:p>
            <a:r>
              <a:rPr lang="en-US" altLang="ko-KR" b="0" i="0" kern="0" dirty="0"/>
              <a:t>1 -&gt; TX, 0 -&gt; RX</a:t>
            </a:r>
          </a:p>
          <a:p>
            <a:r>
              <a:rPr lang="en-US" altLang="ko-KR" b="0" i="0" kern="0" dirty="0"/>
              <a:t>Transceiver </a:t>
            </a:r>
            <a:r>
              <a:rPr lang="ko-KR" altLang="en-US" b="0" i="0" kern="0" dirty="0"/>
              <a:t>필요함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51C4E2-C477-FDAB-4A99-AF2949624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53" y="2060848"/>
            <a:ext cx="7668344" cy="357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Inter Integrated Circuit</a:t>
            </a:r>
          </a:p>
          <a:p>
            <a:r>
              <a:rPr lang="en-US" altLang="ko-KR" b="0" i="0" kern="0" dirty="0"/>
              <a:t>2-wire </a:t>
            </a:r>
            <a:r>
              <a:rPr lang="ko-KR" altLang="en-US" b="0" i="0" kern="0" dirty="0"/>
              <a:t>통신 </a:t>
            </a:r>
            <a:r>
              <a:rPr lang="en-US" altLang="ko-KR" b="0" i="0" kern="0" dirty="0"/>
              <a:t>(SCL, SDA)</a:t>
            </a:r>
          </a:p>
          <a:p>
            <a:r>
              <a:rPr lang="en-US" altLang="ko-KR" b="0" i="0" kern="0" dirty="0"/>
              <a:t>Master-Slave </a:t>
            </a:r>
            <a:r>
              <a:rPr lang="ko-KR" altLang="en-US" b="0" i="0" kern="0" dirty="0"/>
              <a:t>구조</a:t>
            </a:r>
            <a:endParaRPr lang="en-US" altLang="ko-KR" b="0" i="0" kern="0" dirty="0"/>
          </a:p>
          <a:p>
            <a:r>
              <a:rPr lang="en-US" altLang="ko-KR" b="0" i="0" kern="0" dirty="0"/>
              <a:t>7bit </a:t>
            </a:r>
            <a:r>
              <a:rPr lang="ko-KR" altLang="en-US" b="0" i="0" kern="0" dirty="0"/>
              <a:t>주소</a:t>
            </a:r>
            <a:endParaRPr lang="en-US" altLang="ko-KR" b="0" i="0" kern="0" dirty="0"/>
          </a:p>
          <a:p>
            <a:r>
              <a:rPr lang="en-US" altLang="ko-KR" b="0" i="0" kern="0" dirty="0"/>
              <a:t>Pull-up </a:t>
            </a:r>
            <a:r>
              <a:rPr lang="ko-KR" altLang="en-US" b="0" i="0" kern="0" dirty="0"/>
              <a:t>저항 필요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BA0065-286F-D4CE-1AEF-8949E61F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137287"/>
            <a:ext cx="7476703" cy="306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B1E70-74F4-A4F4-5B8B-9D3AC986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2859E-EEEF-6209-75E3-2E833870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4CAAA-AFC7-93F5-5AE4-6BDF261D1E7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C21A10-41CB-E809-D5FD-5C3DEE50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1795462"/>
            <a:ext cx="79152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2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705A-DA0F-74D8-A5F7-1916584A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A43A1-4132-D035-65DE-83E2067A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3CE46-C55D-1A80-114D-B65BA31D541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8A0D1C-BD55-A2DA-65E9-E98AD401E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5" y="1700808"/>
            <a:ext cx="7886700" cy="325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86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6AAF4-1E7A-CB2A-AD67-5711BFAC5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B9D31-A067-612C-F836-9EB42C0E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CEFA8-8E80-3AE2-18CB-E11C3444A27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58B7F3-4B91-BEF7-4A68-7148599D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890587"/>
            <a:ext cx="395287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7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C6329-7023-CF70-0450-FCB65F36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7FB7F-FD06-FB50-E850-C730C9F0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B3F1-B15E-F763-1086-560AFE7C895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통신 다이어그램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8" name="그림 7" descr="텍스트, 영수증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D561A3-F2F0-CE71-14A0-BE00E6CE6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9" y="1772816"/>
            <a:ext cx="8694181" cy="204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73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Controller Area Network</a:t>
            </a:r>
          </a:p>
          <a:p>
            <a:r>
              <a:rPr lang="ko-KR" altLang="en-US" b="0" i="0" kern="0" dirty="0"/>
              <a:t>자동차</a:t>
            </a:r>
            <a:r>
              <a:rPr lang="en-US" altLang="ko-KR" b="0" i="0" kern="0" dirty="0"/>
              <a:t>/</a:t>
            </a:r>
            <a:r>
              <a:rPr lang="ko-KR" altLang="en-US" b="0" i="0" kern="0" dirty="0"/>
              <a:t>산업용 네트워크</a:t>
            </a:r>
            <a:endParaRPr lang="en-US" altLang="ko-KR" b="0" i="0" kern="0" dirty="0"/>
          </a:p>
          <a:p>
            <a:r>
              <a:rPr lang="ko-KR" altLang="en-US" b="0" i="0" kern="0" dirty="0" err="1"/>
              <a:t>차동신호</a:t>
            </a:r>
            <a:r>
              <a:rPr lang="en-US" altLang="ko-KR" b="0" i="0" kern="0" dirty="0"/>
              <a:t>(CANH/CANL)</a:t>
            </a:r>
          </a:p>
          <a:p>
            <a:r>
              <a:rPr lang="en-US" altLang="ko-KR" b="0" i="0" kern="0" dirty="0"/>
              <a:t>ID </a:t>
            </a:r>
            <a:r>
              <a:rPr lang="ko-KR" altLang="en-US" b="0" i="0" kern="0" dirty="0"/>
              <a:t>기반 메시지 통신</a:t>
            </a:r>
            <a:endParaRPr lang="en-US" altLang="ko-KR" b="0" i="0" kern="0" dirty="0"/>
          </a:p>
          <a:p>
            <a:r>
              <a:rPr lang="en-US" altLang="ko-KR" b="0" i="0" kern="0" dirty="0"/>
              <a:t>Arbitration : </a:t>
            </a:r>
            <a:r>
              <a:rPr lang="ko-KR" altLang="en-US" b="0" i="0" kern="0" dirty="0"/>
              <a:t>낮은 </a:t>
            </a:r>
            <a:r>
              <a:rPr lang="en-US" altLang="ko-KR" b="0" i="0" kern="0" dirty="0"/>
              <a:t>ID</a:t>
            </a:r>
            <a:r>
              <a:rPr lang="ko-KR" altLang="en-US" b="0" i="0" kern="0" dirty="0"/>
              <a:t>가 우선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A45E0-CC85-40DD-BAC0-A45FAF954C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1619672" y="2820905"/>
            <a:ext cx="5439643" cy="3503978"/>
          </a:xfrm>
          <a:noFill/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01619-B353-44EF-3A59-0D8FD4EE4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7E4B0-7D6D-FBFE-3B05-2E86ACA6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54A59-B8C1-2E08-5D8D-608606CF16C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J12</a:t>
            </a:r>
            <a:r>
              <a:rPr lang="ko-KR" altLang="en-US" b="0" i="0" kern="0" dirty="0"/>
              <a:t> 점퍼 연결 필요 </a:t>
            </a:r>
            <a:r>
              <a:rPr lang="en-US" altLang="ko-KR" b="0" i="0" kern="0" dirty="0"/>
              <a:t>– 120</a:t>
            </a:r>
            <a:r>
              <a:rPr lang="ko-KR" altLang="en-US" b="0" i="0" kern="0"/>
              <a:t>옴 종단 저항</a:t>
            </a:r>
            <a:endParaRPr lang="en-US" altLang="ko-KR" b="0" i="0" kern="0" dirty="0"/>
          </a:p>
        </p:txBody>
      </p:sp>
      <p:pic>
        <p:nvPicPr>
          <p:cNvPr id="7" name="그림 6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9F090F-DC16-C075-1F06-F7DB5F014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55" y="1988840"/>
            <a:ext cx="7697489" cy="247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38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049B2-CB8A-36E3-7E79-E17ABBDE8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E7FD9-FBDE-29E8-B520-A17A64BD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D260-15CF-E62D-F0C8-5FD02B17258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Medium Access Control Frame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6DE1D3D-4439-BCB4-A358-6F3E6DBB4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457200" y="1600200"/>
            <a:ext cx="8153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2981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메시지 프레임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72E4CC6-DC51-7ED8-5DD6-7916B41FB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88840"/>
            <a:ext cx="53816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EF0F-8DF2-4337-5347-92279953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3A5F3-0BBE-2212-67D0-6AE87ABB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BE49-BB51-DB39-77C5-37F5977BDA0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CAN </a:t>
            </a:r>
            <a:r>
              <a:rPr lang="ko-KR" altLang="en-US" b="0" i="0" kern="0" dirty="0"/>
              <a:t>버스 로직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도표, 라인, 폰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5F8583-B798-D760-27A0-449D2C385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7" y="1971916"/>
            <a:ext cx="7831783" cy="293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4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7759B-906A-C92D-BA69-01B5C79E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FD71B-2DD2-E651-864C-35E622DB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</a:t>
            </a:r>
            <a:r>
              <a:rPr lang="ko-KR" altLang="en-US" dirty="0"/>
              <a:t>개요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C9A9E-915E-6C81-FEB9-D5CBF0FD8E1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Universal Serial Bus</a:t>
            </a:r>
          </a:p>
          <a:p>
            <a:r>
              <a:rPr lang="ko-KR" altLang="en-US" b="0" i="0" kern="0" dirty="0"/>
              <a:t>호스트와 주변기기를 연결하는 범용 직렬 인터페이스</a:t>
            </a:r>
          </a:p>
          <a:p>
            <a:r>
              <a:rPr lang="ko-KR" altLang="en-US" b="0" i="0" kern="0" dirty="0"/>
              <a:t>데이터 전송 </a:t>
            </a:r>
            <a:r>
              <a:rPr lang="en-US" altLang="ko-KR" b="0" i="0" kern="0" dirty="0"/>
              <a:t>+ </a:t>
            </a:r>
            <a:r>
              <a:rPr lang="ko-KR" altLang="en-US" b="0" i="0" kern="0" dirty="0"/>
              <a:t>전원 공급을 동시에 지원</a:t>
            </a:r>
          </a:p>
          <a:p>
            <a:r>
              <a:rPr lang="en-US" altLang="ko-KR" b="0" i="0" kern="0" dirty="0"/>
              <a:t>Hot Plug &amp; Plug and Play </a:t>
            </a:r>
            <a:r>
              <a:rPr lang="ko-KR" altLang="en-US" b="0" i="0" kern="0" dirty="0"/>
              <a:t>지원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8" name="그림 7" descr="라인, 도표, 폰트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1B7990-A85A-F949-4D96-34A1AB861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273622"/>
            <a:ext cx="5343525" cy="1590675"/>
          </a:xfrm>
          <a:prstGeom prst="rect">
            <a:avLst/>
          </a:prstGeom>
        </p:spPr>
      </p:pic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4CE66A-C328-7638-F73A-E1D423CC0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46" y="3831401"/>
            <a:ext cx="7232104" cy="25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83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6222-081C-CD4D-0AF8-F3E713A55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E1CAD-55AC-2938-92DA-994257F9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</a:t>
            </a:r>
            <a:r>
              <a:rPr lang="ko-KR" altLang="en-US" dirty="0"/>
              <a:t>회로도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C0DC-C072-0886-2FB7-9620EABEEDD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도표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112D0A-CD9A-12E7-DA74-50592EB7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6" y="1052736"/>
            <a:ext cx="7412558" cy="516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2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7E4BB-C30A-70B1-2085-EFAA44F9D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30113-EB0D-4EE2-E69F-0A1A2ECB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</a:t>
            </a:r>
            <a:r>
              <a:rPr lang="ko-KR" altLang="en-US" dirty="0"/>
              <a:t>주요 특징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AEE86-8BF2-9D05-BF6C-7493BC00CE8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Host </a:t>
            </a:r>
            <a:r>
              <a:rPr lang="ko-KR" altLang="en-US" b="0" i="0" kern="0" dirty="0"/>
              <a:t>중심 구조 </a:t>
            </a:r>
            <a:r>
              <a:rPr lang="en-US" altLang="ko-KR" b="0" i="0" kern="0" dirty="0"/>
              <a:t>(PC/SoC</a:t>
            </a:r>
            <a:r>
              <a:rPr lang="ko-KR" altLang="en-US" b="0" i="0" kern="0" dirty="0"/>
              <a:t>가 </a:t>
            </a:r>
            <a:r>
              <a:rPr lang="en-US" altLang="ko-KR" b="0" i="0" kern="0" dirty="0"/>
              <a:t>Host)</a:t>
            </a:r>
          </a:p>
          <a:p>
            <a:r>
              <a:rPr lang="en-US" altLang="ko-KR" b="0" i="0" kern="0" dirty="0"/>
              <a:t>Point-to-Point + Hub </a:t>
            </a:r>
            <a:r>
              <a:rPr lang="ko-KR" altLang="en-US" b="0" i="0" kern="0" dirty="0"/>
              <a:t>구조</a:t>
            </a:r>
          </a:p>
          <a:p>
            <a:r>
              <a:rPr lang="ko-KR" altLang="en-US" b="0" i="0" kern="0" dirty="0"/>
              <a:t>장치 자동 인식 </a:t>
            </a:r>
            <a:r>
              <a:rPr lang="en-US" altLang="ko-KR" b="0" i="0" kern="0" dirty="0"/>
              <a:t>(Enumeration)</a:t>
            </a:r>
          </a:p>
          <a:p>
            <a:r>
              <a:rPr lang="ko-KR" altLang="en-US" b="0" i="0" kern="0" dirty="0"/>
              <a:t>표준화된 클래스 지원 </a:t>
            </a:r>
            <a:r>
              <a:rPr lang="en-US" altLang="ko-KR" b="0" i="0" kern="0" dirty="0"/>
              <a:t>(HID, MSC </a:t>
            </a:r>
            <a:r>
              <a:rPr lang="ko-KR" altLang="en-US" b="0" i="0" kern="0" dirty="0"/>
              <a:t>등</a:t>
            </a:r>
            <a:r>
              <a:rPr lang="en-US" altLang="ko-KR" b="0" i="0" kern="0" dirty="0"/>
              <a:t>)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C876BA-7462-97AF-9BC4-6C356979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323891"/>
            <a:ext cx="5118720" cy="385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93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79947-74A8-E36B-6910-45ACB1CD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B7D1A-057D-F270-74E7-A636EF32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</a:t>
            </a:r>
            <a:r>
              <a:rPr lang="ko-KR" altLang="en-US" dirty="0"/>
              <a:t>시스템 구조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72D16-AB04-1821-8849-E51F98D7FEA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Host: USB </a:t>
            </a:r>
            <a:r>
              <a:rPr lang="ko-KR" altLang="en-US" b="0" i="0" kern="0" dirty="0"/>
              <a:t>제어 주체 </a:t>
            </a:r>
            <a:r>
              <a:rPr lang="en-US" altLang="ko-KR" b="0" i="0" kern="0" dirty="0"/>
              <a:t>(PC, AP)</a:t>
            </a:r>
          </a:p>
          <a:p>
            <a:r>
              <a:rPr lang="en-US" altLang="ko-KR" b="0" i="0" kern="0" dirty="0"/>
              <a:t>Device: </a:t>
            </a:r>
            <a:r>
              <a:rPr lang="ko-KR" altLang="en-US" b="0" i="0" kern="0" dirty="0"/>
              <a:t>주변기기 </a:t>
            </a:r>
            <a:r>
              <a:rPr lang="en-US" altLang="ko-KR" b="0" i="0" kern="0" dirty="0"/>
              <a:t>(</a:t>
            </a:r>
            <a:r>
              <a:rPr lang="ko-KR" altLang="en-US" b="0" i="0" kern="0" dirty="0"/>
              <a:t>키보드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마우스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저장장치</a:t>
            </a:r>
            <a:r>
              <a:rPr lang="en-US" altLang="ko-KR" b="0" i="0" kern="0" dirty="0"/>
              <a:t>)</a:t>
            </a:r>
          </a:p>
          <a:p>
            <a:r>
              <a:rPr lang="en-US" altLang="ko-KR" b="0" i="0" kern="0" dirty="0"/>
              <a:t>Hub: </a:t>
            </a:r>
            <a:r>
              <a:rPr lang="ko-KR" altLang="en-US" b="0" i="0" kern="0" dirty="0"/>
              <a:t>포트 확장 장치</a:t>
            </a:r>
          </a:p>
          <a:p>
            <a:r>
              <a:rPr lang="en-US" altLang="ko-KR" b="0" i="0" kern="0" dirty="0"/>
              <a:t>Endpoint: </a:t>
            </a:r>
            <a:r>
              <a:rPr lang="ko-KR" altLang="en-US" b="0" i="0" kern="0" dirty="0"/>
              <a:t>실제 데이터 전송 단위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727908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55EAE-CA74-9EA4-1D1C-5CD43209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06C6D-2CC3-7DE5-82E8-270EDA8B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Transfer Type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45F1-B85A-051B-8D7B-924D4BB292C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Control Transfer: </a:t>
            </a:r>
            <a:r>
              <a:rPr lang="ko-KR" altLang="en-US" b="0" i="0" kern="0" dirty="0"/>
              <a:t>설정 및 제어 </a:t>
            </a:r>
            <a:r>
              <a:rPr lang="en-US" altLang="ko-KR" b="0" i="0" kern="0" dirty="0"/>
              <a:t>(Enumeration)</a:t>
            </a:r>
          </a:p>
          <a:p>
            <a:r>
              <a:rPr lang="en-US" altLang="ko-KR" b="0" i="0" kern="0" dirty="0"/>
              <a:t>Bulk Transfer: </a:t>
            </a:r>
            <a:r>
              <a:rPr lang="ko-KR" altLang="en-US" b="0" i="0" kern="0" dirty="0"/>
              <a:t>대용량 데이터 </a:t>
            </a:r>
            <a:r>
              <a:rPr lang="en-US" altLang="ko-KR" b="0" i="0" kern="0" dirty="0"/>
              <a:t>(USB </a:t>
            </a:r>
            <a:r>
              <a:rPr lang="ko-KR" altLang="en-US" b="0" i="0" kern="0" dirty="0"/>
              <a:t>저장장치</a:t>
            </a:r>
            <a:r>
              <a:rPr lang="en-US" altLang="ko-KR" b="0" i="0" kern="0" dirty="0"/>
              <a:t>)</a:t>
            </a:r>
          </a:p>
          <a:p>
            <a:r>
              <a:rPr lang="en-US" altLang="ko-KR" b="0" i="0" kern="0" dirty="0"/>
              <a:t>Interrupt Transfer: </a:t>
            </a:r>
            <a:r>
              <a:rPr lang="ko-KR" altLang="en-US" b="0" i="0" kern="0" dirty="0"/>
              <a:t>짧고 빠른 데이터 </a:t>
            </a:r>
            <a:r>
              <a:rPr lang="en-US" altLang="ko-KR" b="0" i="0" kern="0" dirty="0"/>
              <a:t>(</a:t>
            </a:r>
            <a:r>
              <a:rPr lang="ko-KR" altLang="en-US" b="0" i="0" kern="0" dirty="0"/>
              <a:t>키보드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마우스</a:t>
            </a:r>
            <a:r>
              <a:rPr lang="en-US" altLang="ko-KR" b="0" i="0" kern="0" dirty="0"/>
              <a:t>)</a:t>
            </a:r>
          </a:p>
          <a:p>
            <a:r>
              <a:rPr lang="en-US" altLang="ko-KR" b="0" i="0" kern="0" dirty="0"/>
              <a:t>Isochronous Transfer: </a:t>
            </a:r>
            <a:r>
              <a:rPr lang="ko-KR" altLang="en-US" b="0" i="0" kern="0" dirty="0"/>
              <a:t>실시간 데이터 </a:t>
            </a:r>
            <a:r>
              <a:rPr lang="en-US" altLang="ko-KR" b="0" i="0" kern="0" dirty="0"/>
              <a:t>(</a:t>
            </a:r>
            <a:r>
              <a:rPr lang="ko-KR" altLang="en-US" b="0" i="0" kern="0" dirty="0"/>
              <a:t>오디오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비디오</a:t>
            </a:r>
            <a:r>
              <a:rPr lang="en-US" altLang="ko-KR" b="0" i="0" kern="0" dirty="0"/>
              <a:t>)</a:t>
            </a:r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417319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2B537-060A-7FD0-96AA-222F3F0C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7778E-46A8-9426-9A6F-B7848418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</a:t>
            </a:r>
            <a:r>
              <a:rPr lang="ko-KR" altLang="en-US" dirty="0"/>
              <a:t>속도 등급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58A3A-8067-D556-E8AE-3FECF1A3D13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Low Speed: 1.5 Mbps (</a:t>
            </a:r>
            <a:r>
              <a:rPr lang="ko-KR" altLang="en-US" b="0" i="0" kern="0" dirty="0"/>
              <a:t>마우스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키보드</a:t>
            </a:r>
            <a:r>
              <a:rPr lang="en-US" altLang="ko-KR" b="0" i="0" kern="0" dirty="0"/>
              <a:t>)</a:t>
            </a:r>
          </a:p>
          <a:p>
            <a:r>
              <a:rPr lang="en-US" altLang="ko-KR" b="0" i="0" kern="0" dirty="0"/>
              <a:t>Full Speed: 12 Mbps (</a:t>
            </a:r>
            <a:r>
              <a:rPr lang="ko-KR" altLang="en-US" b="0" i="0" kern="0" dirty="0"/>
              <a:t>일반 장치</a:t>
            </a:r>
            <a:r>
              <a:rPr lang="en-US" altLang="ko-KR" b="0" i="0" kern="0" dirty="0"/>
              <a:t>)</a:t>
            </a:r>
          </a:p>
          <a:p>
            <a:r>
              <a:rPr lang="en-US" altLang="ko-KR" b="0" i="0" kern="0" dirty="0"/>
              <a:t>High Speed: 480 Mbps (USB 2.0)</a:t>
            </a:r>
          </a:p>
          <a:p>
            <a:r>
              <a:rPr lang="en-US" altLang="ko-KR" b="0" i="0" kern="0" dirty="0"/>
              <a:t>SuperSpeed: 5 Gbps </a:t>
            </a:r>
            <a:r>
              <a:rPr lang="ko-KR" altLang="en-US" b="0" i="0" kern="0" dirty="0"/>
              <a:t>이상 </a:t>
            </a:r>
            <a:r>
              <a:rPr lang="en-US" altLang="ko-KR" b="0" i="0" kern="0" dirty="0"/>
              <a:t>(USB 3.x)</a:t>
            </a:r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995523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7C21-8FDE-E10F-3E41-2F403077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78050-9CE9-FC9B-E934-3D7006BB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</a:t>
            </a:r>
            <a:r>
              <a:rPr lang="ko-KR" altLang="en-US" dirty="0"/>
              <a:t>버전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F27F-1CB7-C3AB-FEB8-4E9149E6042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USB 1.1: Low / Full Speed</a:t>
            </a:r>
          </a:p>
          <a:p>
            <a:r>
              <a:rPr lang="en-US" altLang="ko-KR" b="0" i="0" kern="0" dirty="0"/>
              <a:t>USB 2.0: High Speed (480 Mbps)</a:t>
            </a:r>
          </a:p>
          <a:p>
            <a:r>
              <a:rPr lang="en-US" altLang="ko-KR" b="0" i="0" kern="0" dirty="0"/>
              <a:t>USB 3.0 / 3.1 / 3.2: SuperSpeed</a:t>
            </a:r>
          </a:p>
          <a:p>
            <a:r>
              <a:rPr lang="en-US" altLang="ko-KR" b="0" i="0" kern="0" dirty="0"/>
              <a:t>USB4: Thunderbolt </a:t>
            </a:r>
            <a:r>
              <a:rPr lang="ko-KR" altLang="en-US" b="0" i="0" kern="0" dirty="0"/>
              <a:t>기반 고속 전송</a:t>
            </a:r>
            <a:endParaRPr lang="en-US" altLang="ko-KR" b="0" i="0" kern="0" dirty="0"/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72564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39DA-00D7-9396-19C7-605827659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8758B-3696-BAB9-E29A-03AB31940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</a:t>
            </a:r>
            <a:r>
              <a:rPr lang="ko-KR" altLang="en-US" dirty="0"/>
              <a:t>커넥터 타입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A9DAE-0BD9-1859-0783-BC42D18FE10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Type-A: Host </a:t>
            </a:r>
            <a:r>
              <a:rPr lang="ko-KR" altLang="en-US" b="0" i="0" kern="0" dirty="0"/>
              <a:t>측 커넥터</a:t>
            </a:r>
          </a:p>
          <a:p>
            <a:r>
              <a:rPr lang="en-US" altLang="ko-KR" b="0" i="0" kern="0" dirty="0"/>
              <a:t>Type-B: Device </a:t>
            </a:r>
            <a:r>
              <a:rPr lang="ko-KR" altLang="en-US" b="0" i="0" kern="0" dirty="0"/>
              <a:t>측 커넥터</a:t>
            </a:r>
          </a:p>
          <a:p>
            <a:r>
              <a:rPr lang="en-US" altLang="ko-KR" b="0" i="0" kern="0" dirty="0"/>
              <a:t>Micro-USB / Mini-USB</a:t>
            </a:r>
          </a:p>
          <a:p>
            <a:r>
              <a:rPr lang="en-US" altLang="ko-KR" b="0" i="0" kern="0" dirty="0"/>
              <a:t>Type-C: </a:t>
            </a:r>
            <a:r>
              <a:rPr lang="ko-KR" altLang="en-US" b="0" i="0" kern="0" dirty="0"/>
              <a:t>양면 삽입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고속</a:t>
            </a:r>
            <a:r>
              <a:rPr lang="en-US" altLang="ko-KR" b="0" i="0" kern="0" dirty="0"/>
              <a:t>/</a:t>
            </a:r>
            <a:r>
              <a:rPr lang="ko-KR" altLang="en-US" b="0" i="0" kern="0" dirty="0" err="1"/>
              <a:t>고전력</a:t>
            </a:r>
            <a:r>
              <a:rPr lang="ko-KR" altLang="en-US" b="0" i="0" kern="0" dirty="0"/>
              <a:t> 지원</a:t>
            </a:r>
            <a:endParaRPr lang="en-US" altLang="ko-KR" b="0" i="0" kern="0" dirty="0"/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344045-CC4B-A66D-CCA8-644C2D102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644" y="2274577"/>
            <a:ext cx="6408712" cy="390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75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05CCD-F2DA-D2E4-E577-73B0F872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1142E-26BB-6589-56D5-0856E1A9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Enumeration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7773-E09E-01CB-A301-9944685F7D5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Device </a:t>
            </a:r>
            <a:r>
              <a:rPr lang="ko-KR" altLang="en-US" b="0" i="0" kern="0" dirty="0"/>
              <a:t>연결 감지 </a:t>
            </a:r>
            <a:r>
              <a:rPr lang="en-US" altLang="ko-KR" b="0" i="0" kern="0" dirty="0"/>
              <a:t>(D+/D-)</a:t>
            </a:r>
          </a:p>
          <a:p>
            <a:r>
              <a:rPr lang="en-US" altLang="ko-KR" b="0" i="0" kern="0" dirty="0"/>
              <a:t>Reset </a:t>
            </a:r>
            <a:r>
              <a:rPr lang="ko-KR" altLang="en-US" b="0" i="0" kern="0" dirty="0"/>
              <a:t>및 </a:t>
            </a:r>
            <a:r>
              <a:rPr lang="en-US" altLang="ko-KR" b="0" i="0" kern="0" dirty="0"/>
              <a:t>Default Address </a:t>
            </a:r>
            <a:r>
              <a:rPr lang="ko-KR" altLang="en-US" b="0" i="0" kern="0" dirty="0"/>
              <a:t>할당</a:t>
            </a:r>
          </a:p>
          <a:p>
            <a:r>
              <a:rPr lang="en-US" altLang="ko-KR" b="0" i="0" kern="0" dirty="0"/>
              <a:t>Descriptor </a:t>
            </a:r>
            <a:r>
              <a:rPr lang="ko-KR" altLang="en-US" b="0" i="0" kern="0" dirty="0"/>
              <a:t>요청 </a:t>
            </a:r>
            <a:r>
              <a:rPr lang="en-US" altLang="ko-KR" b="0" i="0" kern="0" dirty="0"/>
              <a:t>(Device, Configuration)</a:t>
            </a:r>
          </a:p>
          <a:p>
            <a:r>
              <a:rPr lang="en-US" altLang="ko-KR" b="0" i="0" kern="0" dirty="0"/>
              <a:t>Driver </a:t>
            </a:r>
            <a:r>
              <a:rPr lang="ko-KR" altLang="en-US" b="0" i="0" kern="0" dirty="0"/>
              <a:t>로드 및 장치 사용 가능</a:t>
            </a:r>
            <a:endParaRPr lang="en-US" altLang="ko-KR" b="0" i="0" kern="0" dirty="0"/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534497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2AAE-215E-A799-E69E-373904D1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BED44-EED7-C43E-7CFD-05EEC50CA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Class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4AEB5-147C-E1D6-C17A-65CFCB24F30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HID: </a:t>
            </a:r>
            <a:r>
              <a:rPr lang="ko-KR" altLang="en-US" b="0" i="0" kern="0" dirty="0"/>
              <a:t>키보드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마우스</a:t>
            </a:r>
          </a:p>
          <a:p>
            <a:r>
              <a:rPr lang="en-US" altLang="ko-KR" b="0" i="0" kern="0" dirty="0"/>
              <a:t>MSC: USB </a:t>
            </a:r>
            <a:r>
              <a:rPr lang="ko-KR" altLang="en-US" b="0" i="0" kern="0" dirty="0"/>
              <a:t>메모리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외장하드</a:t>
            </a:r>
          </a:p>
          <a:p>
            <a:r>
              <a:rPr lang="en-US" altLang="ko-KR" b="0" i="0" kern="0" dirty="0"/>
              <a:t>CDC: USB </a:t>
            </a:r>
            <a:r>
              <a:rPr lang="ko-KR" altLang="en-US" b="0" i="0" kern="0" dirty="0"/>
              <a:t>시리얼</a:t>
            </a:r>
          </a:p>
          <a:p>
            <a:r>
              <a:rPr lang="en-US" altLang="ko-KR" b="0" i="0" kern="0" dirty="0"/>
              <a:t>Audio / Video Class</a:t>
            </a:r>
          </a:p>
          <a:p>
            <a:endParaRPr lang="en-US" altLang="ko-KR" b="0" i="0" kern="0" dirty="0"/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878266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C280-923D-2F7A-5DBF-FC46CF99E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98B6C-C774-27B7-A044-FB267AAC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Ethernet </a:t>
            </a:r>
            <a:r>
              <a:rPr lang="ko-KR" altLang="en-US" dirty="0"/>
              <a:t>개요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BE62D-38FE-3BBA-3BEC-C09CD2908E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IEEE 802.3 </a:t>
            </a:r>
            <a:r>
              <a:rPr lang="ko-KR" altLang="en-US" b="0" i="0" kern="0" dirty="0"/>
              <a:t>표준 기반 유선 네트워크 기술</a:t>
            </a:r>
          </a:p>
          <a:p>
            <a:r>
              <a:rPr lang="en-US" altLang="ko-KR" b="0" i="0" kern="0" dirty="0"/>
              <a:t>LAN(Local Area Network)</a:t>
            </a:r>
            <a:r>
              <a:rPr lang="ko-KR" altLang="en-US" b="0" i="0" kern="0" dirty="0"/>
              <a:t>의 핵심 기술</a:t>
            </a:r>
          </a:p>
          <a:p>
            <a:r>
              <a:rPr lang="ko-KR" altLang="en-US" b="0" i="0" kern="0" dirty="0"/>
              <a:t>패킷 기반 데이터 통신 방식</a:t>
            </a:r>
          </a:p>
          <a:p>
            <a:r>
              <a:rPr lang="ko-KR" altLang="en-US" b="0" i="0" kern="0" dirty="0"/>
              <a:t>높은 신뢰성과 확장성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979331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B798C-20F4-497A-3755-E1E3848CE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DC4FA-F812-D8AA-47F4-E046E7A8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Ethernet </a:t>
            </a:r>
            <a:r>
              <a:rPr lang="ko-KR" altLang="en-US" dirty="0"/>
              <a:t>기본 특징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4D71D-C3C6-ACEA-45A8-86AAB2A6FDF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MAC </a:t>
            </a:r>
            <a:r>
              <a:rPr lang="ko-KR" altLang="en-US" b="0" i="0" kern="0" dirty="0"/>
              <a:t>주소 기반 통신</a:t>
            </a:r>
          </a:p>
          <a:p>
            <a:r>
              <a:rPr lang="en-US" altLang="ko-KR" b="0" i="0" kern="0" dirty="0"/>
              <a:t>Full-Duplex / Half-Duplex </a:t>
            </a:r>
            <a:r>
              <a:rPr lang="ko-KR" altLang="en-US" b="0" i="0" kern="0" dirty="0"/>
              <a:t>지원</a:t>
            </a:r>
          </a:p>
          <a:p>
            <a:r>
              <a:rPr lang="en-US" altLang="ko-KR" b="0" i="0" kern="0" dirty="0"/>
              <a:t>CSMA/CD (</a:t>
            </a:r>
            <a:r>
              <a:rPr lang="ko-KR" altLang="en-US" b="0" i="0" kern="0" dirty="0"/>
              <a:t>초기 </a:t>
            </a:r>
            <a:r>
              <a:rPr lang="en-US" altLang="ko-KR" b="0" i="0" kern="0" dirty="0"/>
              <a:t>Half-Duplex </a:t>
            </a:r>
            <a:r>
              <a:rPr lang="ko-KR" altLang="en-US" b="0" i="0" kern="0" dirty="0"/>
              <a:t>환경</a:t>
            </a:r>
            <a:r>
              <a:rPr lang="en-US" altLang="ko-KR" b="0" i="0" kern="0" dirty="0"/>
              <a:t>)</a:t>
            </a:r>
          </a:p>
          <a:p>
            <a:r>
              <a:rPr lang="ko-KR" altLang="en-US" b="0" i="0" kern="0" dirty="0"/>
              <a:t>현재는 스위치 기반 </a:t>
            </a:r>
            <a:r>
              <a:rPr lang="en-US" altLang="ko-KR" b="0" i="0" kern="0" dirty="0"/>
              <a:t>Full-Duplex </a:t>
            </a:r>
            <a:r>
              <a:rPr lang="ko-KR" altLang="en-US" b="0" i="0" kern="0" dirty="0"/>
              <a:t>구조</a:t>
            </a:r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6175761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36B3E-F3F4-ED0F-387A-CB4820A0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4DF60-3FC7-F1B5-3293-BE66AE9D6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Ethernet </a:t>
            </a:r>
            <a:r>
              <a:rPr lang="ko-KR" altLang="en-US" dirty="0"/>
              <a:t>시스템 구조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4E802-6BCB-98C9-9246-D82AF5E4DB9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MAC (Media Access Control)</a:t>
            </a:r>
          </a:p>
          <a:p>
            <a:r>
              <a:rPr lang="en-US" altLang="ko-KR" b="0" i="0" kern="0" dirty="0"/>
              <a:t>PHY (Physical Layer)</a:t>
            </a:r>
          </a:p>
          <a:p>
            <a:r>
              <a:rPr lang="en-US" altLang="ko-KR" b="0" i="0" kern="0" dirty="0"/>
              <a:t>MII/RMII/RGMII </a:t>
            </a:r>
            <a:r>
              <a:rPr lang="ko-KR" altLang="en-US" b="0" i="0" kern="0" dirty="0"/>
              <a:t>인터페이스</a:t>
            </a:r>
          </a:p>
          <a:p>
            <a:r>
              <a:rPr lang="en-US" altLang="ko-KR" b="0" i="0" kern="0" dirty="0"/>
              <a:t>RJ45 </a:t>
            </a:r>
            <a:r>
              <a:rPr lang="ko-KR" altLang="en-US" b="0" i="0" kern="0" dirty="0"/>
              <a:t>커넥터 및 트랜스포머</a:t>
            </a:r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84FF39-0732-5C6A-AF1E-9A2C722C2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420888"/>
            <a:ext cx="7416642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93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85B7-5014-BF1F-346E-BC471B96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EE7AC-5240-3C17-A68E-7556B111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Ethernet </a:t>
            </a:r>
            <a:r>
              <a:rPr lang="ko-KR" altLang="en-US" dirty="0"/>
              <a:t>회로도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5F8B6-1B7A-B315-2028-C65FD7629E0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ko-KR" altLang="en-US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446421-C7B0-B219-38DE-B04A9722A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2031262"/>
            <a:ext cx="8524410" cy="27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45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F0B14-BD89-0A74-98CF-3712E1CD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861B2-F80B-AED4-CDA5-83E965F0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Ethernet </a:t>
            </a:r>
            <a:r>
              <a:rPr lang="ko-KR" altLang="en-US" dirty="0"/>
              <a:t>프레임 구조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C7FC-76E0-A61C-56AD-26E34C53511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/>
              <a:t>Preamble / SFD</a:t>
            </a:r>
          </a:p>
          <a:p>
            <a:r>
              <a:rPr lang="en-US" altLang="ko-KR" b="0" i="0" kern="0"/>
              <a:t>Destination MAC / Source MAC</a:t>
            </a:r>
          </a:p>
          <a:p>
            <a:r>
              <a:rPr lang="en-US" altLang="ko-KR" b="0" i="0" kern="0"/>
              <a:t>Type/Length</a:t>
            </a:r>
          </a:p>
          <a:p>
            <a:r>
              <a:rPr lang="en-US" altLang="ko-KR" b="0" i="0" kern="0"/>
              <a:t>Payload (46~1500 Bytes)</a:t>
            </a:r>
          </a:p>
          <a:p>
            <a:r>
              <a:rPr lang="en-US" altLang="ko-KR" b="0" i="0" kern="0"/>
              <a:t>FCS (CRC)</a:t>
            </a:r>
            <a:endParaRPr lang="en-US" altLang="ko-KR" b="0" i="0" kern="0" dirty="0"/>
          </a:p>
        </p:txBody>
      </p:sp>
      <p:pic>
        <p:nvPicPr>
          <p:cNvPr id="5" name="그림 4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29AB23-0223-77FD-6017-9D0B58DDC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07" y="2639857"/>
            <a:ext cx="6545585" cy="373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0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13C00-0101-B0B5-F6A5-617216A8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6D7AC-00B4-D362-4F34-73FBAFEA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Ethernet </a:t>
            </a:r>
            <a:r>
              <a:rPr lang="en-US" altLang="ko-KR" dirty="0" err="1"/>
              <a:t>Phy</a:t>
            </a:r>
            <a:r>
              <a:rPr lang="en-US" altLang="ko-KR" dirty="0"/>
              <a:t> Interface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AF5AC-9714-DFE6-AD4C-54562C04E53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MII: 10/100 Mbps, 4bit </a:t>
            </a:r>
            <a:r>
              <a:rPr lang="ko-KR" altLang="en-US" b="0" i="0" kern="0" dirty="0"/>
              <a:t>데이터</a:t>
            </a:r>
            <a:r>
              <a:rPr lang="en-US" altLang="ko-KR" b="0" i="0" kern="0" dirty="0"/>
              <a:t>, 25MHz</a:t>
            </a:r>
            <a:endParaRPr lang="ko-KR" altLang="en-US" b="0" i="0" kern="0" dirty="0"/>
          </a:p>
          <a:p>
            <a:r>
              <a:rPr lang="en-US" altLang="ko-KR" b="0" i="0" kern="0" dirty="0"/>
              <a:t>RMII: 10/100 Mbps, </a:t>
            </a:r>
            <a:r>
              <a:rPr lang="ko-KR" altLang="en-US" b="0" i="0" kern="0" dirty="0"/>
              <a:t>핀 수 감소</a:t>
            </a:r>
            <a:r>
              <a:rPr lang="en-US" altLang="ko-KR" b="0" i="0" kern="0" dirty="0"/>
              <a:t>-2bit, 50MHz</a:t>
            </a:r>
            <a:endParaRPr lang="ko-KR" altLang="en-US" b="0" i="0" kern="0" dirty="0"/>
          </a:p>
          <a:p>
            <a:r>
              <a:rPr lang="en-US" altLang="ko-KR" b="0" i="0" kern="0" dirty="0"/>
              <a:t>RGMII: 1 Gbps, DDR </a:t>
            </a:r>
            <a:r>
              <a:rPr lang="ko-KR" altLang="en-US" b="0" i="0" kern="0" dirty="0"/>
              <a:t>방식</a:t>
            </a:r>
            <a:r>
              <a:rPr lang="en-US" altLang="ko-KR" b="0" i="0" kern="0" dirty="0"/>
              <a:t>, 4bit, 125MHz</a:t>
            </a:r>
            <a:endParaRPr lang="ko-KR" altLang="en-US" b="0" i="0" kern="0" dirty="0"/>
          </a:p>
          <a:p>
            <a:r>
              <a:rPr lang="en-US" altLang="ko-KR" b="0" i="0" kern="0" dirty="0"/>
              <a:t>SGMII / XGMII: </a:t>
            </a:r>
            <a:r>
              <a:rPr lang="ko-KR" altLang="en-US" b="0" i="0" kern="0" dirty="0"/>
              <a:t>고속 인터페이스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209387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C2E6-4D00-EA73-34FE-48F0DA97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EE6D8-92A2-270B-54FA-817A17B2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Ethernet MII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6282E-D808-36FD-02E0-FA1C14DC78A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90889E-A478-A429-BF21-22EA13C8C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793204"/>
            <a:ext cx="584835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640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6547-383A-62CF-1C0F-E5F34C75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9E9A0-1B48-21E3-7395-05AED658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Ethernet MDIO/MDC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81E55-E0E0-882F-76C4-43281064D3F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MAC ↔ PHY </a:t>
            </a:r>
            <a:r>
              <a:rPr lang="ko-KR" altLang="en-US" b="0" i="0" kern="0" dirty="0"/>
              <a:t>제어 인터페이스</a:t>
            </a:r>
          </a:p>
          <a:p>
            <a:r>
              <a:rPr lang="en-US" altLang="ko-KR" b="0" i="0" kern="0" dirty="0"/>
              <a:t>PHY </a:t>
            </a:r>
            <a:r>
              <a:rPr lang="ko-KR" altLang="en-US" b="0" i="0" kern="0" dirty="0"/>
              <a:t>레지스터 읽기</a:t>
            </a:r>
            <a:r>
              <a:rPr lang="en-US" altLang="ko-KR" b="0" i="0" kern="0" dirty="0"/>
              <a:t>/</a:t>
            </a:r>
            <a:r>
              <a:rPr lang="ko-KR" altLang="en-US" b="0" i="0" kern="0" dirty="0"/>
              <a:t>쓰기</a:t>
            </a:r>
          </a:p>
          <a:p>
            <a:r>
              <a:rPr lang="ko-KR" altLang="en-US" b="0" i="0" kern="0" dirty="0"/>
              <a:t>링크 상태 및 속도 확인</a:t>
            </a:r>
          </a:p>
          <a:p>
            <a:r>
              <a:rPr lang="en-US" altLang="ko-KR" b="0" i="0" kern="0" dirty="0"/>
              <a:t>IEEE 802.3 </a:t>
            </a:r>
            <a:r>
              <a:rPr lang="ko-KR" altLang="en-US" b="0" i="0" kern="0" dirty="0"/>
              <a:t>표준 정의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C1A702-8329-9C02-ACCB-AF87521B1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283143"/>
            <a:ext cx="6480720" cy="406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867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93E6-E595-4570-3784-66E1ECE7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3BAE9-B688-30CC-6FC1-7232FCCF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메모리 개요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F9077-F0E4-3BF7-5DC9-EEA358507DB6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/>
              <a:t>Secure Digital Memory Card</a:t>
            </a:r>
          </a:p>
          <a:p>
            <a:r>
              <a:rPr lang="ko-KR" altLang="en-US" b="0" i="0" kern="0"/>
              <a:t>플래시 기반 비휘발성 저장장치</a:t>
            </a:r>
          </a:p>
          <a:p>
            <a:r>
              <a:rPr lang="ko-KR" altLang="en-US" b="0" i="0" kern="0"/>
              <a:t>소형</a:t>
            </a:r>
            <a:r>
              <a:rPr lang="en-US" altLang="ko-KR" b="0" i="0" kern="0"/>
              <a:t>·</a:t>
            </a:r>
            <a:r>
              <a:rPr lang="ko-KR" altLang="en-US" b="0" i="0" kern="0"/>
              <a:t>저전력</a:t>
            </a:r>
            <a:r>
              <a:rPr lang="en-US" altLang="ko-KR" b="0" i="0" kern="0"/>
              <a:t>·</a:t>
            </a:r>
            <a:r>
              <a:rPr lang="ko-KR" altLang="en-US" b="0" i="0" kern="0"/>
              <a:t>대용량 저장 매체</a:t>
            </a:r>
          </a:p>
          <a:p>
            <a:r>
              <a:rPr lang="ko-KR" altLang="en-US" b="0" i="0" kern="0"/>
              <a:t>카메라</a:t>
            </a:r>
            <a:r>
              <a:rPr lang="en-US" altLang="ko-KR" b="0" i="0" kern="0"/>
              <a:t>, </a:t>
            </a:r>
            <a:r>
              <a:rPr lang="ko-KR" altLang="en-US" b="0" i="0" kern="0"/>
              <a:t>임베디드</a:t>
            </a:r>
            <a:r>
              <a:rPr lang="en-US" altLang="ko-KR" b="0" i="0" kern="0"/>
              <a:t>, </a:t>
            </a:r>
            <a:r>
              <a:rPr lang="ko-KR" altLang="en-US" b="0" i="0" kern="0"/>
              <a:t>모바일 기기에서 사용</a:t>
            </a:r>
            <a:endParaRPr lang="ko-KR" altLang="en-US" b="0" i="0" kern="0" dirty="0"/>
          </a:p>
        </p:txBody>
      </p:sp>
    </p:spTree>
    <p:extLst>
      <p:ext uri="{BB962C8B-B14F-4D97-AF65-F5344CB8AC3E}">
        <p14:creationId xmlns:p14="http://schemas.microsoft.com/office/powerpoint/2010/main" val="99891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2E0B-0F2A-21BE-BD5C-0338DC6A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260F4-A722-705B-F1F1-169C16D5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카드 종류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D225-2F1D-FC5C-00D3-BFAB4760649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SD: </a:t>
            </a:r>
            <a:r>
              <a:rPr lang="ko-KR" altLang="en-US" b="0" i="0" kern="0" dirty="0"/>
              <a:t>최대 </a:t>
            </a:r>
            <a:r>
              <a:rPr lang="en-US" altLang="ko-KR" b="0" i="0" kern="0" dirty="0"/>
              <a:t>2GB</a:t>
            </a:r>
          </a:p>
          <a:p>
            <a:r>
              <a:rPr lang="en-US" altLang="ko-KR" b="0" i="0" kern="0" dirty="0"/>
              <a:t>SDHC: 4GB ~ 32GB</a:t>
            </a:r>
          </a:p>
          <a:p>
            <a:r>
              <a:rPr lang="en-US" altLang="ko-KR" b="0" i="0" kern="0" dirty="0"/>
              <a:t>SDXC: 64GB ~ 2TB</a:t>
            </a:r>
          </a:p>
          <a:p>
            <a:r>
              <a:rPr lang="en-US" altLang="ko-KR" b="0" i="0" kern="0" dirty="0"/>
              <a:t>SDUC: </a:t>
            </a:r>
            <a:r>
              <a:rPr lang="ko-KR" altLang="en-US" b="0" i="0" kern="0" dirty="0"/>
              <a:t>최대 </a:t>
            </a:r>
            <a:r>
              <a:rPr lang="en-US" altLang="ko-KR" b="0" i="0" kern="0" dirty="0"/>
              <a:t>128TB (</a:t>
            </a:r>
            <a:r>
              <a:rPr lang="ko-KR" altLang="en-US" b="0" i="0" kern="0" dirty="0"/>
              <a:t>차세대</a:t>
            </a:r>
            <a:r>
              <a:rPr lang="en-US" altLang="ko-KR" b="0" i="0" kern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74053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D2FC5-D113-33AF-DE6F-057025858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3D9C2-7C6E-29CC-356B-E75D5F7D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카드 </a:t>
            </a:r>
            <a:r>
              <a:rPr lang="ko-KR" altLang="en-US" dirty="0" err="1"/>
              <a:t>폼팩터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1E1AD-0D71-5508-7F84-8D77C3FD315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SD </a:t>
            </a:r>
            <a:r>
              <a:rPr lang="ko-KR" altLang="en-US" b="0" i="0" kern="0" dirty="0"/>
              <a:t>카드 </a:t>
            </a:r>
            <a:r>
              <a:rPr lang="en-US" altLang="ko-KR" b="0" i="0" kern="0" dirty="0"/>
              <a:t>(</a:t>
            </a:r>
            <a:r>
              <a:rPr lang="ko-KR" altLang="en-US" b="0" i="0" kern="0" dirty="0"/>
              <a:t>표준</a:t>
            </a:r>
            <a:r>
              <a:rPr lang="en-US" altLang="ko-KR" b="0" i="0" kern="0" dirty="0"/>
              <a:t>)</a:t>
            </a:r>
          </a:p>
          <a:p>
            <a:r>
              <a:rPr lang="en-US" altLang="ko-KR" b="0" i="0" kern="0" dirty="0" err="1"/>
              <a:t>miniSD</a:t>
            </a:r>
            <a:r>
              <a:rPr lang="en-US" altLang="ko-KR" b="0" i="0" kern="0" dirty="0"/>
              <a:t> (</a:t>
            </a:r>
            <a:r>
              <a:rPr lang="ko-KR" altLang="en-US" b="0" i="0" kern="0" dirty="0"/>
              <a:t>단종</a:t>
            </a:r>
            <a:r>
              <a:rPr lang="en-US" altLang="ko-KR" b="0" i="0" kern="0" dirty="0"/>
              <a:t>)</a:t>
            </a:r>
          </a:p>
          <a:p>
            <a:r>
              <a:rPr lang="en-US" altLang="ko-KR" b="0" i="0" kern="0" dirty="0"/>
              <a:t>microSD (</a:t>
            </a:r>
            <a:r>
              <a:rPr lang="ko-KR" altLang="en-US" b="0" i="0" kern="0" dirty="0"/>
              <a:t>가장 널리 사용</a:t>
            </a:r>
            <a:r>
              <a:rPr lang="en-US" altLang="ko-KR" b="0" i="0" kern="0" dirty="0"/>
              <a:t>)</a:t>
            </a:r>
          </a:p>
          <a:p>
            <a:r>
              <a:rPr lang="ko-KR" altLang="en-US" b="0" i="0" kern="0" dirty="0"/>
              <a:t>어댑터를 통한 호환 가능</a:t>
            </a:r>
          </a:p>
        </p:txBody>
      </p:sp>
      <p:pic>
        <p:nvPicPr>
          <p:cNvPr id="5" name="그림 4" descr="텍스트, 스크린샷, 폰트, 브랜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AAF216-477D-84C0-32AA-B48714291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2348880"/>
            <a:ext cx="27051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01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FB4A-9972-C377-6FF3-41D281C0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35FAD-7924-8DC8-8381-A3294795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인터페이스 모드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E8E0E-55B4-DD1D-F2A9-7890A93538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SD Mode (1-bit / 4-bit)</a:t>
            </a:r>
          </a:p>
          <a:p>
            <a:r>
              <a:rPr lang="en-US" altLang="ko-KR" b="0" i="0" kern="0" dirty="0"/>
              <a:t>Clock, CMD, DAT[0:3] </a:t>
            </a:r>
            <a:r>
              <a:rPr lang="ko-KR" altLang="en-US" b="0" i="0" kern="0" dirty="0"/>
              <a:t>사용</a:t>
            </a:r>
            <a:endParaRPr lang="en-US" altLang="ko-KR" b="0" i="0" kern="0" dirty="0"/>
          </a:p>
          <a:p>
            <a:r>
              <a:rPr lang="en-US" altLang="ko-KR" b="0" i="0" kern="0" dirty="0"/>
              <a:t>SDCARD_DETECT </a:t>
            </a:r>
            <a:r>
              <a:rPr lang="ko-KR" altLang="en-US" b="0" i="0" kern="0" dirty="0"/>
              <a:t>핀 필요</a:t>
            </a:r>
          </a:p>
        </p:txBody>
      </p:sp>
      <p:pic>
        <p:nvPicPr>
          <p:cNvPr id="6" name="그림 5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DD0178-3F75-984A-E782-978434E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58" y="1916832"/>
            <a:ext cx="7831736" cy="3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173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680A-0130-FD21-340E-F05225B5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F58EF-6564-3DCF-8ABD-81BC729C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핀 구성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1718-C3BF-58FA-2248-CFA58DA2DE4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CLK: </a:t>
            </a:r>
            <a:r>
              <a:rPr lang="ko-KR" altLang="en-US" b="0" i="0" kern="0" dirty="0"/>
              <a:t>클럭 입력</a:t>
            </a:r>
          </a:p>
          <a:p>
            <a:r>
              <a:rPr lang="en-US" altLang="ko-KR" b="0" i="0" kern="0" dirty="0"/>
              <a:t>CMD: </a:t>
            </a:r>
            <a:r>
              <a:rPr lang="ko-KR" altLang="en-US" b="0" i="0" kern="0" dirty="0"/>
              <a:t>명령 및 응답</a:t>
            </a:r>
          </a:p>
          <a:p>
            <a:r>
              <a:rPr lang="en-US" altLang="ko-KR" b="0" i="0" kern="0" dirty="0"/>
              <a:t>DAT0~DAT3: </a:t>
            </a:r>
            <a:r>
              <a:rPr lang="ko-KR" altLang="en-US" b="0" i="0" kern="0" dirty="0"/>
              <a:t>데이터 라인</a:t>
            </a:r>
          </a:p>
          <a:p>
            <a:r>
              <a:rPr lang="en-US" altLang="ko-KR" b="0" i="0" kern="0" dirty="0"/>
              <a:t>VDD / VSS: </a:t>
            </a:r>
            <a:r>
              <a:rPr lang="ko-KR" altLang="en-US" b="0" i="0" kern="0" dirty="0"/>
              <a:t>전원 및 </a:t>
            </a:r>
            <a:r>
              <a:rPr lang="en-US" altLang="ko-KR" b="0" i="0" kern="0" dirty="0"/>
              <a:t>GND</a:t>
            </a:r>
          </a:p>
        </p:txBody>
      </p:sp>
    </p:spTree>
    <p:extLst>
      <p:ext uri="{BB962C8B-B14F-4D97-AF65-F5344CB8AC3E}">
        <p14:creationId xmlns:p14="http://schemas.microsoft.com/office/powerpoint/2010/main" val="2641592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30EDC-17A6-3AB3-FDF7-054784963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6CA45-3ED8-E8D1-5456-6CE55DC3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초기화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1A6A-C04E-1DFD-53A0-9A563681869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CMD0: Idle </a:t>
            </a:r>
            <a:r>
              <a:rPr lang="ko-KR" altLang="en-US" b="0" i="0" kern="0" dirty="0"/>
              <a:t>상태 진입</a:t>
            </a:r>
          </a:p>
          <a:p>
            <a:r>
              <a:rPr lang="en-US" altLang="ko-KR" b="0" i="0" kern="0" dirty="0"/>
              <a:t>CMD8: </a:t>
            </a:r>
            <a:r>
              <a:rPr lang="ko-KR" altLang="en-US" b="0" i="0" kern="0" dirty="0"/>
              <a:t>전압 및 카드 타입 확인</a:t>
            </a:r>
          </a:p>
          <a:p>
            <a:r>
              <a:rPr lang="en-US" altLang="ko-KR" b="0" i="0" kern="0" dirty="0"/>
              <a:t>ACMD41: </a:t>
            </a:r>
            <a:r>
              <a:rPr lang="ko-KR" altLang="en-US" b="0" i="0" kern="0" dirty="0"/>
              <a:t>카드 </a:t>
            </a:r>
            <a:r>
              <a:rPr lang="en-US" altLang="ko-KR" b="0" i="0" kern="0" dirty="0"/>
              <a:t>Ready </a:t>
            </a:r>
            <a:r>
              <a:rPr lang="ko-KR" altLang="en-US" b="0" i="0" kern="0" dirty="0"/>
              <a:t>대기</a:t>
            </a:r>
          </a:p>
          <a:p>
            <a:r>
              <a:rPr lang="en-US" altLang="ko-KR" b="0" i="0" kern="0" dirty="0"/>
              <a:t>CMD2/3: CID/RCA </a:t>
            </a:r>
            <a:r>
              <a:rPr lang="ko-KR" altLang="en-US" b="0" i="0" kern="0" dirty="0"/>
              <a:t>획득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ko-KR" altLang="en-US" b="0" i="0" kern="0" dirty="0"/>
              <a:t>초기 </a:t>
            </a:r>
            <a:r>
              <a:rPr lang="ko-KR" altLang="en-US" b="0" i="0" kern="0" dirty="0" err="1"/>
              <a:t>클락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: 400KHz </a:t>
            </a:r>
            <a:r>
              <a:rPr lang="ko-KR" altLang="en-US" b="0" i="0" kern="0" dirty="0"/>
              <a:t>이하</a:t>
            </a:r>
            <a:endParaRPr lang="en-US" altLang="ko-KR" b="0" i="0" kern="0" dirty="0"/>
          </a:p>
          <a:p>
            <a:r>
              <a:rPr lang="ko-KR" altLang="en-US" b="0" i="0" kern="0" dirty="0"/>
              <a:t>초기 폭 </a:t>
            </a:r>
            <a:r>
              <a:rPr lang="en-US" altLang="ko-KR" b="0" i="0" kern="0" dirty="0"/>
              <a:t>: 1-bit </a:t>
            </a:r>
            <a:r>
              <a:rPr lang="ko-KR" altLang="en-US" b="0" i="0" kern="0" dirty="0"/>
              <a:t>모드</a:t>
            </a:r>
            <a:r>
              <a:rPr lang="en-US" altLang="ko-KR" b="0" i="0" kern="0" dirty="0"/>
              <a:t>, DAT0 </a:t>
            </a:r>
            <a:r>
              <a:rPr lang="ko-KR" altLang="en-US" b="0" i="0" kern="0" dirty="0"/>
              <a:t>만 이용함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r>
              <a:rPr lang="en-US" altLang="ko-KR" b="0" i="0" kern="0" dirty="0"/>
              <a:t>ACMD6 : 4-bit </a:t>
            </a:r>
            <a:r>
              <a:rPr lang="ko-KR" altLang="en-US" b="0" i="0" kern="0" dirty="0"/>
              <a:t>모드 전환</a:t>
            </a:r>
            <a:r>
              <a:rPr lang="en-US" altLang="ko-KR" b="0" i="0" kern="0" dirty="0"/>
              <a:t>, DAT0 ~ DAT3 </a:t>
            </a:r>
            <a:r>
              <a:rPr lang="ko-KR" altLang="en-US" b="0" i="0" kern="0" dirty="0"/>
              <a:t>이용</a:t>
            </a:r>
            <a:endParaRPr lang="en-US" altLang="ko-KR" b="0" i="0" kern="0" dirty="0"/>
          </a:p>
          <a:p>
            <a:r>
              <a:rPr lang="ko-KR" altLang="en-US" b="0" i="0" kern="0" dirty="0" err="1"/>
              <a:t>클락</a:t>
            </a:r>
            <a:r>
              <a:rPr lang="ko-KR" altLang="en-US" b="0" i="0" kern="0" dirty="0"/>
              <a:t> 전환 </a:t>
            </a:r>
            <a:r>
              <a:rPr lang="en-US" altLang="ko-KR" b="0" i="0" kern="0" dirty="0"/>
              <a:t>: 24MHz </a:t>
            </a:r>
            <a:r>
              <a:rPr lang="ko-KR" altLang="en-US" b="0" i="0" kern="0" dirty="0"/>
              <a:t>이상</a:t>
            </a:r>
          </a:p>
        </p:txBody>
      </p:sp>
    </p:spTree>
    <p:extLst>
      <p:ext uri="{BB962C8B-B14F-4D97-AF65-F5344CB8AC3E}">
        <p14:creationId xmlns:p14="http://schemas.microsoft.com/office/powerpoint/2010/main" val="353306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052C-6D2A-302A-2F9E-FF1F038B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ED00D-FB78-298A-F287-21467326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데이터 전송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40E6C-B6EC-ED1E-5B48-5537330B007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Block </a:t>
            </a:r>
            <a:r>
              <a:rPr lang="ko-KR" altLang="en-US" b="0" i="0" kern="0" dirty="0"/>
              <a:t>단위 전송 </a:t>
            </a:r>
            <a:r>
              <a:rPr lang="en-US" altLang="ko-KR" b="0" i="0" kern="0" dirty="0"/>
              <a:t>(512 Bytes)</a:t>
            </a:r>
          </a:p>
          <a:p>
            <a:r>
              <a:rPr lang="en-US" altLang="ko-KR" b="0" i="0" kern="0" dirty="0"/>
              <a:t>CMD17: Single Block Read</a:t>
            </a:r>
          </a:p>
          <a:p>
            <a:r>
              <a:rPr lang="en-US" altLang="ko-KR" b="0" i="0" kern="0" dirty="0"/>
              <a:t>CMD24: Single Block Write</a:t>
            </a:r>
          </a:p>
          <a:p>
            <a:r>
              <a:rPr lang="en-US" altLang="ko-KR" b="0" i="0" kern="0" dirty="0"/>
              <a:t>DMA </a:t>
            </a:r>
            <a:r>
              <a:rPr lang="ko-KR" altLang="en-US" b="0" i="0" kern="0" dirty="0"/>
              <a:t>사용 시 성능 향상</a:t>
            </a:r>
          </a:p>
        </p:txBody>
      </p:sp>
    </p:spTree>
    <p:extLst>
      <p:ext uri="{BB962C8B-B14F-4D97-AF65-F5344CB8AC3E}">
        <p14:creationId xmlns:p14="http://schemas.microsoft.com/office/powerpoint/2010/main" val="27296643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1CC43-73B1-CFAB-8339-60C134468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C47F8-BDF5-5E3F-D995-A42404AE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데이터 전송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FE58-DC2E-DC4B-E91B-C617B545AE0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Block </a:t>
            </a:r>
            <a:r>
              <a:rPr lang="ko-KR" altLang="en-US" b="0" i="0" kern="0" dirty="0"/>
              <a:t>단위 전송 </a:t>
            </a:r>
            <a:r>
              <a:rPr lang="en-US" altLang="ko-KR" b="0" i="0" kern="0" dirty="0"/>
              <a:t>(512 Bytes)</a:t>
            </a:r>
          </a:p>
          <a:p>
            <a:r>
              <a:rPr lang="en-US" altLang="ko-KR" b="0" i="0" kern="0" dirty="0"/>
              <a:t>CMD17: Single Block Read</a:t>
            </a:r>
          </a:p>
          <a:p>
            <a:r>
              <a:rPr lang="en-US" altLang="ko-KR" b="0" i="0" kern="0" dirty="0"/>
              <a:t>CMD24: Single Block Write</a:t>
            </a:r>
          </a:p>
          <a:p>
            <a:r>
              <a:rPr lang="en-US" altLang="ko-KR" b="0" i="0" kern="0" dirty="0"/>
              <a:t>DMA </a:t>
            </a:r>
            <a:r>
              <a:rPr lang="ko-KR" altLang="en-US" b="0" i="0" kern="0" dirty="0"/>
              <a:t>사용 시 성능 향상</a:t>
            </a:r>
          </a:p>
        </p:txBody>
      </p:sp>
    </p:spTree>
    <p:extLst>
      <p:ext uri="{BB962C8B-B14F-4D97-AF65-F5344CB8AC3E}">
        <p14:creationId xmlns:p14="http://schemas.microsoft.com/office/powerpoint/2010/main" val="12678245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6EC0E-5297-20CF-C806-BFB65BA1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109D0-5B1C-AB24-BE98-70486DAD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속도 등급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0293B-1ADE-5954-FC92-B6744BC15B4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Speed Class: C2 / C4 / C6 / C10</a:t>
            </a:r>
          </a:p>
          <a:p>
            <a:r>
              <a:rPr lang="en-US" altLang="ko-KR" b="0" i="0" kern="0" dirty="0"/>
              <a:t>UHS Speed Class: U1 / U3</a:t>
            </a:r>
          </a:p>
          <a:p>
            <a:r>
              <a:rPr lang="en-US" altLang="ko-KR" b="0" i="0" kern="0" dirty="0"/>
              <a:t>Video Speed Class: V30 / V60 / V90</a:t>
            </a:r>
          </a:p>
        </p:txBody>
      </p:sp>
    </p:spTree>
    <p:extLst>
      <p:ext uri="{BB962C8B-B14F-4D97-AF65-F5344CB8AC3E}">
        <p14:creationId xmlns:p14="http://schemas.microsoft.com/office/powerpoint/2010/main" val="26492059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A5BA-C561-3613-C671-689A03CA8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9978-8EF1-BE83-99BF-355005C2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파일시스템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5E4C3-8878-44C7-2BF2-9D760CA7942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FAT16: SD</a:t>
            </a:r>
          </a:p>
          <a:p>
            <a:r>
              <a:rPr lang="en-US" altLang="ko-KR" b="0" i="0" kern="0" dirty="0"/>
              <a:t>FAT32: SDHC</a:t>
            </a:r>
          </a:p>
          <a:p>
            <a:r>
              <a:rPr lang="en-US" altLang="ko-KR" b="0" i="0" kern="0" dirty="0" err="1"/>
              <a:t>exFAT</a:t>
            </a:r>
            <a:r>
              <a:rPr lang="en-US" altLang="ko-KR" b="0" i="0" kern="0" dirty="0"/>
              <a:t>: SDXC</a:t>
            </a:r>
          </a:p>
        </p:txBody>
      </p:sp>
    </p:spTree>
    <p:extLst>
      <p:ext uri="{BB962C8B-B14F-4D97-AF65-F5344CB8AC3E}">
        <p14:creationId xmlns:p14="http://schemas.microsoft.com/office/powerpoint/2010/main" val="39041429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6F10-F1DB-9D05-5B2F-617E8B9B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CB2B0-9D0B-02BF-6AD8-EB90D368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SRAM </a:t>
            </a:r>
            <a:r>
              <a:rPr lang="ko-KR" altLang="en-US" dirty="0"/>
              <a:t>회로도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67763-CE6F-7941-2A00-E8D46611AC5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/>
              <a:t>IS61WV51216xLL</a:t>
            </a:r>
            <a:endParaRPr lang="en-US" altLang="ko-KR" b="0" i="0" kern="0" dirty="0"/>
          </a:p>
        </p:txBody>
      </p:sp>
      <p:pic>
        <p:nvPicPr>
          <p:cNvPr id="5" name="그림 4" descr="텍스트, 도표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4A89C5-7EBD-7385-1887-5EA66CEB6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07509"/>
            <a:ext cx="6978922" cy="514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5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5DE1D-E4B7-28C5-6737-5F53B951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B2EAD-9E83-5464-7B84-9C494EEE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SRAM </a:t>
            </a:r>
            <a:r>
              <a:rPr lang="ko-KR" altLang="en-US" dirty="0" err="1"/>
              <a:t>블락</a:t>
            </a:r>
            <a:r>
              <a:rPr lang="ko-KR" altLang="en-US" dirty="0"/>
              <a:t> 다이어그램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852D-D9FB-3943-31F6-C0ACF222927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</p:txBody>
      </p:sp>
      <p:pic>
        <p:nvPicPr>
          <p:cNvPr id="6" name="그림 5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12DBA8-C55A-8BFB-5971-A478EF769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62" y="1271587"/>
            <a:ext cx="44100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466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C77A-EB63-2EF1-4F61-0F32AB54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4BC0D-48FC-679F-26AE-07FBB8DF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SRAM </a:t>
            </a:r>
            <a:r>
              <a:rPr lang="ko-KR" altLang="en-US" dirty="0"/>
              <a:t>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32DF-B7CB-63B9-1657-FFFE6F5549A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B14971-5015-E83D-18C4-D977811BF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057275"/>
            <a:ext cx="60198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86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B71C-450C-E97C-5618-E17660CBC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2587C-B4E8-AAC9-FEF8-5664FC55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SRAM Read Cycle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6FC2-6D4C-0C48-30C4-17C74F550E2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</p:txBody>
      </p:sp>
      <p:pic>
        <p:nvPicPr>
          <p:cNvPr id="6" name="그림 5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00548D-9F4C-A094-E0D7-732D09C1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74" y="1562734"/>
            <a:ext cx="7886700" cy="373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472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20F8-219D-D48D-0A4C-F30638C5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F346C-DB17-25AD-92CD-DA5A7D6D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SRAM Write Cycle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5A6F8-3419-41BD-D93A-7BD991E275A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</p:txBody>
      </p:sp>
      <p:pic>
        <p:nvPicPr>
          <p:cNvPr id="5" name="그림 4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CF0A5D-3309-2EA1-7E6F-2DDE283E2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40768"/>
            <a:ext cx="7596336" cy="46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50905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22903</TotalTime>
  <Words>938</Words>
  <Application>Microsoft Office PowerPoint</Application>
  <PresentationFormat>화면 슬라이드 쇼(4:3)</PresentationFormat>
  <Paragraphs>295</Paragraphs>
  <Slides>53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1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통신 프로토콜</vt:lpstr>
      <vt:lpstr>UART</vt:lpstr>
      <vt:lpstr>UART</vt:lpstr>
      <vt:lpstr>UART</vt:lpstr>
      <vt:lpstr>RS232</vt:lpstr>
      <vt:lpstr>RS232</vt:lpstr>
      <vt:lpstr>RS232</vt:lpstr>
      <vt:lpstr>RS232</vt:lpstr>
      <vt:lpstr>RS485</vt:lpstr>
      <vt:lpstr>RS485</vt:lpstr>
      <vt:lpstr>I2C</vt:lpstr>
      <vt:lpstr>I2C</vt:lpstr>
      <vt:lpstr>I2C</vt:lpstr>
      <vt:lpstr>I2C</vt:lpstr>
      <vt:lpstr>I2C</vt:lpstr>
      <vt:lpstr>CAN</vt:lpstr>
      <vt:lpstr>CAN</vt:lpstr>
      <vt:lpstr>CAN</vt:lpstr>
      <vt:lpstr>CAN</vt:lpstr>
      <vt:lpstr>CAN</vt:lpstr>
      <vt:lpstr>USB 개요</vt:lpstr>
      <vt:lpstr>USB 회로도</vt:lpstr>
      <vt:lpstr>USB 주요 특징</vt:lpstr>
      <vt:lpstr>USB 시스템 구조</vt:lpstr>
      <vt:lpstr>USB Transfer Type</vt:lpstr>
      <vt:lpstr>USB 속도 등급</vt:lpstr>
      <vt:lpstr>USB 버전</vt:lpstr>
      <vt:lpstr>USB 커넥터 타입</vt:lpstr>
      <vt:lpstr>USB Enumeration</vt:lpstr>
      <vt:lpstr>USB Class</vt:lpstr>
      <vt:lpstr>Ethernet 개요</vt:lpstr>
      <vt:lpstr>Ethernet 기본 특징</vt:lpstr>
      <vt:lpstr>Ethernet 시스템 구조</vt:lpstr>
      <vt:lpstr>Ethernet 회로도</vt:lpstr>
      <vt:lpstr>Ethernet 프레임 구조</vt:lpstr>
      <vt:lpstr>Ethernet Phy Interface</vt:lpstr>
      <vt:lpstr>Ethernet MII</vt:lpstr>
      <vt:lpstr>Ethernet MDIO/MDC</vt:lpstr>
      <vt:lpstr>SD 메모리 개요</vt:lpstr>
      <vt:lpstr>SD 카드 종류</vt:lpstr>
      <vt:lpstr>SD 카드 폼팩터</vt:lpstr>
      <vt:lpstr>SD 인터페이스 모드</vt:lpstr>
      <vt:lpstr>SD 핀 구성</vt:lpstr>
      <vt:lpstr>SD 초기화</vt:lpstr>
      <vt:lpstr>SD 데이터 전송</vt:lpstr>
      <vt:lpstr>SD 데이터 전송</vt:lpstr>
      <vt:lpstr>SD 속도 등급</vt:lpstr>
      <vt:lpstr>SD 파일시스템</vt:lpstr>
      <vt:lpstr>SRAM 회로도</vt:lpstr>
      <vt:lpstr>SRAM 블락 다이어그램</vt:lpstr>
      <vt:lpstr>SRAM 핀</vt:lpstr>
      <vt:lpstr>SRAM Read Cycle</vt:lpstr>
      <vt:lpstr>SRAM Write Cycle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1014</cp:revision>
  <dcterms:created xsi:type="dcterms:W3CDTF">2006-02-08T03:00:46Z</dcterms:created>
  <dcterms:modified xsi:type="dcterms:W3CDTF">2026-01-24T08:32:00Z</dcterms:modified>
</cp:coreProperties>
</file>