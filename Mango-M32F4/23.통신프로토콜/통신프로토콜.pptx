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1"/>
  </p:sldMasterIdLst>
  <p:notesMasterIdLst>
    <p:notesMasterId r:id="rId19"/>
  </p:notesMasterIdLst>
  <p:handoutMasterIdLst>
    <p:handoutMasterId r:id="rId20"/>
  </p:handoutMasterIdLst>
  <p:sldIdLst>
    <p:sldId id="308" r:id="rId2"/>
    <p:sldId id="332" r:id="rId3"/>
    <p:sldId id="352" r:id="rId4"/>
    <p:sldId id="421" r:id="rId5"/>
    <p:sldId id="349" r:id="rId6"/>
    <p:sldId id="422" r:id="rId7"/>
    <p:sldId id="423" r:id="rId8"/>
    <p:sldId id="424" r:id="rId9"/>
    <p:sldId id="354" r:id="rId10"/>
    <p:sldId id="358" r:id="rId11"/>
    <p:sldId id="425" r:id="rId12"/>
    <p:sldId id="426" r:id="rId13"/>
    <p:sldId id="427" r:id="rId14"/>
    <p:sldId id="353" r:id="rId15"/>
    <p:sldId id="428" r:id="rId16"/>
    <p:sldId id="356" r:id="rId17"/>
    <p:sldId id="429" r:id="rId18"/>
  </p:sldIdLst>
  <p:sldSz cx="9144000" cy="6858000" type="screen4x3"/>
  <p:notesSz cx="6799263" cy="9929813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5pPr>
    <a:lvl6pPr marL="22860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6pPr>
    <a:lvl7pPr marL="27432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7pPr>
    <a:lvl8pPr marL="32004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8pPr>
    <a:lvl9pPr marL="36576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38">
          <p15:clr>
            <a:srgbClr val="A4A3A4"/>
          </p15:clr>
        </p15:guide>
        <p15:guide id="2" pos="6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8">
          <p15:clr>
            <a:srgbClr val="A4A3A4"/>
          </p15:clr>
        </p15:guide>
        <p15:guide id="2" pos="2142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99"/>
    <a:srgbClr val="C0C0C0"/>
    <a:srgbClr val="CCECFF"/>
    <a:srgbClr val="FF99CC"/>
    <a:srgbClr val="99FF99"/>
    <a:srgbClr val="660033"/>
    <a:srgbClr val="6666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843" autoAdjust="0"/>
    <p:restoredTop sz="95183" autoAdjust="0"/>
  </p:normalViewPr>
  <p:slideViewPr>
    <p:cSldViewPr snapToObjects="1">
      <p:cViewPr varScale="1">
        <p:scale>
          <a:sx n="88" d="100"/>
          <a:sy n="88" d="100"/>
        </p:scale>
        <p:origin x="1435" y="288"/>
      </p:cViewPr>
      <p:guideLst>
        <p:guide orient="horz" pos="3838"/>
        <p:guide pos="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Objects="1">
      <p:cViewPr varScale="1">
        <p:scale>
          <a:sx n="57" d="100"/>
          <a:sy n="57" d="100"/>
        </p:scale>
        <p:origin x="-2616" y="-96"/>
      </p:cViewPr>
      <p:guideLst>
        <p:guide orient="horz" pos="3128"/>
        <p:guide pos="214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1275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53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53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1275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fld id="{3E359F8D-C241-43DD-BB7A-EE3CBF36867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741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7575" y="746125"/>
            <a:ext cx="4964113" cy="37226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74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9450" y="4716463"/>
            <a:ext cx="5440363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74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fld id="{DE4C13C3-4C20-49FA-8F88-6FD9575FBAAE}" type="slidenum">
              <a:rPr lang="en-US" altLang="ko-KR"/>
              <a:pPr/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9E6B64B-D8C4-466A-BB6C-3C01BAF15E52}" type="slidenum">
              <a:rPr lang="en-US" altLang="ko-KR"/>
              <a:pPr/>
              <a:t>1</a:t>
            </a:fld>
            <a:endParaRPr lang="en-US" altLang="ko-KR"/>
          </a:p>
        </p:txBody>
      </p:sp>
      <p:sp>
        <p:nvSpPr>
          <p:cNvPr id="681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1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ko-KR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875" name="Rectangle 11"/>
          <p:cNvSpPr>
            <a:spLocks noChangeArrowheads="1"/>
          </p:cNvSpPr>
          <p:nvPr userDrawn="1"/>
        </p:nvSpPr>
        <p:spPr bwMode="auto">
          <a:xfrm>
            <a:off x="88900" y="85725"/>
            <a:ext cx="8959850" cy="6689725"/>
          </a:xfrm>
          <a:prstGeom prst="rect">
            <a:avLst/>
          </a:prstGeom>
          <a:noFill/>
          <a:ln w="317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76876" name="Rectangle 12"/>
          <p:cNvSpPr>
            <a:spLocks noChangeArrowheads="1"/>
          </p:cNvSpPr>
          <p:nvPr userDrawn="1"/>
        </p:nvSpPr>
        <p:spPr bwMode="auto">
          <a:xfrm>
            <a:off x="88900" y="2636838"/>
            <a:ext cx="7146925" cy="1095375"/>
          </a:xfrm>
          <a:prstGeom prst="rect">
            <a:avLst/>
          </a:prstGeom>
          <a:solidFill>
            <a:srgbClr val="92D050"/>
          </a:solidFill>
          <a:ln w="952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76877" name="Line 13"/>
          <p:cNvSpPr>
            <a:spLocks noChangeShapeType="1"/>
          </p:cNvSpPr>
          <p:nvPr userDrawn="1"/>
        </p:nvSpPr>
        <p:spPr bwMode="auto">
          <a:xfrm>
            <a:off x="88900" y="2552700"/>
            <a:ext cx="7146925" cy="1588"/>
          </a:xfrm>
          <a:prstGeom prst="line">
            <a:avLst/>
          </a:prstGeom>
          <a:noFill/>
          <a:ln w="9525">
            <a:solidFill>
              <a:srgbClr val="00B050"/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67686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27088" y="3860800"/>
            <a:ext cx="6257925" cy="1152525"/>
          </a:xfrm>
        </p:spPr>
        <p:txBody>
          <a:bodyPr/>
          <a:lstStyle>
            <a:lvl1pPr marL="0" indent="0">
              <a:buFontTx/>
              <a:buNone/>
              <a:defRPr b="1">
                <a:latin typeface="Verdana" pitchFamily="34" charset="0"/>
              </a:defRPr>
            </a:lvl1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676868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84213" y="2708275"/>
            <a:ext cx="6551612" cy="1023938"/>
          </a:xfrm>
        </p:spPr>
        <p:txBody>
          <a:bodyPr/>
          <a:lstStyle>
            <a:lvl1pPr>
              <a:defRPr sz="3200">
                <a:latin typeface="Verdana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676881" name="Rectangle 17"/>
          <p:cNvSpPr>
            <a:spLocks noChangeArrowheads="1"/>
          </p:cNvSpPr>
          <p:nvPr userDrawn="1"/>
        </p:nvSpPr>
        <p:spPr bwMode="auto">
          <a:xfrm>
            <a:off x="107950" y="6381750"/>
            <a:ext cx="4679950" cy="36036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r>
              <a:rPr lang="en-US" altLang="ko-KR" dirty="0"/>
              <a:t>http://cafe.naver.com/embeddedcrazyboys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Verdana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77800" y="785793"/>
            <a:ext cx="8858250" cy="5643603"/>
          </a:xfrm>
        </p:spPr>
        <p:txBody>
          <a:bodyPr/>
          <a:lstStyle>
            <a:lvl1pPr>
              <a:defRPr>
                <a:latin typeface="Verdana" pitchFamily="34" charset="0"/>
              </a:defRPr>
            </a:lvl1pPr>
            <a:lvl2pPr>
              <a:defRPr>
                <a:latin typeface="Verdana" pitchFamily="34" charset="0"/>
              </a:defRPr>
            </a:lvl2pPr>
            <a:lvl3pPr>
              <a:defRPr>
                <a:latin typeface="Verdana" pitchFamily="34" charset="0"/>
              </a:defRPr>
            </a:lvl3pPr>
            <a:lvl4pPr>
              <a:defRPr>
                <a:latin typeface="Verdana" pitchFamily="34" charset="0"/>
              </a:defRPr>
            </a:lvl4pPr>
            <a:lvl5pPr>
              <a:defRPr>
                <a:latin typeface="Verdana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77800" y="665163"/>
            <a:ext cx="4352925" cy="58594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83125" y="665163"/>
            <a:ext cx="4352925" cy="58594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821488" y="115888"/>
            <a:ext cx="2214562" cy="640873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177800" y="115888"/>
            <a:ext cx="6491288" cy="64087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4" name="Rectangle 70"/>
          <p:cNvSpPr>
            <a:spLocks noChangeArrowheads="1"/>
          </p:cNvSpPr>
          <p:nvPr userDrawn="1"/>
        </p:nvSpPr>
        <p:spPr bwMode="auto">
          <a:xfrm>
            <a:off x="88900" y="85725"/>
            <a:ext cx="8959850" cy="534988"/>
          </a:xfrm>
          <a:prstGeom prst="rect">
            <a:avLst/>
          </a:prstGeom>
          <a:solidFill>
            <a:srgbClr val="92D050">
              <a:alpha val="50000"/>
            </a:srgb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800" y="665163"/>
            <a:ext cx="8858250" cy="5859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</p:txBody>
      </p:sp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800" y="115888"/>
            <a:ext cx="8858250" cy="469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Main Title</a:t>
            </a:r>
          </a:p>
        </p:txBody>
      </p:sp>
      <p:sp>
        <p:nvSpPr>
          <p:cNvPr id="6178" name="Rectangle 34"/>
          <p:cNvSpPr>
            <a:spLocks noChangeArrowheads="1"/>
          </p:cNvSpPr>
          <p:nvPr userDrawn="1"/>
        </p:nvSpPr>
        <p:spPr bwMode="auto">
          <a:xfrm rot="-21600000">
            <a:off x="8388350" y="6453188"/>
            <a:ext cx="647700" cy="333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algn="r" latinLnBrk="0"/>
            <a:fld id="{4FDD7156-F552-46EC-968D-BB66E3283A22}" type="slidenum">
              <a:rPr kumimoji="0" lang="en-US" altLang="ko-KR" sz="1300" i="0">
                <a:solidFill>
                  <a:srgbClr val="333333"/>
                </a:solidFill>
                <a:latin typeface="Century Gothic" pitchFamily="34" charset="0"/>
              </a:rPr>
              <a:pPr algn="r" latinLnBrk="0"/>
              <a:t>‹#›</a:t>
            </a:fld>
            <a:endParaRPr kumimoji="0" lang="en-US" altLang="ko-KR" sz="1300" i="0">
              <a:solidFill>
                <a:srgbClr val="333333"/>
              </a:solidFill>
              <a:latin typeface="Century Gothic" pitchFamily="34" charset="0"/>
            </a:endParaRPr>
          </a:p>
        </p:txBody>
      </p:sp>
      <p:sp>
        <p:nvSpPr>
          <p:cNvPr id="6200" name="Text Box 56"/>
          <p:cNvSpPr txBox="1">
            <a:spLocks noChangeArrowheads="1"/>
          </p:cNvSpPr>
          <p:nvPr userDrawn="1"/>
        </p:nvSpPr>
        <p:spPr bwMode="auto">
          <a:xfrm>
            <a:off x="5422900" y="6480175"/>
            <a:ext cx="3165475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r"/>
            <a:r>
              <a:rPr lang="en-US" altLang="ko-KR" sz="1000" i="0" dirty="0">
                <a:solidFill>
                  <a:srgbClr val="5F5F5F"/>
                </a:solidFill>
                <a:latin typeface="Century Gothic" pitchFamily="34" charset="0"/>
              </a:rPr>
              <a:t>https://www.crz-tech.com/</a:t>
            </a:r>
          </a:p>
        </p:txBody>
      </p:sp>
      <p:sp>
        <p:nvSpPr>
          <p:cNvPr id="6211" name="Rectangle 67"/>
          <p:cNvSpPr>
            <a:spLocks noChangeArrowheads="1"/>
          </p:cNvSpPr>
          <p:nvPr userDrawn="1"/>
        </p:nvSpPr>
        <p:spPr bwMode="auto">
          <a:xfrm>
            <a:off x="88900" y="85725"/>
            <a:ext cx="8959850" cy="6689725"/>
          </a:xfrm>
          <a:prstGeom prst="rect">
            <a:avLst/>
          </a:prstGeom>
          <a:noFill/>
          <a:ln w="317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212" name="Line 68"/>
          <p:cNvSpPr>
            <a:spLocks noChangeShapeType="1"/>
          </p:cNvSpPr>
          <p:nvPr userDrawn="1"/>
        </p:nvSpPr>
        <p:spPr bwMode="auto">
          <a:xfrm>
            <a:off x="5583238" y="6480175"/>
            <a:ext cx="3452812" cy="0"/>
          </a:xfrm>
          <a:prstGeom prst="line">
            <a:avLst/>
          </a:prstGeom>
          <a:noFill/>
          <a:ln w="3175">
            <a:solidFill>
              <a:srgbClr val="00B050"/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6215" name="Line 71"/>
          <p:cNvSpPr>
            <a:spLocks noChangeShapeType="1"/>
          </p:cNvSpPr>
          <p:nvPr userDrawn="1"/>
        </p:nvSpPr>
        <p:spPr bwMode="auto">
          <a:xfrm>
            <a:off x="88900" y="620713"/>
            <a:ext cx="8959850" cy="0"/>
          </a:xfrm>
          <a:prstGeom prst="line">
            <a:avLst/>
          </a:prstGeom>
          <a:noFill/>
          <a:ln w="9525">
            <a:solidFill>
              <a:srgbClr val="00B050"/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xStyles>
    <p:titleStyle>
      <a:lvl1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Verdana" pitchFamily="34" charset="0"/>
          <a:ea typeface="+mj-ea"/>
          <a:cs typeface="+mj-cs"/>
        </a:defRPr>
      </a:lvl1pPr>
      <a:lvl2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2pPr>
      <a:lvl3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3pPr>
      <a:lvl4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4pPr>
      <a:lvl5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9pPr>
    </p:titleStyle>
    <p:bodyStyle>
      <a:lvl1pPr marL="342900" indent="-342900" algn="l" rtl="0" fontAlgn="base" latinLnBrk="1">
        <a:spcBef>
          <a:spcPct val="20000"/>
        </a:spcBef>
        <a:spcAft>
          <a:spcPct val="0"/>
        </a:spcAft>
        <a:buClr>
          <a:schemeClr val="tx1"/>
        </a:buClr>
        <a:buChar char="•"/>
        <a:defRPr kumimoji="1" sz="2000">
          <a:solidFill>
            <a:schemeClr val="tx1"/>
          </a:solidFill>
          <a:latin typeface="Verdana" pitchFamily="34" charset="0"/>
          <a:ea typeface="+mn-ea"/>
          <a:cs typeface="+mn-cs"/>
        </a:defRPr>
      </a:lvl1pPr>
      <a:lvl2pPr marL="742950" indent="-285750" algn="l" rtl="0" fontAlgn="base" latinLnBrk="1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Ø"/>
        <a:defRPr kumimoji="1">
          <a:solidFill>
            <a:schemeClr val="tx1"/>
          </a:solidFill>
          <a:latin typeface="Verdana" pitchFamily="34" charset="0"/>
          <a:ea typeface="+mn-ea"/>
        </a:defRPr>
      </a:lvl2pPr>
      <a:lvl3pPr marL="1143000" indent="-228600" algn="l" rtl="0" fontAlgn="base" latinLnBrk="1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§"/>
        <a:defRPr kumimoji="1" sz="1600">
          <a:solidFill>
            <a:schemeClr val="tx1"/>
          </a:solidFill>
          <a:latin typeface="Verdana" pitchFamily="34" charset="0"/>
          <a:ea typeface="+mn-ea"/>
        </a:defRPr>
      </a:lvl3pPr>
      <a:lvl4pPr marL="16002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Wingdings 2" pitchFamily="18" charset="2"/>
        <a:buChar char=""/>
        <a:defRPr kumimoji="1" sz="2000">
          <a:solidFill>
            <a:schemeClr val="tx1"/>
          </a:solidFill>
          <a:latin typeface="Arial" charset="0"/>
          <a:ea typeface="+mn-ea"/>
        </a:defRPr>
      </a:lvl4pPr>
      <a:lvl5pPr marL="20574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5pPr>
      <a:lvl6pPr marL="25146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6pPr>
      <a:lvl7pPr marL="29718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7pPr>
      <a:lvl8pPr marL="34290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8pPr>
      <a:lvl9pPr marL="38862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w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916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84213" y="2674938"/>
            <a:ext cx="6551612" cy="1023937"/>
          </a:xfrm>
        </p:spPr>
        <p:txBody>
          <a:bodyPr/>
          <a:lstStyle/>
          <a:p>
            <a:r>
              <a:rPr lang="ko-KR" altLang="en-US" dirty="0"/>
              <a:t>통신 프로토콜</a:t>
            </a:r>
            <a:endParaRPr lang="en-US" altLang="ko-KR" dirty="0"/>
          </a:p>
        </p:txBody>
      </p:sp>
      <p:sp>
        <p:nvSpPr>
          <p:cNvPr id="678917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827088" y="3860800"/>
            <a:ext cx="6257925" cy="1211274"/>
          </a:xfrm>
        </p:spPr>
        <p:txBody>
          <a:bodyPr/>
          <a:lstStyle/>
          <a:p>
            <a:r>
              <a:rPr lang="en-US" altLang="ko-KR" dirty="0"/>
              <a:t>2026.01.22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UART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59166-90EC-43EA-C1CC-D0373F9804AD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4351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범용 비동기식 수신 송신</a:t>
            </a:r>
            <a:endParaRPr lang="en-US" altLang="ko-KR" b="0" i="0" kern="0" dirty="0"/>
          </a:p>
          <a:p>
            <a:r>
              <a:rPr lang="en-US" altLang="ko-KR" b="0" i="0" kern="0" dirty="0"/>
              <a:t>Universal Asynchronous Receive Transmit</a:t>
            </a:r>
          </a:p>
          <a:p>
            <a:r>
              <a:rPr lang="en-US" altLang="ko-KR" b="0" i="0" kern="0" dirty="0"/>
              <a:t>Start / Stop bit </a:t>
            </a:r>
            <a:r>
              <a:rPr lang="ko-KR" altLang="en-US" b="0" i="0" kern="0" dirty="0"/>
              <a:t>기반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r>
              <a:rPr lang="en-US" altLang="ko-KR" b="0" i="0" kern="0" dirty="0"/>
              <a:t>Data bits – </a:t>
            </a:r>
            <a:r>
              <a:rPr lang="ko-KR" altLang="en-US" b="0" i="0" kern="0" dirty="0"/>
              <a:t>전송 데이터</a:t>
            </a:r>
            <a:endParaRPr lang="en-US" altLang="ko-KR" b="0" i="0" kern="0" dirty="0"/>
          </a:p>
          <a:p>
            <a:r>
              <a:rPr lang="en-US" altLang="ko-KR" b="0" i="0" kern="0" dirty="0"/>
              <a:t>Synchronization bits – </a:t>
            </a:r>
            <a:r>
              <a:rPr lang="ko-KR" altLang="en-US" b="0" i="0" kern="0" dirty="0"/>
              <a:t>패킷의 시작과 끝</a:t>
            </a:r>
            <a:endParaRPr lang="en-US" altLang="ko-KR" b="0" i="0" kern="0" dirty="0"/>
          </a:p>
          <a:p>
            <a:r>
              <a:rPr lang="en-US" altLang="ko-KR" b="0" i="0" kern="0" dirty="0"/>
              <a:t>Parity bits – </a:t>
            </a:r>
            <a:r>
              <a:rPr lang="ko-KR" altLang="en-US" b="0" i="0" kern="0" dirty="0"/>
              <a:t>데이터 손실 검출</a:t>
            </a:r>
            <a:endParaRPr lang="en-US" altLang="ko-KR" b="0" i="0" kern="0" dirty="0"/>
          </a:p>
          <a:p>
            <a:r>
              <a:rPr lang="en-US" altLang="ko-KR" b="0" i="0" kern="0" dirty="0"/>
              <a:t>Baud rate – 1bit</a:t>
            </a:r>
            <a:r>
              <a:rPr lang="ko-KR" altLang="en-US" b="0" i="0" kern="0" dirty="0"/>
              <a:t>가 유지되는 시간</a:t>
            </a:r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2295788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B03C7-A48A-126F-9530-3B88896A8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4E170D-18D7-0564-83B9-57A854213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UART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15354-5026-C919-B1B7-E6E853310421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4351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  <a:p>
            <a:r>
              <a:rPr lang="en-US" altLang="ko-KR" b="0" i="0" kern="0" dirty="0"/>
              <a:t>UART </a:t>
            </a:r>
            <a:r>
              <a:rPr lang="ko-KR" altLang="en-US" b="0" i="0" kern="0" dirty="0"/>
              <a:t>통신 시퀀스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r>
              <a:rPr lang="en-US" altLang="ko-KR" b="0" i="0" kern="0" dirty="0"/>
              <a:t>RX </a:t>
            </a:r>
            <a:r>
              <a:rPr lang="ko-KR" altLang="en-US" b="0" i="0" kern="0" dirty="0"/>
              <a:t>라인에 </a:t>
            </a:r>
            <a:r>
              <a:rPr lang="en-US" altLang="ko-KR" b="0" i="0" kern="0" dirty="0"/>
              <a:t>Pull-Up </a:t>
            </a:r>
            <a:r>
              <a:rPr lang="ko-KR" altLang="en-US" b="0" i="0" kern="0" dirty="0"/>
              <a:t>저항 연결 필요</a:t>
            </a:r>
            <a:endParaRPr lang="en-US" altLang="ko-KR" b="0" i="0" kern="0" dirty="0"/>
          </a:p>
        </p:txBody>
      </p:sp>
      <p:pic>
        <p:nvPicPr>
          <p:cNvPr id="6" name="그림 5" descr="스크린샷, 텍스트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773212-1884-4F3E-4E66-323B56796F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197" y="1735979"/>
            <a:ext cx="6238875" cy="170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6452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353E6-0D04-F442-E09B-A997BB0E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E62AD8-01AB-8A51-F15B-49A157D9F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UART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26FA9-CFC8-5A75-5EDF-FA03A426EE8F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4351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결선 방법</a:t>
            </a:r>
            <a:endParaRPr lang="en-US" altLang="ko-KR" b="0" i="0" kern="0" dirty="0"/>
          </a:p>
        </p:txBody>
      </p:sp>
      <p:pic>
        <p:nvPicPr>
          <p:cNvPr id="7" name="그림 6" descr="텍스트, 스크린샷, 도표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E8CFEBA-7AA0-AD40-09F2-2D0E49132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1844824"/>
            <a:ext cx="5143500" cy="413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720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DCFF4-1FCE-9767-54F6-B4B2759FC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FB6238-B047-C9B8-FFF0-928DA0DEA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RS232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C4366-9F84-AC61-925C-FCEF5F8FF2A2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NRZL(Non Return to Zero Level)</a:t>
            </a:r>
          </a:p>
          <a:p>
            <a:r>
              <a:rPr lang="ko-KR" altLang="en-US" b="0" i="0" kern="0" dirty="0"/>
              <a:t>◑ 음의 전압</a:t>
            </a:r>
            <a:r>
              <a:rPr lang="en-US" altLang="ko-KR" b="0" i="0" kern="0" dirty="0"/>
              <a:t>(negative voltage)</a:t>
            </a:r>
            <a:r>
              <a:rPr lang="ko-KR" altLang="en-US" b="0" i="0" kern="0" dirty="0"/>
              <a:t>은 </a:t>
            </a:r>
            <a:r>
              <a:rPr lang="en-US" altLang="ko-KR" b="0" i="0" kern="0" dirty="0"/>
              <a:t>1</a:t>
            </a:r>
            <a:r>
              <a:rPr lang="ko-KR" altLang="en-US" b="0" i="0" kern="0" dirty="0"/>
              <a:t>로 표현</a:t>
            </a:r>
          </a:p>
          <a:p>
            <a:r>
              <a:rPr lang="ko-KR" altLang="en-US" b="0" i="0" kern="0" dirty="0"/>
              <a:t>◑ 양의 전압</a:t>
            </a:r>
            <a:r>
              <a:rPr lang="en-US" altLang="ko-KR" b="0" i="0" kern="0" dirty="0"/>
              <a:t>(positive voltage)</a:t>
            </a:r>
            <a:r>
              <a:rPr lang="ko-KR" altLang="en-US" b="0" i="0" kern="0" dirty="0"/>
              <a:t>은 </a:t>
            </a:r>
            <a:r>
              <a:rPr lang="en-US" altLang="ko-KR" b="0" i="0" kern="0" dirty="0"/>
              <a:t>0</a:t>
            </a:r>
            <a:r>
              <a:rPr lang="ko-KR" altLang="en-US" b="0" i="0" kern="0" dirty="0"/>
              <a:t>로 표현 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4" name="Picture 8" descr="F5_1C">
            <a:extLst>
              <a:ext uri="{FF2B5EF4-FFF2-40B4-BE49-F238E27FC236}">
                <a16:creationId xmlns:a16="http://schemas.microsoft.com/office/drawing/2014/main" id="{F8839677-32E0-0A49-5294-623E5CF021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537" y="2060848"/>
            <a:ext cx="8416925" cy="3981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02795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CABED-B897-F304-6257-576510154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E41C16-9974-B534-B461-A2F0C5E6B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RS232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8EA053-847C-D376-6470-CBBAA9165090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NRZL </a:t>
            </a:r>
            <a:r>
              <a:rPr lang="ko-KR" altLang="en-US" b="0" i="0" kern="0" dirty="0"/>
              <a:t>방식의 </a:t>
            </a:r>
            <a:r>
              <a:rPr lang="en-US" altLang="ko-KR" b="0" i="0" kern="0" dirty="0"/>
              <a:t>Encoding:  1 (-15V), 0 (+15V)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r>
              <a:rPr lang="en-US" altLang="ko-KR" b="0" i="0" kern="0" dirty="0"/>
              <a:t>MCU TTL </a:t>
            </a:r>
            <a:r>
              <a:rPr lang="ko-KR" altLang="en-US" b="0" i="0" kern="0" dirty="0"/>
              <a:t>레벨</a:t>
            </a:r>
            <a:r>
              <a:rPr lang="en-US" altLang="ko-KR" b="0" i="0" kern="0" dirty="0"/>
              <a:t>(0V ~ 5V)</a:t>
            </a:r>
            <a:r>
              <a:rPr lang="ko-KR" altLang="en-US" b="0" i="0" kern="0" dirty="0"/>
              <a:t>에서</a:t>
            </a:r>
            <a:r>
              <a:rPr lang="en-US" altLang="ko-KR" b="0" i="0" kern="0" dirty="0"/>
              <a:t> RS232 </a:t>
            </a:r>
            <a:r>
              <a:rPr lang="ko-KR" altLang="en-US" b="0" i="0" kern="0" dirty="0"/>
              <a:t>레벨로 변환하는 레벨 컨버터 필요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Picture 6">
            <a:extLst>
              <a:ext uri="{FF2B5EF4-FFF2-40B4-BE49-F238E27FC236}">
                <a16:creationId xmlns:a16="http://schemas.microsoft.com/office/drawing/2014/main" id="{D871ABB8-D4F5-E882-42AE-C1C4CDF63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6140" y="1700808"/>
            <a:ext cx="7143750" cy="285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197179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563E5-547F-DB7E-750B-88B48D25D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1C4CD3-EC08-9A55-59CD-F2B5C763B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RS232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7AF1A1-76C1-BA46-B518-9CEA4CB7B993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핀 배열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7F65B1B-3B99-41E1-1438-25A766BC4D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57" y="2212899"/>
            <a:ext cx="7596336" cy="2504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2277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20860-78D3-68FF-3282-BE1554722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A4126B-ACCB-09D3-4C6B-545223E42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RS485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4E6377-2CE5-1731-D077-6178E9E1C848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 err="1"/>
              <a:t>차동</a:t>
            </a:r>
            <a:r>
              <a:rPr lang="ko-KR" altLang="en-US" b="0" i="0" kern="0" dirty="0"/>
              <a:t> 신호</a:t>
            </a:r>
            <a:r>
              <a:rPr lang="en-US" altLang="ko-KR" b="0" i="0" kern="0" dirty="0"/>
              <a:t>, </a:t>
            </a:r>
            <a:r>
              <a:rPr lang="ko-KR" altLang="en-US" b="0" i="0" kern="0" dirty="0"/>
              <a:t>장거리 통신 가능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폰트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5B90B1-4DCE-87CB-AC5A-56BAEB7D9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608" y="1412776"/>
            <a:ext cx="6219825" cy="2486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9637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4908E-B983-9E5F-8CEE-8D7A0C7DD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138FFB-B8DF-0F5B-55F2-4C770A230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RS485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91E97-5A2F-CFAA-A121-98120DCFE283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Half-Duplex – enable </a:t>
            </a:r>
            <a:r>
              <a:rPr lang="ko-KR" altLang="en-US" b="0" i="0" kern="0" dirty="0"/>
              <a:t>신호 필요</a:t>
            </a:r>
            <a:endParaRPr lang="en-US" altLang="ko-KR" b="0" i="0" kern="0" dirty="0"/>
          </a:p>
          <a:p>
            <a:r>
              <a:rPr lang="en-US" altLang="ko-KR" b="0" i="0" kern="0" dirty="0"/>
              <a:t>1 -&gt; TX, 0 -&gt; RX</a:t>
            </a:r>
          </a:p>
          <a:p>
            <a:r>
              <a:rPr lang="en-US" altLang="ko-KR" b="0" i="0" kern="0" dirty="0"/>
              <a:t>Transceiver </a:t>
            </a:r>
            <a:r>
              <a:rPr lang="ko-KR" altLang="en-US" b="0" i="0" kern="0" dirty="0"/>
              <a:t>필요함</a:t>
            </a:r>
            <a:r>
              <a:rPr lang="en-US" altLang="ko-KR" b="0" i="0" kern="0" dirty="0"/>
              <a:t>.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도표, 평면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F51C4E2-C477-FDAB-4A99-AF29496240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53" y="2060848"/>
            <a:ext cx="7668344" cy="3577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5846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F87FC-0925-9D41-D7AB-1B17FFDE8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33C89D-E188-9B63-4012-FE1D9871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I2C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CC3ED2-C8B6-5AA9-5B3B-88EA0B43ABA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Inter Integrated Circuit</a:t>
            </a:r>
          </a:p>
          <a:p>
            <a:r>
              <a:rPr lang="en-US" altLang="ko-KR" b="0" i="0" kern="0" dirty="0"/>
              <a:t>2-wire </a:t>
            </a:r>
            <a:r>
              <a:rPr lang="ko-KR" altLang="en-US" b="0" i="0" kern="0" dirty="0"/>
              <a:t>통신 </a:t>
            </a:r>
            <a:r>
              <a:rPr lang="en-US" altLang="ko-KR" b="0" i="0" kern="0" dirty="0"/>
              <a:t>(SCL, SDA)</a:t>
            </a:r>
          </a:p>
          <a:p>
            <a:r>
              <a:rPr lang="en-US" altLang="ko-KR" b="0" i="0" kern="0" dirty="0"/>
              <a:t>Master-Slave </a:t>
            </a:r>
            <a:r>
              <a:rPr lang="ko-KR" altLang="en-US" b="0" i="0" kern="0" dirty="0"/>
              <a:t>구조</a:t>
            </a:r>
            <a:endParaRPr lang="en-US" altLang="ko-KR" b="0" i="0" kern="0" dirty="0"/>
          </a:p>
          <a:p>
            <a:r>
              <a:rPr lang="en-US" altLang="ko-KR" b="0" i="0" kern="0" dirty="0"/>
              <a:t>7bit </a:t>
            </a:r>
            <a:r>
              <a:rPr lang="ko-KR" altLang="en-US" b="0" i="0" kern="0" dirty="0"/>
              <a:t>주소</a:t>
            </a:r>
            <a:endParaRPr lang="en-US" altLang="ko-KR" b="0" i="0" kern="0" dirty="0"/>
          </a:p>
          <a:p>
            <a:r>
              <a:rPr lang="en-US" altLang="ko-KR" b="0" i="0" kern="0" dirty="0"/>
              <a:t>Pull-up </a:t>
            </a:r>
            <a:r>
              <a:rPr lang="ko-KR" altLang="en-US" b="0" i="0" kern="0" dirty="0"/>
              <a:t>저항 필요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스크린샷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ABA0065-286F-D4CE-1AEF-8949E61F5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3137287"/>
            <a:ext cx="7476703" cy="3069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9138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B1E70-74F4-A4F4-5B8B-9D3AC986F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A2859E-EEEF-6209-75E3-2E8338707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I2C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4CAAA-AFC7-93F5-5AE4-6BDF261D1E7D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C21A10-41CB-E809-D5FD-5C3DEE50C6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362" y="1795462"/>
            <a:ext cx="7915275" cy="3267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526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F705A-DA0F-74D8-A5F7-1916584A6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8A43A1-4132-D035-65DE-83E2067A7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I2C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3CE46-C55D-1A80-114D-B65BA31D541B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도표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8A0D1C-BD55-A2DA-65E9-E98AD401E1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575" y="1700808"/>
            <a:ext cx="7886700" cy="3250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0869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C6329-7023-CF70-0450-FCB65F36C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B7FB7F-FD06-FB50-E850-C730C9F0C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I2C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4B3F1-B15E-F763-1086-560AFE7C895E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통신 다이어그램</a:t>
            </a:r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8" name="그림 7" descr="텍스트, 영수증, 폰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AD561A3-F2F0-CE71-14A0-BE00E6CE6E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09" y="1772816"/>
            <a:ext cx="8694181" cy="2041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9739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2C661-CE60-5080-1B91-2E4067A89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D095D2-C28A-3E39-3E18-12D8B3AE3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36276-5DE1-3D41-98AB-64F9D5B3E36F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Controller Area Network</a:t>
            </a:r>
          </a:p>
          <a:p>
            <a:r>
              <a:rPr lang="ko-KR" altLang="en-US" b="0" i="0" kern="0" dirty="0"/>
              <a:t>자동차</a:t>
            </a:r>
            <a:r>
              <a:rPr lang="en-US" altLang="ko-KR" b="0" i="0" kern="0" dirty="0"/>
              <a:t>/</a:t>
            </a:r>
            <a:r>
              <a:rPr lang="ko-KR" altLang="en-US" b="0" i="0" kern="0" dirty="0"/>
              <a:t>산업용 네트워크</a:t>
            </a:r>
            <a:endParaRPr lang="en-US" altLang="ko-KR" b="0" i="0" kern="0" dirty="0"/>
          </a:p>
          <a:p>
            <a:r>
              <a:rPr lang="ko-KR" altLang="en-US" b="0" i="0" kern="0" dirty="0" err="1"/>
              <a:t>차동신호</a:t>
            </a:r>
            <a:r>
              <a:rPr lang="en-US" altLang="ko-KR" b="0" i="0" kern="0" dirty="0"/>
              <a:t>(CANH/CANL)</a:t>
            </a:r>
          </a:p>
          <a:p>
            <a:r>
              <a:rPr lang="en-US" altLang="ko-KR" b="0" i="0" kern="0" dirty="0"/>
              <a:t>ID </a:t>
            </a:r>
            <a:r>
              <a:rPr lang="ko-KR" altLang="en-US" b="0" i="0" kern="0" dirty="0"/>
              <a:t>기반 메시지 통신</a:t>
            </a:r>
            <a:endParaRPr lang="en-US" altLang="ko-KR" b="0" i="0" kern="0" dirty="0"/>
          </a:p>
          <a:p>
            <a:r>
              <a:rPr lang="en-US" altLang="ko-KR" b="0" i="0" kern="0" dirty="0"/>
              <a:t>Arbitration : </a:t>
            </a:r>
            <a:r>
              <a:rPr lang="ko-KR" altLang="en-US" b="0" i="0" kern="0" dirty="0"/>
              <a:t>낮은 </a:t>
            </a:r>
            <a:r>
              <a:rPr lang="en-US" altLang="ko-KR" b="0" i="0" kern="0" dirty="0"/>
              <a:t>ID</a:t>
            </a:r>
            <a:r>
              <a:rPr lang="ko-KR" altLang="en-US" b="0" i="0" kern="0" dirty="0"/>
              <a:t>가 우선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1A45E0-CC85-40DD-BAC0-A45FAF954CAC}"/>
              </a:ext>
            </a:extLst>
          </p:cNvPr>
          <p:cNvPicPr>
            <a:picLocks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ltGray">
          <a:xfrm>
            <a:off x="1619672" y="2820905"/>
            <a:ext cx="5439643" cy="3503978"/>
          </a:xfrm>
          <a:noFill/>
          <a:ln/>
          <a:extLst>
            <a:ext uri="{91240B29-F687-4F45-9708-019B960494DF}">
              <a14:hiddenLine xmlns:a14="http://schemas.microsoft.com/office/drawing/2010/main" w="12700" cap="sq" cmpd="sng">
                <a:solidFill>
                  <a:schemeClr val="tx1"/>
                </a:solidFill>
                <a:prstDash val="solid"/>
                <a:miter lim="800000"/>
                <a:headEnd type="none" w="sm" len="sm"/>
                <a:tailEnd type="none" w="sm" len="sm"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957799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049B2-CB8A-36E3-7E79-E17ABBDE8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1E7FD9-FBDE-29E8-B520-A17A64BDC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32D260-15CF-E62D-F0C8-5FD02B172589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Medium Access Control Frame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86DE1D3D-4439-BCB4-A358-6F3E6DBB43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ltGray">
          <a:xfrm>
            <a:off x="457200" y="1600200"/>
            <a:ext cx="8153400" cy="426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1240B29-F687-4F45-9708-019B960494DF}">
              <a14:hiddenLine xmlns:a14="http://schemas.microsoft.com/office/drawing/2010/main" w="12700" cap="sq" cmpd="sng">
                <a:solidFill>
                  <a:schemeClr val="tx1"/>
                </a:solidFill>
                <a:prstDash val="solid"/>
                <a:miter lim="800000"/>
                <a:headEnd type="none" w="sm" len="sm"/>
                <a:tailEnd type="none" w="sm" len="sm"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729810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92289-75F3-6FA8-A41F-64713E578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DC48AA-23D6-8CD1-45C9-21E3CD42B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40C3C-E670-01AE-EBB6-F04863B5DC31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메시지 프레임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A72E4CC6-DC51-7ED8-5DD6-7916B41FBF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6" y="1988840"/>
            <a:ext cx="5381625" cy="2362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66726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8EF0F-8DF2-4337-5347-922799533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43A5F3-0BBE-2212-67D0-6AE87ABB9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3CBE49-BB51-DB39-77C5-37F5977BDA0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CAN </a:t>
            </a:r>
            <a:r>
              <a:rPr lang="ko-KR" altLang="en-US" b="0" i="0" kern="0" dirty="0"/>
              <a:t>버스 로직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도표, 라인, 폰트, 평면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5F8583-B798-D760-27A0-449D2C3859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67" y="1971916"/>
            <a:ext cx="7831783" cy="2934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44943"/>
      </p:ext>
    </p:extLst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디자인 사용자 지정">
      <a:majorFont>
        <a:latin typeface="Tahoma"/>
        <a:ea typeface="굴림"/>
        <a:cs typeface=""/>
      </a:majorFont>
      <a:minorFont>
        <a:latin typeface="Tahoma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1" u="none" strike="noStrike" cap="none" normalizeH="0" baseline="0" smtClean="0">
            <a:ln>
              <a:noFill/>
            </a:ln>
            <a:solidFill>
              <a:srgbClr val="C0C0C0"/>
            </a:solidFill>
            <a:effectLst/>
            <a:latin typeface="Tahoma" pitchFamily="34" charset="0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1" u="none" strike="noStrike" cap="none" normalizeH="0" baseline="0" smtClean="0">
            <a:ln>
              <a:noFill/>
            </a:ln>
            <a:solidFill>
              <a:srgbClr val="C0C0C0"/>
            </a:solidFill>
            <a:effectLst/>
            <a:latin typeface="Tahoma" pitchFamily="34" charset="0"/>
            <a:ea typeface="굴림" pitchFamily="50" charset="-127"/>
          </a:defRPr>
        </a:defPPr>
      </a:lstStyle>
    </a:lnDef>
  </a:objectDefaults>
  <a:extraClrSchemeLst>
    <a:extraClrScheme>
      <a:clrScheme name="디자인 사용자 지정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22605</TotalTime>
  <Words>199</Words>
  <Application>Microsoft Office PowerPoint</Application>
  <PresentationFormat>화면 슬라이드 쇼(4:3)</PresentationFormat>
  <Paragraphs>107</Paragraphs>
  <Slides>17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5" baseType="lpstr">
      <vt:lpstr>굴림</vt:lpstr>
      <vt:lpstr>Arial</vt:lpstr>
      <vt:lpstr>Century Gothic</vt:lpstr>
      <vt:lpstr>Tahoma</vt:lpstr>
      <vt:lpstr>Verdana</vt:lpstr>
      <vt:lpstr>Wingdings</vt:lpstr>
      <vt:lpstr>Wingdings 2</vt:lpstr>
      <vt:lpstr>디자인 사용자 지정</vt:lpstr>
      <vt:lpstr>통신 프로토콜</vt:lpstr>
      <vt:lpstr>UART</vt:lpstr>
      <vt:lpstr>UART</vt:lpstr>
      <vt:lpstr>UART</vt:lpstr>
      <vt:lpstr>RS232</vt:lpstr>
      <vt:lpstr>RS232</vt:lpstr>
      <vt:lpstr>RS232</vt:lpstr>
      <vt:lpstr>RS485</vt:lpstr>
      <vt:lpstr>RS485</vt:lpstr>
      <vt:lpstr>I2C</vt:lpstr>
      <vt:lpstr>I2C</vt:lpstr>
      <vt:lpstr>I2C</vt:lpstr>
      <vt:lpstr>I2C</vt:lpstr>
      <vt:lpstr>CAN</vt:lpstr>
      <vt:lpstr>CAN</vt:lpstr>
      <vt:lpstr>CAN</vt:lpstr>
      <vt:lpstr>CAN</vt:lpstr>
    </vt:vector>
  </TitlesOfParts>
  <Company>마케팅팀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김정남</dc:creator>
  <cp:lastModifiedBy>홍기 최</cp:lastModifiedBy>
  <cp:revision>946</cp:revision>
  <dcterms:created xsi:type="dcterms:W3CDTF">2006-02-08T03:00:46Z</dcterms:created>
  <dcterms:modified xsi:type="dcterms:W3CDTF">2026-01-22T04:31:44Z</dcterms:modified>
</cp:coreProperties>
</file>