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4"/>
  </p:notesMasterIdLst>
  <p:handoutMasterIdLst>
    <p:handoutMasterId r:id="rId35"/>
  </p:handoutMasterIdLst>
  <p:sldIdLst>
    <p:sldId id="308" r:id="rId2"/>
    <p:sldId id="332" r:id="rId3"/>
    <p:sldId id="352" r:id="rId4"/>
    <p:sldId id="349" r:id="rId5"/>
    <p:sldId id="354" r:id="rId6"/>
    <p:sldId id="358" r:id="rId7"/>
    <p:sldId id="353" r:id="rId8"/>
    <p:sldId id="356" r:id="rId9"/>
    <p:sldId id="361" r:id="rId10"/>
    <p:sldId id="363" r:id="rId11"/>
    <p:sldId id="364" r:id="rId12"/>
    <p:sldId id="365" r:id="rId13"/>
    <p:sldId id="367" r:id="rId14"/>
    <p:sldId id="368" r:id="rId15"/>
    <p:sldId id="399" r:id="rId16"/>
    <p:sldId id="401" r:id="rId17"/>
    <p:sldId id="414" r:id="rId18"/>
    <p:sldId id="416" r:id="rId19"/>
    <p:sldId id="415" r:id="rId20"/>
    <p:sldId id="369" r:id="rId21"/>
    <p:sldId id="393" r:id="rId22"/>
    <p:sldId id="417" r:id="rId23"/>
    <p:sldId id="418" r:id="rId24"/>
    <p:sldId id="419" r:id="rId25"/>
    <p:sldId id="420" r:id="rId26"/>
    <p:sldId id="372" r:id="rId27"/>
    <p:sldId id="373" r:id="rId28"/>
    <p:sldId id="374" r:id="rId29"/>
    <p:sldId id="375" r:id="rId30"/>
    <p:sldId id="376" r:id="rId31"/>
    <p:sldId id="377" r:id="rId32"/>
    <p:sldId id="378" r:id="rId33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L3GD20HTR – 3</a:t>
            </a:r>
            <a:r>
              <a:rPr lang="ko-KR" altLang="en-US" dirty="0"/>
              <a:t>축 </a:t>
            </a:r>
            <a:r>
              <a:rPr lang="en-US" altLang="ko-KR" dirty="0"/>
              <a:t>Gyro </a:t>
            </a:r>
            <a:r>
              <a:rPr lang="ko-KR" altLang="en-US" dirty="0"/>
              <a:t>센서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87FC-0925-9D41-D7AB-1B17FFDE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3C89D-E188-9B63-4012-FE1D9871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3ED2-C8B6-5AA9-5B3B-88EA0B43ABA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I2C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I2C : PB6-I2C1_SCL, PB7-I2C1_SDA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22C3E8-3F7A-5C8C-211B-F9A726892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628800"/>
            <a:ext cx="3816424" cy="839750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226E7E-9260-F1C1-B72F-96BAE5F9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2509916"/>
            <a:ext cx="2206550" cy="341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1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7888-09F0-9735-0166-610D9CF9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067E5-F4B3-14A6-E859-D7FE91E8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59010-2CD0-0383-AD2E-25A9A9A0AE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I2C1 -&gt; Mode -&gt; I2C</a:t>
            </a:r>
            <a:r>
              <a:rPr lang="ko-KR" altLang="en-US" b="0" i="0" kern="0" dirty="0"/>
              <a:t> 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1D9240-C486-2D85-9419-E07EDA1AE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66" y="1556791"/>
            <a:ext cx="8059068" cy="460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3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</a:t>
            </a:r>
            <a:r>
              <a:rPr lang="ko-KR" altLang="en-US" b="0" i="0" kern="0" dirty="0"/>
              <a:t>클릭 </a:t>
            </a:r>
            <a:r>
              <a:rPr lang="en-US" altLang="ko-KR" b="0" i="0" kern="0" dirty="0"/>
              <a:t>-&gt; Yes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54E60D-28FF-8BBF-CD05-26DF2C26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8324123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E1090-7FA7-61B4-9111-3049CBCC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2424"/>
            <a:ext cx="5161534" cy="2120561"/>
          </a:xfrm>
          <a:prstGeom prst="rect">
            <a:avLst/>
          </a:prstGeom>
        </p:spPr>
      </p:pic>
      <p:pic>
        <p:nvPicPr>
          <p:cNvPr id="9" name="그림 8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E5A5C4-8FFD-15ED-CC64-44BDB3EBE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455" y="3818912"/>
            <a:ext cx="5191824" cy="252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A252-6C61-A018-0BE8-16B749D8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6B542-FAB2-273A-33EC-3720BD10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빌드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B6D05-D914-0D60-626D-83C21947090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Settings =&gt; Use float with </a:t>
            </a:r>
            <a:r>
              <a:rPr lang="en-US" altLang="ko-KR" b="0" i="0" kern="0" dirty="0" err="1"/>
              <a:t>printf</a:t>
            </a:r>
            <a:r>
              <a:rPr lang="en-US" altLang="ko-KR" b="0" i="0" kern="0" dirty="0"/>
              <a:t> from </a:t>
            </a:r>
            <a:r>
              <a:rPr lang="en-US" altLang="ko-KR" b="0" i="0" kern="0" dirty="0" err="1"/>
              <a:t>newlib</a:t>
            </a:r>
            <a:r>
              <a:rPr lang="en-US" altLang="ko-KR" b="0" i="0" kern="0" dirty="0"/>
              <a:t>-nano(-u _</a:t>
            </a:r>
            <a:r>
              <a:rPr lang="en-US" altLang="ko-KR" b="0" i="0" kern="0" dirty="0" err="1"/>
              <a:t>printf_float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499227-A16B-8566-9228-1A6AE1E49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1772816"/>
            <a:ext cx="7468569" cy="457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46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F44E-8CAD-8AF2-1B3C-5943F8D79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C1949-DA15-9908-F1DA-8C470DD1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L3GD20HTR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F9B54-51DF-C400-2399-FFC26B1F029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Slave Address : 0xD6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Device ID -&gt; Reg 0x0F : 0xD7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763B4A-C356-FC74-FE5D-63ACBDB95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80" y="1362479"/>
            <a:ext cx="8125040" cy="1371669"/>
          </a:xfrm>
          <a:prstGeom prst="rect">
            <a:avLst/>
          </a:prstGeom>
        </p:spPr>
      </p:pic>
      <p:pic>
        <p:nvPicPr>
          <p:cNvPr id="9" name="그림 8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1C7365-B305-89D8-127D-171CC217B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24" y="3768576"/>
            <a:ext cx="7812360" cy="193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77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3AE0-B1DB-59CD-C1E7-16C5ACE28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75611-62D5-97B3-8C29-1BA6ED99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L3GD20HTR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29CA-435A-D30E-A68A-A750A80C7BF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CTRL1 </a:t>
            </a:r>
            <a:r>
              <a:rPr lang="ko-KR" altLang="en-US" b="0" i="0" kern="0" dirty="0"/>
              <a:t>설정</a:t>
            </a:r>
            <a:r>
              <a:rPr lang="en-US" altLang="ko-KR" b="0" i="0" kern="0" dirty="0"/>
              <a:t> : Reg 0x20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7F4B79-12D9-C917-8F29-ED4971D9F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59" y="1283911"/>
            <a:ext cx="7247532" cy="490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07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5DC09-48EA-C69B-4003-CB2375121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BD1E1-7A90-455F-8DB9-E88AA3A77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L3GD20HTR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47B6E-B277-E06B-3B19-EA0926CCCEE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CTRL4 </a:t>
            </a:r>
            <a:r>
              <a:rPr lang="ko-KR" altLang="en-US" b="0" i="0" kern="0" dirty="0"/>
              <a:t>설정</a:t>
            </a:r>
            <a:r>
              <a:rPr lang="en-US" altLang="ko-KR" b="0" i="0" kern="0" dirty="0"/>
              <a:t> : Reg 0x23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443D55-169C-FB4D-2CE2-F4BD25523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94" y="1100128"/>
            <a:ext cx="6379244" cy="2605507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21122E-F41B-477E-2590-CC6A6ED2B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088" y="3519045"/>
            <a:ext cx="5781910" cy="281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677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56EC3-BFF4-69CD-36E4-ABC8FFACB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8A0983-38C2-3344-37E4-2EF6E784B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L3GD20HTR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91479-5F2E-8042-B2C9-4E7107D35E3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Data </a:t>
            </a:r>
            <a:r>
              <a:rPr lang="ko-KR" altLang="en-US" b="0" i="0" kern="0" dirty="0"/>
              <a:t>레지스터</a:t>
            </a:r>
            <a:r>
              <a:rPr lang="en-US" altLang="ko-KR" b="0" i="0" kern="0" dirty="0"/>
              <a:t> : Reg 0x28 ~ 0x2D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018481-4AAC-6C9D-3130-1149A5143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1785937"/>
            <a:ext cx="718185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44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i="0" dirty="0"/>
              <a:t>#define 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 huart1</a:t>
            </a:r>
          </a:p>
          <a:p>
            <a:pPr marL="0" indent="0">
              <a:buNone/>
            </a:pPr>
            <a:r>
              <a:rPr lang="en-US" altLang="ko-KR" sz="1400" i="0" dirty="0"/>
              <a:t>int _write( int32_t file , uint8_t *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 , int32_t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{</a:t>
            </a:r>
          </a:p>
          <a:p>
            <a:pPr marL="0" indent="0">
              <a:buNone/>
            </a:pPr>
            <a:r>
              <a:rPr lang="en-US" altLang="ko-KR" sz="1400" i="0" dirty="0"/>
              <a:t>    /* Implement your write code here, this is used by puts and </a:t>
            </a:r>
            <a:r>
              <a:rPr lang="en-US" altLang="ko-KR" sz="1400" i="0" u="sng" dirty="0" err="1"/>
              <a:t>printf</a:t>
            </a:r>
            <a:r>
              <a:rPr lang="en-US" altLang="ko-KR" sz="1400" i="0" dirty="0"/>
              <a:t> for example */</a:t>
            </a:r>
          </a:p>
          <a:p>
            <a:pPr marL="0" indent="0">
              <a:buNone/>
            </a:pPr>
            <a:r>
              <a:rPr lang="en-US" altLang="ko-KR" sz="1400" i="0" dirty="0"/>
              <a:t>    for ( int16_t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= 0 ;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&lt;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; ++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 </a:t>
            </a:r>
            <a:r>
              <a:rPr lang="en-US" altLang="ko-KR" sz="1400" i="0" dirty="0" err="1"/>
              <a:t>HAL_UART_Transmit</a:t>
            </a:r>
            <a:r>
              <a:rPr lang="en-US" altLang="ko-KR" sz="1400" i="0" dirty="0"/>
              <a:t>( &amp;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, 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++, 1, 100);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i="0" dirty="0"/>
              <a:t>    return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pPr marL="0" indent="0">
              <a:buNone/>
            </a:pPr>
            <a:br>
              <a:rPr lang="en-US" altLang="ko-KR" sz="1400" b="0" i="0" dirty="0"/>
            </a:b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</a:t>
            </a:r>
          </a:p>
          <a:p>
            <a:pPr marL="0" indent="0">
              <a:buNone/>
            </a:pPr>
            <a:r>
              <a:rPr lang="en-US" altLang="ko-KR" sz="1400" b="0" i="0" dirty="0"/>
              <a:t>* @brief The application entry point.</a:t>
            </a:r>
          </a:p>
          <a:p>
            <a:pPr marL="0" indent="0">
              <a:buNone/>
            </a:pPr>
            <a:r>
              <a:rPr lang="en-US" altLang="ko-KR" sz="1400" b="0" i="0" dirty="0"/>
              <a:t>* @</a:t>
            </a:r>
            <a:r>
              <a:rPr lang="en-US" altLang="ko-KR" sz="1400" b="0" i="0" u="sng" dirty="0"/>
              <a:t>retval</a:t>
            </a:r>
            <a:r>
              <a:rPr lang="en-US" altLang="ko-KR" sz="1400" b="0" i="0" dirty="0"/>
              <a:t> </a:t>
            </a:r>
            <a:r>
              <a:rPr lang="en-US" altLang="ko-KR" sz="1400" b="0" i="0" u="sng" dirty="0"/>
              <a:t>int</a:t>
            </a: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*/</a:t>
            </a:r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AF21-BFD4-50A6-252E-75FE81D9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5BBC2-0553-AAAB-ECDB-CAF91ED9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529E7-84D7-A536-CD89-1414855BD7D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L3GD20HTR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slave address</a:t>
            </a:r>
            <a:r>
              <a:rPr lang="ko-KR" altLang="en-US" b="0" i="0" kern="0" dirty="0"/>
              <a:t>는 </a:t>
            </a:r>
            <a:r>
              <a:rPr lang="en-US" altLang="ko-KR" b="0" i="0" kern="0" dirty="0"/>
              <a:t>0xD6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 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#define GYRO_SLAVE_ADDRESS 0xD6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#define WHO_AM_I		0x0F</a:t>
            </a:r>
          </a:p>
          <a:p>
            <a:pPr marL="0" indent="0">
              <a:buNone/>
            </a:pPr>
            <a:r>
              <a:rPr lang="en-US" altLang="ko-KR" sz="1200" b="0" i="0" dirty="0"/>
              <a:t>#define CTRL_REG1		0x20</a:t>
            </a:r>
          </a:p>
          <a:p>
            <a:pPr marL="0" indent="0">
              <a:buNone/>
            </a:pPr>
            <a:r>
              <a:rPr lang="en-US" altLang="ko-KR" sz="1200" b="0" i="0" dirty="0"/>
              <a:t>#define CTRL_REG2		0x21</a:t>
            </a:r>
          </a:p>
          <a:p>
            <a:pPr marL="0" indent="0">
              <a:buNone/>
            </a:pPr>
            <a:r>
              <a:rPr lang="en-US" altLang="ko-KR" sz="1200" b="0" i="0" dirty="0"/>
              <a:t>#define CTRL_REG3		0x22</a:t>
            </a:r>
          </a:p>
          <a:p>
            <a:pPr marL="0" indent="0">
              <a:buNone/>
            </a:pPr>
            <a:r>
              <a:rPr lang="en-US" altLang="ko-KR" sz="1200" b="0" i="0" dirty="0"/>
              <a:t>#define CTRL_REG4		0x23</a:t>
            </a:r>
          </a:p>
          <a:p>
            <a:pPr marL="0" indent="0">
              <a:buNone/>
            </a:pPr>
            <a:r>
              <a:rPr lang="en-US" altLang="ko-KR" sz="1200" b="0" i="0" dirty="0"/>
              <a:t>#define CTRL_REG5		0x24</a:t>
            </a:r>
          </a:p>
          <a:p>
            <a:pPr marL="0" indent="0">
              <a:buNone/>
            </a:pPr>
            <a:r>
              <a:rPr lang="en-US" altLang="ko-KR" sz="1200" b="0" i="0" dirty="0"/>
              <a:t>#define HP_FILTER_RESET	0x25</a:t>
            </a:r>
          </a:p>
          <a:p>
            <a:pPr marL="0" indent="0">
              <a:buNone/>
            </a:pPr>
            <a:r>
              <a:rPr lang="en-US" altLang="ko-KR" sz="1200" b="0" i="0" dirty="0"/>
              <a:t>#define STATUS_REG		0x27</a:t>
            </a:r>
          </a:p>
          <a:p>
            <a:pPr marL="0" indent="0">
              <a:buNone/>
            </a:pPr>
            <a:r>
              <a:rPr lang="en-US" altLang="ko-KR" sz="1200" b="0" i="0" dirty="0"/>
              <a:t>#define OUT_X_L			0x28</a:t>
            </a:r>
          </a:p>
          <a:p>
            <a:pPr marL="0" indent="0">
              <a:buNone/>
            </a:pPr>
            <a:r>
              <a:rPr lang="en-US" altLang="ko-KR" sz="1200" b="0" i="0" dirty="0"/>
              <a:t>#define OUT_X_H			0x29</a:t>
            </a:r>
          </a:p>
          <a:p>
            <a:pPr marL="0" indent="0">
              <a:buNone/>
            </a:pPr>
            <a:r>
              <a:rPr lang="en-US" altLang="ko-KR" sz="1200" b="0" i="0" dirty="0"/>
              <a:t>#define OUT_Y_L			0x2A</a:t>
            </a:r>
          </a:p>
          <a:p>
            <a:pPr marL="0" indent="0">
              <a:buNone/>
            </a:pPr>
            <a:r>
              <a:rPr lang="en-US" altLang="ko-KR" sz="1200" b="0" i="0" dirty="0"/>
              <a:t>#define OUT_Y_H			0x2B</a:t>
            </a:r>
          </a:p>
          <a:p>
            <a:pPr marL="0" indent="0">
              <a:buNone/>
            </a:pPr>
            <a:r>
              <a:rPr lang="en-US" altLang="ko-KR" sz="1200" b="0" i="0" dirty="0"/>
              <a:t>#define OUT_Z_L			0x2C</a:t>
            </a:r>
          </a:p>
          <a:p>
            <a:pPr marL="0" indent="0">
              <a:buNone/>
            </a:pPr>
            <a:r>
              <a:rPr lang="en-US" altLang="ko-KR" sz="1200" b="0" i="0" dirty="0"/>
              <a:t>#define OUT_Z_H			0x2D</a:t>
            </a:r>
          </a:p>
          <a:p>
            <a:pPr marL="0" indent="0">
              <a:buNone/>
            </a:pPr>
            <a:r>
              <a:rPr lang="en-US" altLang="ko-KR" sz="1200" b="0" i="0" dirty="0"/>
              <a:t>#define INT1_CFG		0x30</a:t>
            </a:r>
          </a:p>
          <a:p>
            <a:pPr marL="0" indent="0">
              <a:buNone/>
            </a:pPr>
            <a:r>
              <a:rPr lang="en-US" altLang="ko-KR" sz="1200" b="0" i="0" dirty="0"/>
              <a:t>#define INT1_SOURCE		0x31</a:t>
            </a:r>
          </a:p>
          <a:p>
            <a:pPr marL="0" indent="0">
              <a:buNone/>
            </a:pPr>
            <a:r>
              <a:rPr lang="en-US" altLang="ko-KR" sz="1200" b="0" i="0" dirty="0"/>
              <a:t>#define INT1_THS		0x32</a:t>
            </a:r>
          </a:p>
          <a:p>
            <a:pPr marL="0" indent="0">
              <a:buNone/>
            </a:pPr>
            <a:r>
              <a:rPr lang="en-US" altLang="ko-KR" sz="1200" b="0" i="0" dirty="0"/>
              <a:t>#define INT1_DURATION	0x33</a:t>
            </a:r>
          </a:p>
          <a:p>
            <a:pPr marL="0" indent="0">
              <a:buNone/>
            </a:pPr>
            <a:r>
              <a:rPr lang="en-US" altLang="ko-KR" sz="1200" b="0" i="0" dirty="0"/>
              <a:t>#define INT2_CFG		0x34</a:t>
            </a:r>
          </a:p>
          <a:p>
            <a:pPr marL="0" indent="0">
              <a:buNone/>
            </a:pPr>
            <a:r>
              <a:rPr lang="en-US" altLang="ko-KR" sz="1200" b="0" i="0" dirty="0"/>
              <a:t>#define INT2_SOURCE		0x35</a:t>
            </a:r>
          </a:p>
          <a:p>
            <a:pPr marL="0" indent="0">
              <a:buNone/>
            </a:pPr>
            <a:r>
              <a:rPr lang="en-US" altLang="ko-KR" sz="1200" b="0" i="0" dirty="0"/>
              <a:t>#define INT2_THS		0x36</a:t>
            </a:r>
          </a:p>
          <a:p>
            <a:pPr marL="0" indent="0">
              <a:buNone/>
            </a:pPr>
            <a:r>
              <a:rPr lang="en-US" altLang="ko-KR" sz="1200" b="0" i="0" dirty="0"/>
              <a:t>#define INT2_DURATION	0x37</a:t>
            </a:r>
          </a:p>
          <a:p>
            <a:pPr marL="0" indent="0">
              <a:buNone/>
            </a:pPr>
            <a:endParaRPr lang="en-US" altLang="ko-KR" sz="1200" b="0" i="0" dirty="0"/>
          </a:p>
        </p:txBody>
      </p:sp>
    </p:spTree>
    <p:extLst>
      <p:ext uri="{BB962C8B-B14F-4D97-AF65-F5344CB8AC3E}">
        <p14:creationId xmlns:p14="http://schemas.microsoft.com/office/powerpoint/2010/main" val="3207260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2DCE0-5378-C7C0-4E9A-F79653BED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2C6AC-AB4F-73E4-39EE-61BD2C9BD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EF6AB-A214-F30B-9133-6CD67381DAA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Read </a:t>
            </a:r>
            <a:r>
              <a:rPr lang="ko-KR" altLang="en-US" b="0" i="0" kern="0" dirty="0"/>
              <a:t>함수</a:t>
            </a:r>
            <a:r>
              <a:rPr lang="en-US" altLang="ko-KR" b="0" i="0" kern="0" dirty="0"/>
              <a:t>. 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static uint8_t Read_1_Byte(uint8_t address)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uint8_t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    uint8_t </a:t>
            </a:r>
            <a:r>
              <a:rPr lang="en-US" altLang="ko-KR" sz="1200" b="0" i="0" dirty="0" err="1"/>
              <a:t>Buffer_Rx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HAL_StatusTypeDef</a:t>
            </a:r>
            <a:r>
              <a:rPr lang="en-US" altLang="ko-KR" sz="1200" b="0" i="0" dirty="0"/>
              <a:t>  i2cRW_status;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 = address;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i2cRW_status = HAL_I2C_Master_Transmit(&amp;hi2c1, GYRO_SLAVE_ADDRESS, &amp;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, 1, 1000);</a:t>
            </a:r>
          </a:p>
          <a:p>
            <a:pPr marL="0" indent="0">
              <a:buNone/>
            </a:pPr>
            <a:r>
              <a:rPr lang="en-US" altLang="ko-KR" sz="1200" b="0" i="0" dirty="0"/>
              <a:t>    if(HAL_OK != i2cRW_status)</a:t>
            </a:r>
          </a:p>
          <a:p>
            <a:pPr marL="0" indent="0">
              <a:buNone/>
            </a:pPr>
            <a:r>
              <a:rPr lang="en-US" altLang="ko-KR" sz="1200" b="0" i="0" dirty="0"/>
              <a:t>    {</a:t>
            </a:r>
          </a:p>
          <a:p>
            <a:pPr marL="0" indent="0">
              <a:buNone/>
            </a:pPr>
            <a:r>
              <a:rPr lang="en-US" altLang="ko-KR" sz="1200" b="0" i="0" dirty="0"/>
              <a:t>    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("Write error:%d\r\n", i2cRW_status);</a:t>
            </a:r>
          </a:p>
          <a:p>
            <a:pPr marL="0" indent="0">
              <a:buNone/>
            </a:pPr>
            <a:r>
              <a:rPr lang="en-US" altLang="ko-KR" sz="1200" b="0" i="0" dirty="0"/>
              <a:t>        return 0;</a:t>
            </a:r>
          </a:p>
          <a:p>
            <a:pPr marL="0" indent="0">
              <a:buNone/>
            </a:pPr>
            <a:r>
              <a:rPr lang="en-US" altLang="ko-KR" sz="1200" b="0" i="0" dirty="0"/>
              <a:t>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i2cRW_status = HAL_I2C_Master_Receive(&amp;hi2c1, GYRO_SLAVE_ADDRESS, &amp;</a:t>
            </a:r>
            <a:r>
              <a:rPr lang="en-US" altLang="ko-KR" sz="1200" b="0" i="0" dirty="0" err="1"/>
              <a:t>Buffer_Rx</a:t>
            </a:r>
            <a:r>
              <a:rPr lang="en-US" altLang="ko-KR" sz="1200" b="0" i="0" dirty="0"/>
              <a:t>, 1, 1000);</a:t>
            </a:r>
          </a:p>
          <a:p>
            <a:pPr marL="0" indent="0">
              <a:buNone/>
            </a:pPr>
            <a:r>
              <a:rPr lang="en-US" altLang="ko-KR" sz="1200" b="0" i="0" dirty="0"/>
              <a:t>    if(HAL_OK != i2cRW_status)</a:t>
            </a:r>
          </a:p>
          <a:p>
            <a:pPr marL="0" indent="0">
              <a:buNone/>
            </a:pPr>
            <a:r>
              <a:rPr lang="en-US" altLang="ko-KR" sz="1200" b="0" i="0" dirty="0"/>
              <a:t>    {</a:t>
            </a:r>
          </a:p>
          <a:p>
            <a:pPr marL="0" indent="0">
              <a:buNone/>
            </a:pPr>
            <a:r>
              <a:rPr lang="en-US" altLang="ko-KR" sz="1200" b="0" i="0" dirty="0"/>
              <a:t>    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("Read error:%d\r\n", i2cRW_status);</a:t>
            </a:r>
          </a:p>
          <a:p>
            <a:pPr marL="0" indent="0">
              <a:buNone/>
            </a:pPr>
            <a:r>
              <a:rPr lang="en-US" altLang="ko-KR" sz="1200" b="0" i="0" dirty="0"/>
              <a:t>        return 0;</a:t>
            </a:r>
          </a:p>
          <a:p>
            <a:pPr marL="0" indent="0">
              <a:buNone/>
            </a:pPr>
            <a:r>
              <a:rPr lang="en-US" altLang="ko-KR" sz="1200" b="0" i="0" dirty="0"/>
              <a:t>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return </a:t>
            </a:r>
            <a:r>
              <a:rPr lang="en-US" altLang="ko-KR" sz="1200" b="0" i="0" dirty="0" err="1"/>
              <a:t>Buffer_Rx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static uint8_t </a:t>
            </a:r>
            <a:r>
              <a:rPr lang="en-US" altLang="ko-KR" sz="1200" b="0" i="0" dirty="0" err="1"/>
              <a:t>Get_ChipID</a:t>
            </a:r>
            <a:r>
              <a:rPr lang="en-US" altLang="ko-KR" sz="1200" b="0" i="0" dirty="0"/>
              <a:t>(void)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return Read_1_Byte(WHO_AM_I);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pPr marL="0" indent="0">
              <a:buNone/>
            </a:pPr>
            <a:endParaRPr lang="en-US" altLang="ko-KR" sz="1200" b="0" i="0" dirty="0"/>
          </a:p>
        </p:txBody>
      </p:sp>
    </p:spTree>
    <p:extLst>
      <p:ext uri="{BB962C8B-B14F-4D97-AF65-F5344CB8AC3E}">
        <p14:creationId xmlns:p14="http://schemas.microsoft.com/office/powerpoint/2010/main" val="2148357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001C6-4E45-935C-C030-3D75F28A2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F0387E-D3DA-0F49-2C7B-CDE7D1A2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7484B-0BA5-98E8-C696-A70DEB50984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Write </a:t>
            </a:r>
            <a:r>
              <a:rPr lang="ko-KR" altLang="en-US" b="0" i="0" kern="0" dirty="0"/>
              <a:t>함수 </a:t>
            </a:r>
            <a:r>
              <a:rPr lang="en-US" altLang="ko-KR" b="0" i="0" kern="0" dirty="0"/>
              <a:t>/ </a:t>
            </a:r>
            <a:r>
              <a:rPr lang="ko-KR" altLang="en-US" b="0" i="0" kern="0" dirty="0"/>
              <a:t>초기화 함수</a:t>
            </a:r>
            <a:r>
              <a:rPr lang="en-US" altLang="ko-KR" b="0" i="0" kern="0" dirty="0"/>
              <a:t>. 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static void Write_1_Byte(uint8_t address, uint8_t data)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uint8_t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[2];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HAL_StatusTypeDef</a:t>
            </a:r>
            <a:r>
              <a:rPr lang="en-US" altLang="ko-KR" sz="1200" b="0" i="0" dirty="0"/>
              <a:t>  i2cRW_status;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[0] = address;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[1] = data;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i2cRW_status = HAL_I2C_Master_Transmit(&amp;hi2c1, GYRO_SLAVE_ADDRESS,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, 2, 1000);</a:t>
            </a:r>
          </a:p>
          <a:p>
            <a:pPr marL="0" indent="0">
              <a:buNone/>
            </a:pPr>
            <a:r>
              <a:rPr lang="en-US" altLang="ko-KR" sz="1200" b="0" i="0" dirty="0"/>
              <a:t>    if(HAL_OK != i2cRW_status)</a:t>
            </a:r>
          </a:p>
          <a:p>
            <a:pPr marL="0" indent="0">
              <a:buNone/>
            </a:pPr>
            <a:r>
              <a:rPr lang="en-US" altLang="ko-KR" sz="1200" b="0" i="0" dirty="0"/>
              <a:t>    {</a:t>
            </a:r>
          </a:p>
          <a:p>
            <a:pPr marL="0" indent="0">
              <a:buNone/>
            </a:pPr>
            <a:r>
              <a:rPr lang="en-US" altLang="ko-KR" sz="1200" b="0" i="0" dirty="0"/>
              <a:t>    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("Write error:%d\r\n", i2cRW_status);</a:t>
            </a:r>
          </a:p>
          <a:p>
            <a:pPr marL="0" indent="0">
              <a:buNone/>
            </a:pPr>
            <a:r>
              <a:rPr lang="en-US" altLang="ko-KR" sz="1200" b="0" i="0" dirty="0"/>
              <a:t>    }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static void GYRO_L3G4200_vInit (void)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Write_1_Byte(CTRL_REG1, 0x0F);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Write_1_Byte(CTRL_REG2, 0x0);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Write_1_Byte(CTRL_REG3, 0x08);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Write_1_Byte(CTRL_REG5, 0x0);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pPr marL="0" indent="0">
              <a:buNone/>
            </a:pPr>
            <a:endParaRPr lang="en-US" altLang="ko-KR" sz="1200" b="0" i="0" dirty="0"/>
          </a:p>
        </p:txBody>
      </p:sp>
    </p:spTree>
    <p:extLst>
      <p:ext uri="{BB962C8B-B14F-4D97-AF65-F5344CB8AC3E}">
        <p14:creationId xmlns:p14="http://schemas.microsoft.com/office/powerpoint/2010/main" val="2461738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B439E-D8C4-3575-B5BF-39C1CF0D7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E08CA-5A88-2A82-A10E-343C37DEC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902F0-BB18-6D22-7E40-7C6EFAD54AD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초기화 함수 호출</a:t>
            </a:r>
            <a:r>
              <a:rPr lang="en-US" altLang="ko-KR" b="0" i="0" kern="0" dirty="0"/>
              <a:t>. 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uint8_t u8X_H, u8X_L, u8Y_H, u8Y_L, u8Z_H, u8Z_L;</a:t>
            </a:r>
          </a:p>
          <a:p>
            <a:pPr marL="0" indent="0">
              <a:buNone/>
            </a:pPr>
            <a:r>
              <a:rPr lang="en-US" altLang="ko-KR" sz="1200" b="0" i="0" dirty="0"/>
              <a:t>    int16_t </a:t>
            </a:r>
            <a:r>
              <a:rPr lang="en-US" altLang="ko-KR" sz="1200" b="0" i="0" dirty="0" err="1"/>
              <a:t>raw_x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raw_y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raw_z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    float </a:t>
            </a:r>
            <a:r>
              <a:rPr lang="en-US" altLang="ko-KR" sz="1200" b="0" i="0" dirty="0" err="1"/>
              <a:t>gx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gy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gz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("I2C-L3GD20HTR test\r\n");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GYRO_L3G4200_vInit();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(100);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</a:t>
            </a:r>
            <a:r>
              <a:rPr lang="en-US" altLang="ko-KR" sz="1200" b="0" i="0" dirty="0" err="1"/>
              <a:t>Get_ChipID</a:t>
            </a:r>
            <a:r>
              <a:rPr lang="en-US" altLang="ko-KR" sz="1200" b="0" i="0" dirty="0"/>
              <a:t>: 0x%X\r\n", </a:t>
            </a:r>
            <a:r>
              <a:rPr lang="en-US" altLang="ko-KR" sz="1200" b="0" i="0" dirty="0" err="1"/>
              <a:t>Get_ChipID</a:t>
            </a:r>
            <a:r>
              <a:rPr lang="en-US" altLang="ko-KR" sz="1200" b="0" i="0" dirty="0"/>
              <a:t>());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endParaRPr lang="en-US" altLang="ko-KR" sz="1200" b="0" i="0" dirty="0"/>
          </a:p>
        </p:txBody>
      </p:sp>
    </p:spTree>
    <p:extLst>
      <p:ext uri="{BB962C8B-B14F-4D97-AF65-F5344CB8AC3E}">
        <p14:creationId xmlns:p14="http://schemas.microsoft.com/office/powerpoint/2010/main" val="3354402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4A707-9984-FC3E-49B3-6E6A3FE19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1DE63-731D-818D-A03C-00BFF84C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EA583-7D6C-4633-C355-2F774815357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주기적으로 각속도 측정</a:t>
            </a:r>
            <a:r>
              <a:rPr lang="en-US" altLang="ko-KR" b="0" i="0" kern="0" dirty="0"/>
              <a:t>. 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 while (1)</a:t>
            </a:r>
          </a:p>
          <a:p>
            <a:pPr marL="0" indent="0">
              <a:buNone/>
            </a:pPr>
            <a:r>
              <a:rPr lang="en-US" altLang="ko-KR" sz="1200" b="0" i="0" dirty="0"/>
              <a:t>  {</a:t>
            </a:r>
          </a:p>
          <a:p>
            <a:pPr marL="0" indent="0">
              <a:buNone/>
            </a:pPr>
            <a:r>
              <a:rPr lang="en-US" altLang="ko-KR" sz="1200" b="0" i="0" dirty="0"/>
              <a:t>	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(1000);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  // ROLL</a:t>
            </a:r>
          </a:p>
          <a:p>
            <a:pPr marL="0" indent="0">
              <a:buNone/>
            </a:pPr>
            <a:r>
              <a:rPr lang="en-US" altLang="ko-KR" sz="1200" b="0" i="0" dirty="0"/>
              <a:t>	u8X_H = Read_1_Byte(OUT_X_H);</a:t>
            </a:r>
          </a:p>
          <a:p>
            <a:pPr marL="0" indent="0">
              <a:buNone/>
            </a:pPr>
            <a:r>
              <a:rPr lang="en-US" altLang="ko-KR" sz="1200" b="0" i="0" dirty="0"/>
              <a:t>	u8X_L = Read_1_Byte(OUT_X_L);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// PITCH</a:t>
            </a:r>
          </a:p>
          <a:p>
            <a:pPr marL="0" indent="0">
              <a:buNone/>
            </a:pPr>
            <a:r>
              <a:rPr lang="en-US" altLang="ko-KR" sz="1200" b="0" i="0" dirty="0"/>
              <a:t>	u8Y_H = Read_1_Byte(OUT_Y_H);</a:t>
            </a:r>
          </a:p>
          <a:p>
            <a:pPr marL="0" indent="0">
              <a:buNone/>
            </a:pPr>
            <a:r>
              <a:rPr lang="en-US" altLang="ko-KR" sz="1200" b="0" i="0" dirty="0"/>
              <a:t>	u8Y_L = Read_1_Byte(OUT_Y_L);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// YAW</a:t>
            </a:r>
          </a:p>
          <a:p>
            <a:pPr marL="0" indent="0">
              <a:buNone/>
            </a:pPr>
            <a:r>
              <a:rPr lang="en-US" altLang="ko-KR" sz="1200" b="0" i="0" dirty="0"/>
              <a:t>	u8Z_H = Read_1_Byte(OUT_Z_H);</a:t>
            </a:r>
          </a:p>
          <a:p>
            <a:pPr marL="0" indent="0">
              <a:buNone/>
            </a:pPr>
            <a:r>
              <a:rPr lang="en-US" altLang="ko-KR" sz="1200" b="0" i="0" dirty="0"/>
              <a:t>	u8Z_L = Read_1_Byte(OUT_Z_L);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raw_x</a:t>
            </a:r>
            <a:r>
              <a:rPr lang="en-US" altLang="ko-KR" sz="1200" b="0" i="0" dirty="0"/>
              <a:t> = (int16_t)(u8X_H &lt;&lt; 8 | u8X_L);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raw_y</a:t>
            </a:r>
            <a:r>
              <a:rPr lang="en-US" altLang="ko-KR" sz="1200" b="0" i="0" dirty="0"/>
              <a:t> = (int16_t)(u8Y_H &lt;&lt; 8 | u8Y_L);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raw_z</a:t>
            </a:r>
            <a:r>
              <a:rPr lang="en-US" altLang="ko-KR" sz="1200" b="0" i="0" dirty="0"/>
              <a:t> = (int16_t)(u8Z_H &lt;&lt; 8 | u8Z_L);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float </a:t>
            </a:r>
            <a:r>
              <a:rPr lang="en-US" altLang="ko-KR" sz="1200" b="0" i="0" dirty="0" err="1"/>
              <a:t>sens</a:t>
            </a:r>
            <a:r>
              <a:rPr lang="en-US" altLang="ko-KR" sz="1200" b="0" i="0" dirty="0"/>
              <a:t> = 8.75f;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gx</a:t>
            </a:r>
            <a:r>
              <a:rPr lang="en-US" altLang="ko-KR" sz="1200" b="0" i="0" dirty="0"/>
              <a:t> = </a:t>
            </a:r>
            <a:r>
              <a:rPr lang="en-US" altLang="ko-KR" sz="1200" b="0" i="0" dirty="0" err="1"/>
              <a:t>raw_x</a:t>
            </a:r>
            <a:r>
              <a:rPr lang="en-US" altLang="ko-KR" sz="1200" b="0" i="0" dirty="0"/>
              <a:t> * </a:t>
            </a:r>
            <a:r>
              <a:rPr lang="en-US" altLang="ko-KR" sz="1200" b="0" i="0" dirty="0" err="1"/>
              <a:t>sens</a:t>
            </a:r>
            <a:r>
              <a:rPr lang="en-US" altLang="ko-KR" sz="1200" b="0" i="0" dirty="0"/>
              <a:t> / 1000.0f;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gy</a:t>
            </a:r>
            <a:r>
              <a:rPr lang="en-US" altLang="ko-KR" sz="1200" b="0" i="0" dirty="0"/>
              <a:t> = </a:t>
            </a:r>
            <a:r>
              <a:rPr lang="en-US" altLang="ko-KR" sz="1200" b="0" i="0" dirty="0" err="1"/>
              <a:t>raw_y</a:t>
            </a:r>
            <a:r>
              <a:rPr lang="en-US" altLang="ko-KR" sz="1200" b="0" i="0" dirty="0"/>
              <a:t> * </a:t>
            </a:r>
            <a:r>
              <a:rPr lang="en-US" altLang="ko-KR" sz="1200" b="0" i="0" dirty="0" err="1"/>
              <a:t>sens</a:t>
            </a:r>
            <a:r>
              <a:rPr lang="en-US" altLang="ko-KR" sz="1200" b="0" i="0" dirty="0"/>
              <a:t> / 1000.0f;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gz</a:t>
            </a:r>
            <a:r>
              <a:rPr lang="en-US" altLang="ko-KR" sz="1200" b="0" i="0" dirty="0"/>
              <a:t> = </a:t>
            </a:r>
            <a:r>
              <a:rPr lang="en-US" altLang="ko-KR" sz="1200" b="0" i="0" dirty="0" err="1"/>
              <a:t>raw_z</a:t>
            </a:r>
            <a:r>
              <a:rPr lang="en-US" altLang="ko-KR" sz="1200" b="0" i="0" dirty="0"/>
              <a:t> * </a:t>
            </a:r>
            <a:r>
              <a:rPr lang="en-US" altLang="ko-KR" sz="1200" b="0" i="0" dirty="0" err="1"/>
              <a:t>sens</a:t>
            </a:r>
            <a:r>
              <a:rPr lang="en-US" altLang="ko-KR" sz="1200" b="0" i="0" dirty="0"/>
              <a:t> / 1000.0f;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 ("X: %f, Y: %f, Z: %f\r\n", </a:t>
            </a:r>
            <a:r>
              <a:rPr lang="en-US" altLang="ko-KR" sz="1200" b="0" i="0" dirty="0" err="1"/>
              <a:t>gx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gy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gz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endParaRPr lang="en-US" altLang="ko-KR" sz="1200" b="0" i="0" dirty="0"/>
          </a:p>
        </p:txBody>
      </p:sp>
    </p:spTree>
    <p:extLst>
      <p:ext uri="{BB962C8B-B14F-4D97-AF65-F5344CB8AC3E}">
        <p14:creationId xmlns:p14="http://schemas.microsoft.com/office/powerpoint/2010/main" val="3896012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38E2A-ECBE-73F7-2864-2D1034A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200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57283-11C0-814B-21EC-6834EEF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27237"/>
            <a:ext cx="2733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CR-zF-L3GD20HTR </a:t>
            </a:r>
            <a:r>
              <a:rPr lang="ko-KR" altLang="en-US" b="0" i="0" kern="0" dirty="0"/>
              <a:t>센서 보드를 </a:t>
            </a:r>
            <a:r>
              <a:rPr lang="en-US" altLang="ko-KR" b="0" i="0" kern="0" dirty="0"/>
              <a:t>Mango-M32F4 </a:t>
            </a:r>
            <a:r>
              <a:rPr lang="ko-KR" altLang="en-US" b="0" i="0" kern="0" dirty="0"/>
              <a:t>보드의 </a:t>
            </a:r>
            <a:r>
              <a:rPr lang="en-US" altLang="ko-KR" b="0" i="0" kern="0" dirty="0"/>
              <a:t>J4 </a:t>
            </a:r>
            <a:r>
              <a:rPr lang="ko-KR" altLang="en-US" b="0" i="0" kern="0" dirty="0"/>
              <a:t>혹은 </a:t>
            </a:r>
            <a:r>
              <a:rPr lang="en-US" altLang="ko-KR" b="0" i="0" kern="0" dirty="0"/>
              <a:t>J5</a:t>
            </a:r>
            <a:r>
              <a:rPr lang="ko-KR" altLang="en-US" b="0" i="0" kern="0" dirty="0"/>
              <a:t>에 </a:t>
            </a:r>
            <a:r>
              <a:rPr lang="en-US" altLang="ko-KR" b="0" i="0" kern="0" dirty="0"/>
              <a:t>8</a:t>
            </a:r>
            <a:r>
              <a:rPr lang="ko-KR" altLang="en-US" b="0" i="0" kern="0" dirty="0"/>
              <a:t>핀 커넥터를 이용하여 연결한다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Chip ID - 0xD7 </a:t>
            </a:r>
            <a:r>
              <a:rPr lang="ko-KR" altLang="en-US" b="0" i="0" kern="0" dirty="0"/>
              <a:t>정상적으로 읽힘</a:t>
            </a:r>
            <a:r>
              <a:rPr lang="en-US" altLang="ko-KR" b="0" i="0" kern="0" dirty="0"/>
              <a:t>.</a:t>
            </a:r>
          </a:p>
          <a:p>
            <a:r>
              <a:rPr lang="ko-KR" altLang="en-US" b="0" i="0" kern="0" dirty="0"/>
              <a:t>센서를 움직일 때 </a:t>
            </a:r>
            <a:r>
              <a:rPr lang="en-US" altLang="ko-KR" b="0" i="0" kern="0" dirty="0"/>
              <a:t>3-axis </a:t>
            </a:r>
            <a:r>
              <a:rPr lang="ko-KR" altLang="en-US" b="0" i="0" kern="0" dirty="0"/>
              <a:t>데이터가 변동함</a:t>
            </a:r>
            <a:r>
              <a:rPr lang="en-US" altLang="ko-KR" b="0" i="0" kern="0" dirty="0"/>
              <a:t>.</a:t>
            </a:r>
            <a:r>
              <a:rPr lang="ko-KR" altLang="en-US" b="0" i="0" kern="0" dirty="0"/>
              <a:t> 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디스플레이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FEE24F-CC11-BA36-5423-9CEBAD176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176078"/>
            <a:ext cx="6624736" cy="411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22442</TotalTime>
  <Words>1528</Words>
  <Application>Microsoft Office PowerPoint</Application>
  <PresentationFormat>화면 슬라이드 쇼(4:3)</PresentationFormat>
  <Paragraphs>261</Paragraphs>
  <Slides>32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L3GD20HTR – 3축 Gyro 센서 실습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BIN 파일 생성 설정</vt:lpstr>
      <vt:lpstr>BIN 파일 생성 설정</vt:lpstr>
      <vt:lpstr>빌드 설정</vt:lpstr>
      <vt:lpstr>L3GD20HTR 데이터시트</vt:lpstr>
      <vt:lpstr>L3GD20HTR 데이터시트</vt:lpstr>
      <vt:lpstr>L3GD20HTR 데이터시트</vt:lpstr>
      <vt:lpstr>L3GD20HTR 데이터시트</vt:lpstr>
      <vt:lpstr>Code 수정 </vt:lpstr>
      <vt:lpstr>Code 수정</vt:lpstr>
      <vt:lpstr>Code 수정</vt:lpstr>
      <vt:lpstr>Code 수정</vt:lpstr>
      <vt:lpstr>Code 수정</vt:lpstr>
      <vt:lpstr>Code 수정</vt:lpstr>
      <vt:lpstr>Build </vt:lpstr>
      <vt:lpstr>Build 결과물 </vt:lpstr>
      <vt:lpstr>BIN 다운로드 </vt:lpstr>
      <vt:lpstr>BIN 다운로드 </vt:lpstr>
      <vt:lpstr>BIN 다운로드 </vt:lpstr>
      <vt:lpstr>실행결과 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903</cp:revision>
  <dcterms:created xsi:type="dcterms:W3CDTF">2006-02-08T03:00:46Z</dcterms:created>
  <dcterms:modified xsi:type="dcterms:W3CDTF">2026-01-22T00:43:21Z</dcterms:modified>
</cp:coreProperties>
</file>