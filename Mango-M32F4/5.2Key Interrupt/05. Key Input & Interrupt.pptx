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19"/>
  </p:notesMasterIdLst>
  <p:handoutMasterIdLst>
    <p:handoutMasterId r:id="rId20"/>
  </p:handoutMasterIdLst>
  <p:sldIdLst>
    <p:sldId id="308" r:id="rId2"/>
    <p:sldId id="309" r:id="rId3"/>
    <p:sldId id="327" r:id="rId4"/>
    <p:sldId id="328" r:id="rId5"/>
    <p:sldId id="311" r:id="rId6"/>
    <p:sldId id="310" r:id="rId7"/>
    <p:sldId id="313" r:id="rId8"/>
    <p:sldId id="312" r:id="rId9"/>
    <p:sldId id="329" r:id="rId10"/>
    <p:sldId id="331" r:id="rId11"/>
    <p:sldId id="330" r:id="rId12"/>
    <p:sldId id="318" r:id="rId13"/>
    <p:sldId id="324" r:id="rId14"/>
    <p:sldId id="319" r:id="rId15"/>
    <p:sldId id="315" r:id="rId16"/>
    <p:sldId id="326" r:id="rId17"/>
    <p:sldId id="332" r:id="rId18"/>
  </p:sldIdLst>
  <p:sldSz cx="9144000" cy="6858000" type="screen4x3"/>
  <p:notesSz cx="6799263" cy="9929813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sz="800" b="1" i="1" kern="1200">
        <a:solidFill>
          <a:srgbClr val="C0C0C0"/>
        </a:solidFill>
        <a:latin typeface="Tahoma" pitchFamily="34" charset="0"/>
        <a:ea typeface="굴림" pitchFamily="50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sz="800" b="1" i="1" kern="1200">
        <a:solidFill>
          <a:srgbClr val="C0C0C0"/>
        </a:solidFill>
        <a:latin typeface="Tahoma" pitchFamily="34" charset="0"/>
        <a:ea typeface="굴림" pitchFamily="50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sz="800" b="1" i="1" kern="1200">
        <a:solidFill>
          <a:srgbClr val="C0C0C0"/>
        </a:solidFill>
        <a:latin typeface="Tahoma" pitchFamily="34" charset="0"/>
        <a:ea typeface="굴림" pitchFamily="50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sz="800" b="1" i="1" kern="1200">
        <a:solidFill>
          <a:srgbClr val="C0C0C0"/>
        </a:solidFill>
        <a:latin typeface="Tahoma" pitchFamily="34" charset="0"/>
        <a:ea typeface="굴림" pitchFamily="50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sz="800" b="1" i="1" kern="1200">
        <a:solidFill>
          <a:srgbClr val="C0C0C0"/>
        </a:solidFill>
        <a:latin typeface="Tahoma" pitchFamily="34" charset="0"/>
        <a:ea typeface="굴림" pitchFamily="50" charset="-127"/>
        <a:cs typeface="+mn-cs"/>
      </a:defRPr>
    </a:lvl5pPr>
    <a:lvl6pPr marL="2286000" algn="l" defTabSz="914400" rtl="0" eaLnBrk="1" latinLnBrk="1" hangingPunct="1">
      <a:defRPr kumimoji="1" sz="800" b="1" i="1" kern="1200">
        <a:solidFill>
          <a:srgbClr val="C0C0C0"/>
        </a:solidFill>
        <a:latin typeface="Tahoma" pitchFamily="34" charset="0"/>
        <a:ea typeface="굴림" pitchFamily="50" charset="-127"/>
        <a:cs typeface="+mn-cs"/>
      </a:defRPr>
    </a:lvl6pPr>
    <a:lvl7pPr marL="2743200" algn="l" defTabSz="914400" rtl="0" eaLnBrk="1" latinLnBrk="1" hangingPunct="1">
      <a:defRPr kumimoji="1" sz="800" b="1" i="1" kern="1200">
        <a:solidFill>
          <a:srgbClr val="C0C0C0"/>
        </a:solidFill>
        <a:latin typeface="Tahoma" pitchFamily="34" charset="0"/>
        <a:ea typeface="굴림" pitchFamily="50" charset="-127"/>
        <a:cs typeface="+mn-cs"/>
      </a:defRPr>
    </a:lvl7pPr>
    <a:lvl8pPr marL="3200400" algn="l" defTabSz="914400" rtl="0" eaLnBrk="1" latinLnBrk="1" hangingPunct="1">
      <a:defRPr kumimoji="1" sz="800" b="1" i="1" kern="1200">
        <a:solidFill>
          <a:srgbClr val="C0C0C0"/>
        </a:solidFill>
        <a:latin typeface="Tahoma" pitchFamily="34" charset="0"/>
        <a:ea typeface="굴림" pitchFamily="50" charset="-127"/>
        <a:cs typeface="+mn-cs"/>
      </a:defRPr>
    </a:lvl8pPr>
    <a:lvl9pPr marL="3657600" algn="l" defTabSz="914400" rtl="0" eaLnBrk="1" latinLnBrk="1" hangingPunct="1">
      <a:defRPr kumimoji="1" sz="800" b="1" i="1" kern="1200">
        <a:solidFill>
          <a:srgbClr val="C0C0C0"/>
        </a:solidFill>
        <a:latin typeface="Tahoma" pitchFamily="34" charset="0"/>
        <a:ea typeface="굴림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838">
          <p15:clr>
            <a:srgbClr val="A4A3A4"/>
          </p15:clr>
        </p15:guide>
        <p15:guide id="2" pos="6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8">
          <p15:clr>
            <a:srgbClr val="A4A3A4"/>
          </p15:clr>
        </p15:guide>
        <p15:guide id="2" pos="2142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FFF99"/>
    <a:srgbClr val="C0C0C0"/>
    <a:srgbClr val="CCECFF"/>
    <a:srgbClr val="FF99CC"/>
    <a:srgbClr val="99FF99"/>
    <a:srgbClr val="660033"/>
    <a:srgbClr val="6666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944" autoAdjust="0"/>
    <p:restoredTop sz="84551" autoAdjust="0"/>
  </p:normalViewPr>
  <p:slideViewPr>
    <p:cSldViewPr snapToObjects="1">
      <p:cViewPr varScale="1">
        <p:scale>
          <a:sx n="112" d="100"/>
          <a:sy n="112" d="100"/>
        </p:scale>
        <p:origin x="1116" y="102"/>
      </p:cViewPr>
      <p:guideLst>
        <p:guide orient="horz" pos="3838"/>
        <p:guide pos="6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Objects="1">
      <p:cViewPr varScale="1">
        <p:scale>
          <a:sx n="57" d="100"/>
          <a:sy n="57" d="100"/>
        </p:scale>
        <p:origin x="-2616" y="-96"/>
      </p:cViewPr>
      <p:guideLst>
        <p:guide orient="horz" pos="3128"/>
        <p:guide pos="2142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26" tIns="46113" rIns="92226" bIns="46113" numCol="1" anchor="t" anchorCtr="0" compatLnSpc="1">
            <a:prstTxWarp prst="textNoShape">
              <a:avLst/>
            </a:prstTxWarp>
          </a:bodyPr>
          <a:lstStyle>
            <a:lvl1pPr defTabSz="922338">
              <a:defRPr sz="1200" b="0" i="0">
                <a:solidFill>
                  <a:schemeClr val="tx1"/>
                </a:solidFill>
                <a:latin typeface="굴림" pitchFamily="50" charset="-127"/>
              </a:defRPr>
            </a:lvl1pPr>
          </a:lstStyle>
          <a:p>
            <a:endParaRPr lang="en-US" altLang="ko-KR"/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51275" y="0"/>
            <a:ext cx="2946400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26" tIns="46113" rIns="92226" bIns="46113" numCol="1" anchor="t" anchorCtr="0" compatLnSpc="1">
            <a:prstTxWarp prst="textNoShape">
              <a:avLst/>
            </a:prstTxWarp>
          </a:bodyPr>
          <a:lstStyle>
            <a:lvl1pPr algn="r" defTabSz="922338">
              <a:defRPr sz="1200" b="0" i="0">
                <a:solidFill>
                  <a:schemeClr val="tx1"/>
                </a:solidFill>
                <a:latin typeface="굴림" pitchFamily="50" charset="-127"/>
              </a:defRPr>
            </a:lvl1pPr>
          </a:lstStyle>
          <a:p>
            <a:endParaRPr lang="en-US" altLang="ko-KR"/>
          </a:p>
        </p:txBody>
      </p:sp>
      <p:sp>
        <p:nvSpPr>
          <p:cNvPr id="1536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32925"/>
            <a:ext cx="2946400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26" tIns="46113" rIns="92226" bIns="46113" numCol="1" anchor="b" anchorCtr="0" compatLnSpc="1">
            <a:prstTxWarp prst="textNoShape">
              <a:avLst/>
            </a:prstTxWarp>
          </a:bodyPr>
          <a:lstStyle>
            <a:lvl1pPr defTabSz="922338">
              <a:defRPr sz="1200" b="0" i="0">
                <a:solidFill>
                  <a:schemeClr val="tx1"/>
                </a:solidFill>
                <a:latin typeface="굴림" pitchFamily="50" charset="-127"/>
              </a:defRPr>
            </a:lvl1pPr>
          </a:lstStyle>
          <a:p>
            <a:endParaRPr lang="en-US" altLang="ko-KR"/>
          </a:p>
        </p:txBody>
      </p:sp>
      <p:sp>
        <p:nvSpPr>
          <p:cNvPr id="1536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51275" y="9432925"/>
            <a:ext cx="2946400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26" tIns="46113" rIns="92226" bIns="46113" numCol="1" anchor="b" anchorCtr="0" compatLnSpc="1">
            <a:prstTxWarp prst="textNoShape">
              <a:avLst/>
            </a:prstTxWarp>
          </a:bodyPr>
          <a:lstStyle>
            <a:lvl1pPr algn="r" defTabSz="922338">
              <a:defRPr sz="1200" b="0" i="0">
                <a:solidFill>
                  <a:schemeClr val="tx1"/>
                </a:solidFill>
                <a:latin typeface="굴림" pitchFamily="50" charset="-127"/>
              </a:defRPr>
            </a:lvl1pPr>
          </a:lstStyle>
          <a:p>
            <a:fld id="{3E359F8D-C241-43DD-BB7A-EE3CBF36867A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26" tIns="46113" rIns="92226" bIns="46113" numCol="1" anchor="t" anchorCtr="0" compatLnSpc="1">
            <a:prstTxWarp prst="textNoShape">
              <a:avLst/>
            </a:prstTxWarp>
          </a:bodyPr>
          <a:lstStyle>
            <a:lvl1pPr defTabSz="922338">
              <a:defRPr sz="1200" b="0" i="0">
                <a:solidFill>
                  <a:schemeClr val="tx1"/>
                </a:solidFill>
                <a:latin typeface="굴림" pitchFamily="50" charset="-127"/>
              </a:defRPr>
            </a:lvl1pPr>
          </a:lstStyle>
          <a:p>
            <a:endParaRPr lang="en-US" altLang="ko-KR"/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1275" y="0"/>
            <a:ext cx="2946400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26" tIns="46113" rIns="92226" bIns="46113" numCol="1" anchor="t" anchorCtr="0" compatLnSpc="1">
            <a:prstTxWarp prst="textNoShape">
              <a:avLst/>
            </a:prstTxWarp>
          </a:bodyPr>
          <a:lstStyle>
            <a:lvl1pPr algn="r" defTabSz="922338">
              <a:defRPr sz="1200" b="0" i="0">
                <a:solidFill>
                  <a:schemeClr val="tx1"/>
                </a:solidFill>
                <a:latin typeface="굴림" pitchFamily="50" charset="-127"/>
              </a:defRPr>
            </a:lvl1pPr>
          </a:lstStyle>
          <a:p>
            <a:endParaRPr lang="en-US" altLang="ko-KR"/>
          </a:p>
        </p:txBody>
      </p:sp>
      <p:sp>
        <p:nvSpPr>
          <p:cNvPr id="1741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17575" y="746125"/>
            <a:ext cx="4964113" cy="37226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1741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9450" y="4716463"/>
            <a:ext cx="5440363" cy="4467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26" tIns="46113" rIns="92226" bIns="4611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1741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32925"/>
            <a:ext cx="2946400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26" tIns="46113" rIns="92226" bIns="46113" numCol="1" anchor="b" anchorCtr="0" compatLnSpc="1">
            <a:prstTxWarp prst="textNoShape">
              <a:avLst/>
            </a:prstTxWarp>
          </a:bodyPr>
          <a:lstStyle>
            <a:lvl1pPr defTabSz="922338">
              <a:defRPr sz="1200" b="0" i="0">
                <a:solidFill>
                  <a:schemeClr val="tx1"/>
                </a:solidFill>
                <a:latin typeface="굴림" pitchFamily="50" charset="-127"/>
              </a:defRPr>
            </a:lvl1pPr>
          </a:lstStyle>
          <a:p>
            <a:endParaRPr lang="en-US" altLang="ko-KR"/>
          </a:p>
        </p:txBody>
      </p:sp>
      <p:sp>
        <p:nvSpPr>
          <p:cNvPr id="1741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1275" y="9432925"/>
            <a:ext cx="2946400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26" tIns="46113" rIns="92226" bIns="46113" numCol="1" anchor="b" anchorCtr="0" compatLnSpc="1">
            <a:prstTxWarp prst="textNoShape">
              <a:avLst/>
            </a:prstTxWarp>
          </a:bodyPr>
          <a:lstStyle>
            <a:lvl1pPr algn="r" defTabSz="922338">
              <a:defRPr sz="1200" b="0" i="0">
                <a:solidFill>
                  <a:schemeClr val="tx1"/>
                </a:solidFill>
                <a:latin typeface="굴림" pitchFamily="50" charset="-127"/>
              </a:defRPr>
            </a:lvl1pPr>
          </a:lstStyle>
          <a:p>
            <a:fld id="{DE4C13C3-4C20-49FA-8F88-6FD9575FBAAE}" type="slidenum">
              <a:rPr lang="en-US" altLang="ko-KR"/>
              <a:pPr/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 latinLnBrk="1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fontAlgn="base" latinLnBrk="1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fontAlgn="base" latinLnBrk="1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fontAlgn="base" latinLnBrk="1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fontAlgn="base" latinLnBrk="1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9E6B64B-D8C4-466A-BB6C-3C01BAF15E52}" type="slidenum">
              <a:rPr lang="en-US" altLang="ko-KR"/>
              <a:pPr/>
              <a:t>1</a:t>
            </a:fld>
            <a:endParaRPr lang="en-US" altLang="ko-KR"/>
          </a:p>
        </p:txBody>
      </p:sp>
      <p:sp>
        <p:nvSpPr>
          <p:cNvPr id="6819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19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ko-KR" altLang="ko-K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875" name="Rectangle 11"/>
          <p:cNvSpPr>
            <a:spLocks noChangeArrowheads="1"/>
          </p:cNvSpPr>
          <p:nvPr userDrawn="1"/>
        </p:nvSpPr>
        <p:spPr bwMode="auto">
          <a:xfrm>
            <a:off x="88900" y="85725"/>
            <a:ext cx="8959850" cy="6689725"/>
          </a:xfrm>
          <a:prstGeom prst="rect">
            <a:avLst/>
          </a:prstGeom>
          <a:noFill/>
          <a:ln w="3175">
            <a:solidFill>
              <a:srgbClr val="00B05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676876" name="Rectangle 12"/>
          <p:cNvSpPr>
            <a:spLocks noChangeArrowheads="1"/>
          </p:cNvSpPr>
          <p:nvPr userDrawn="1"/>
        </p:nvSpPr>
        <p:spPr bwMode="auto">
          <a:xfrm>
            <a:off x="88900" y="2636838"/>
            <a:ext cx="7146925" cy="1095375"/>
          </a:xfrm>
          <a:prstGeom prst="rect">
            <a:avLst/>
          </a:prstGeom>
          <a:solidFill>
            <a:srgbClr val="92D050"/>
          </a:solidFill>
          <a:ln w="9525">
            <a:solidFill>
              <a:srgbClr val="00B05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676877" name="Line 13"/>
          <p:cNvSpPr>
            <a:spLocks noChangeShapeType="1"/>
          </p:cNvSpPr>
          <p:nvPr userDrawn="1"/>
        </p:nvSpPr>
        <p:spPr bwMode="auto">
          <a:xfrm>
            <a:off x="88900" y="2552700"/>
            <a:ext cx="7146925" cy="1588"/>
          </a:xfrm>
          <a:prstGeom prst="line">
            <a:avLst/>
          </a:prstGeom>
          <a:noFill/>
          <a:ln w="9525">
            <a:solidFill>
              <a:srgbClr val="00B050"/>
            </a:solidFill>
            <a:round/>
            <a:headEnd/>
            <a:tailEnd/>
          </a:ln>
          <a:effectLst/>
        </p:spPr>
        <p:txBody>
          <a:bodyPr/>
          <a:lstStyle/>
          <a:p>
            <a:endParaRPr lang="ko-KR" altLang="en-US"/>
          </a:p>
        </p:txBody>
      </p:sp>
      <p:sp>
        <p:nvSpPr>
          <p:cNvPr id="67686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827088" y="3860800"/>
            <a:ext cx="6257925" cy="1152525"/>
          </a:xfrm>
        </p:spPr>
        <p:txBody>
          <a:bodyPr/>
          <a:lstStyle>
            <a:lvl1pPr marL="0" indent="0">
              <a:buFontTx/>
              <a:buNone/>
              <a:defRPr b="1">
                <a:latin typeface="Verdana" pitchFamily="34" charset="0"/>
              </a:defRPr>
            </a:lvl1pPr>
          </a:lstStyle>
          <a:p>
            <a:r>
              <a:rPr lang="ko-KR" altLang="en-US" dirty="0"/>
              <a:t>마스터 부제목 스타일 편집</a:t>
            </a:r>
          </a:p>
        </p:txBody>
      </p:sp>
      <p:sp>
        <p:nvSpPr>
          <p:cNvPr id="676868" name="Rectangle 4"/>
          <p:cNvSpPr>
            <a:spLocks noGrp="1" noChangeArrowheads="1"/>
          </p:cNvSpPr>
          <p:nvPr>
            <p:ph type="ctrTitle"/>
          </p:nvPr>
        </p:nvSpPr>
        <p:spPr>
          <a:xfrm>
            <a:off x="684213" y="2708275"/>
            <a:ext cx="6551612" cy="1023938"/>
          </a:xfrm>
        </p:spPr>
        <p:txBody>
          <a:bodyPr/>
          <a:lstStyle>
            <a:lvl1pPr>
              <a:defRPr sz="3200">
                <a:latin typeface="Verdana" pitchFamily="34" charset="0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676881" name="Rectangle 17"/>
          <p:cNvSpPr>
            <a:spLocks noChangeArrowheads="1"/>
          </p:cNvSpPr>
          <p:nvPr userDrawn="1"/>
        </p:nvSpPr>
        <p:spPr bwMode="auto">
          <a:xfrm>
            <a:off x="107950" y="6381750"/>
            <a:ext cx="4679950" cy="36036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en-US" altLang="ko-KR" dirty="0"/>
              <a:t>http://cafe.naver.com/embeddedcrazyboys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Verdana" pitchFamily="34" charset="0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177800" y="785793"/>
            <a:ext cx="8858250" cy="5643603"/>
          </a:xfrm>
        </p:spPr>
        <p:txBody>
          <a:bodyPr/>
          <a:lstStyle>
            <a:lvl1pPr>
              <a:defRPr>
                <a:latin typeface="Verdana" pitchFamily="34" charset="0"/>
              </a:defRPr>
            </a:lvl1pPr>
            <a:lvl2pPr>
              <a:defRPr>
                <a:latin typeface="Verdana" pitchFamily="34" charset="0"/>
              </a:defRPr>
            </a:lvl2pPr>
            <a:lvl3pPr>
              <a:defRPr>
                <a:latin typeface="Verdana" pitchFamily="34" charset="0"/>
              </a:defRPr>
            </a:lvl3pPr>
            <a:lvl4pPr>
              <a:defRPr>
                <a:latin typeface="Verdana" pitchFamily="34" charset="0"/>
              </a:defRPr>
            </a:lvl4pPr>
            <a:lvl5pPr>
              <a:defRPr>
                <a:latin typeface="Verdana" pitchFamily="34" charset="0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177800" y="665163"/>
            <a:ext cx="4352925" cy="58594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83125" y="665163"/>
            <a:ext cx="4352925" cy="58594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821488" y="115888"/>
            <a:ext cx="2214562" cy="6408737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177800" y="115888"/>
            <a:ext cx="6491288" cy="6408737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4" name="Rectangle 70"/>
          <p:cNvSpPr>
            <a:spLocks noChangeArrowheads="1"/>
          </p:cNvSpPr>
          <p:nvPr userDrawn="1"/>
        </p:nvSpPr>
        <p:spPr bwMode="auto">
          <a:xfrm>
            <a:off x="88900" y="85725"/>
            <a:ext cx="8959850" cy="534988"/>
          </a:xfrm>
          <a:prstGeom prst="rect">
            <a:avLst/>
          </a:prstGeom>
          <a:solidFill>
            <a:srgbClr val="92D050">
              <a:alpha val="50000"/>
            </a:srgb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77800" y="665163"/>
            <a:ext cx="8858250" cy="58594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</p:txBody>
      </p:sp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77800" y="115888"/>
            <a:ext cx="8858250" cy="4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dirty="0"/>
              <a:t>Main Title</a:t>
            </a:r>
          </a:p>
        </p:txBody>
      </p:sp>
      <p:sp>
        <p:nvSpPr>
          <p:cNvPr id="6178" name="Rectangle 34"/>
          <p:cNvSpPr>
            <a:spLocks noChangeArrowheads="1"/>
          </p:cNvSpPr>
          <p:nvPr userDrawn="1"/>
        </p:nvSpPr>
        <p:spPr bwMode="auto">
          <a:xfrm rot="-21600000">
            <a:off x="8388350" y="6453188"/>
            <a:ext cx="647700" cy="333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r" latinLnBrk="0"/>
            <a:fld id="{4FDD7156-F552-46EC-968D-BB66E3283A22}" type="slidenum">
              <a:rPr kumimoji="0" lang="en-US" altLang="ko-KR" sz="1300" i="0">
                <a:solidFill>
                  <a:srgbClr val="333333"/>
                </a:solidFill>
                <a:latin typeface="Century Gothic" pitchFamily="34" charset="0"/>
              </a:rPr>
              <a:pPr algn="r" latinLnBrk="0"/>
              <a:t>‹#›</a:t>
            </a:fld>
            <a:endParaRPr kumimoji="0" lang="en-US" altLang="ko-KR" sz="1300" i="0">
              <a:solidFill>
                <a:srgbClr val="333333"/>
              </a:solidFill>
              <a:latin typeface="Century Gothic" pitchFamily="34" charset="0"/>
            </a:endParaRPr>
          </a:p>
        </p:txBody>
      </p:sp>
      <p:sp>
        <p:nvSpPr>
          <p:cNvPr id="6200" name="Text Box 56"/>
          <p:cNvSpPr txBox="1">
            <a:spLocks noChangeArrowheads="1"/>
          </p:cNvSpPr>
          <p:nvPr userDrawn="1"/>
        </p:nvSpPr>
        <p:spPr bwMode="auto">
          <a:xfrm>
            <a:off x="5422900" y="6480175"/>
            <a:ext cx="31654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/>
            <a:r>
              <a:rPr lang="en-US" altLang="ko-KR" sz="1000" i="0" dirty="0">
                <a:solidFill>
                  <a:srgbClr val="5F5F5F"/>
                </a:solidFill>
                <a:latin typeface="Century Gothic" pitchFamily="34" charset="0"/>
              </a:rPr>
              <a:t>http://cafe.naver.com/embeddedcrazyboys</a:t>
            </a:r>
          </a:p>
        </p:txBody>
      </p:sp>
      <p:sp>
        <p:nvSpPr>
          <p:cNvPr id="6211" name="Rectangle 67"/>
          <p:cNvSpPr>
            <a:spLocks noChangeArrowheads="1"/>
          </p:cNvSpPr>
          <p:nvPr userDrawn="1"/>
        </p:nvSpPr>
        <p:spPr bwMode="auto">
          <a:xfrm>
            <a:off x="88900" y="85725"/>
            <a:ext cx="8959850" cy="6689725"/>
          </a:xfrm>
          <a:prstGeom prst="rect">
            <a:avLst/>
          </a:prstGeom>
          <a:noFill/>
          <a:ln w="3175">
            <a:solidFill>
              <a:srgbClr val="00B05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6212" name="Line 68"/>
          <p:cNvSpPr>
            <a:spLocks noChangeShapeType="1"/>
          </p:cNvSpPr>
          <p:nvPr userDrawn="1"/>
        </p:nvSpPr>
        <p:spPr bwMode="auto">
          <a:xfrm>
            <a:off x="5583238" y="6480175"/>
            <a:ext cx="3452812" cy="0"/>
          </a:xfrm>
          <a:prstGeom prst="line">
            <a:avLst/>
          </a:prstGeom>
          <a:noFill/>
          <a:ln w="3175">
            <a:solidFill>
              <a:srgbClr val="00B050"/>
            </a:solidFill>
            <a:round/>
            <a:headEnd/>
            <a:tailEnd/>
          </a:ln>
          <a:effectLst/>
        </p:spPr>
        <p:txBody>
          <a:bodyPr/>
          <a:lstStyle/>
          <a:p>
            <a:endParaRPr lang="ko-KR" altLang="en-US"/>
          </a:p>
        </p:txBody>
      </p:sp>
      <p:sp>
        <p:nvSpPr>
          <p:cNvPr id="6215" name="Line 71"/>
          <p:cNvSpPr>
            <a:spLocks noChangeShapeType="1"/>
          </p:cNvSpPr>
          <p:nvPr userDrawn="1"/>
        </p:nvSpPr>
        <p:spPr bwMode="auto">
          <a:xfrm>
            <a:off x="88900" y="620713"/>
            <a:ext cx="8959850" cy="0"/>
          </a:xfrm>
          <a:prstGeom prst="line">
            <a:avLst/>
          </a:prstGeom>
          <a:noFill/>
          <a:ln w="9525">
            <a:solidFill>
              <a:srgbClr val="00B050"/>
            </a:solidFill>
            <a:round/>
            <a:headEnd/>
            <a:tailEnd/>
          </a:ln>
          <a:effectLst/>
        </p:spPr>
        <p:txBody>
          <a:bodyPr/>
          <a:lstStyle/>
          <a:p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txStyles>
    <p:titleStyle>
      <a:lvl1pPr algn="l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Verdana" pitchFamily="34" charset="0"/>
          <a:ea typeface="+mj-ea"/>
          <a:cs typeface="+mj-cs"/>
        </a:defRPr>
      </a:lvl1pPr>
      <a:lvl2pPr algn="l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Tahoma" pitchFamily="34" charset="0"/>
          <a:ea typeface="굴림" pitchFamily="50" charset="-127"/>
        </a:defRPr>
      </a:lvl2pPr>
      <a:lvl3pPr algn="l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Tahoma" pitchFamily="34" charset="0"/>
          <a:ea typeface="굴림" pitchFamily="50" charset="-127"/>
        </a:defRPr>
      </a:lvl3pPr>
      <a:lvl4pPr algn="l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Tahoma" pitchFamily="34" charset="0"/>
          <a:ea typeface="굴림" pitchFamily="50" charset="-127"/>
        </a:defRPr>
      </a:lvl4pPr>
      <a:lvl5pPr algn="l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Tahoma" pitchFamily="34" charset="0"/>
          <a:ea typeface="굴림" pitchFamily="50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Tahoma" pitchFamily="34" charset="0"/>
          <a:ea typeface="굴림" pitchFamily="50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Tahoma" pitchFamily="34" charset="0"/>
          <a:ea typeface="굴림" pitchFamily="50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Tahoma" pitchFamily="34" charset="0"/>
          <a:ea typeface="굴림" pitchFamily="50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Tahoma" pitchFamily="34" charset="0"/>
          <a:ea typeface="굴림" pitchFamily="50" charset="-127"/>
        </a:defRPr>
      </a:lvl9pPr>
    </p:titleStyle>
    <p:bodyStyle>
      <a:lvl1pPr marL="342900" indent="-342900" algn="l" rtl="0" fontAlgn="base" latinLnBrk="1">
        <a:spcBef>
          <a:spcPct val="20000"/>
        </a:spcBef>
        <a:spcAft>
          <a:spcPct val="0"/>
        </a:spcAft>
        <a:buClr>
          <a:schemeClr val="tx1"/>
        </a:buClr>
        <a:buChar char="•"/>
        <a:defRPr kumimoji="1" sz="2000">
          <a:solidFill>
            <a:schemeClr val="tx1"/>
          </a:solidFill>
          <a:latin typeface="Verdana" pitchFamily="34" charset="0"/>
          <a:ea typeface="+mn-ea"/>
          <a:cs typeface="+mn-cs"/>
        </a:defRPr>
      </a:lvl1pPr>
      <a:lvl2pPr marL="742950" indent="-285750" algn="l" rtl="0" fontAlgn="base" latinLnBrk="1">
        <a:spcBef>
          <a:spcPct val="20000"/>
        </a:spcBef>
        <a:spcAft>
          <a:spcPct val="0"/>
        </a:spcAft>
        <a:buClr>
          <a:schemeClr val="tx1"/>
        </a:buClr>
        <a:buFont typeface="Wingdings" pitchFamily="2" charset="2"/>
        <a:buChar char="Ø"/>
        <a:defRPr kumimoji="1">
          <a:solidFill>
            <a:schemeClr val="tx1"/>
          </a:solidFill>
          <a:latin typeface="Verdana" pitchFamily="34" charset="0"/>
          <a:ea typeface="+mn-ea"/>
        </a:defRPr>
      </a:lvl2pPr>
      <a:lvl3pPr marL="1143000" indent="-228600" algn="l" rtl="0" fontAlgn="base" latinLnBrk="1">
        <a:spcBef>
          <a:spcPct val="20000"/>
        </a:spcBef>
        <a:spcAft>
          <a:spcPct val="0"/>
        </a:spcAft>
        <a:buClr>
          <a:schemeClr val="tx1"/>
        </a:buClr>
        <a:buFont typeface="Wingdings" pitchFamily="2" charset="2"/>
        <a:buChar char="§"/>
        <a:defRPr kumimoji="1" sz="1600">
          <a:solidFill>
            <a:schemeClr val="tx1"/>
          </a:solidFill>
          <a:latin typeface="Verdana" pitchFamily="34" charset="0"/>
          <a:ea typeface="+mn-ea"/>
        </a:defRPr>
      </a:lvl3pPr>
      <a:lvl4pPr marL="1600200" indent="-228600" algn="l" rtl="0" fontAlgn="base" latinLnBrk="1">
        <a:spcBef>
          <a:spcPct val="20000"/>
        </a:spcBef>
        <a:spcAft>
          <a:spcPct val="0"/>
        </a:spcAft>
        <a:buClr>
          <a:schemeClr val="bg2"/>
        </a:buClr>
        <a:buFont typeface="Wingdings 2" pitchFamily="18" charset="2"/>
        <a:buChar char=""/>
        <a:defRPr kumimoji="1" sz="2000">
          <a:solidFill>
            <a:schemeClr val="tx1"/>
          </a:solidFill>
          <a:latin typeface="Arial" charset="0"/>
          <a:ea typeface="+mn-ea"/>
        </a:defRPr>
      </a:lvl4pPr>
      <a:lvl5pPr marL="2057400" indent="-228600" algn="l" rtl="0" fontAlgn="base" latinLnBrk="1">
        <a:spcBef>
          <a:spcPct val="20000"/>
        </a:spcBef>
        <a:spcAft>
          <a:spcPct val="0"/>
        </a:spcAft>
        <a:buClr>
          <a:schemeClr val="bg2"/>
        </a:buClr>
        <a:buFont typeface="Arial" charset="0"/>
        <a:buChar char="»"/>
        <a:defRPr kumimoji="1" sz="1600">
          <a:solidFill>
            <a:schemeClr val="tx1"/>
          </a:solidFill>
          <a:latin typeface="Arial" charset="0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lr>
          <a:schemeClr val="bg2"/>
        </a:buClr>
        <a:buFont typeface="Arial" charset="0"/>
        <a:buChar char="»"/>
        <a:defRPr kumimoji="1" sz="1600">
          <a:solidFill>
            <a:schemeClr val="tx1"/>
          </a:solidFill>
          <a:latin typeface="Arial" charset="0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lr>
          <a:schemeClr val="bg2"/>
        </a:buClr>
        <a:buFont typeface="Arial" charset="0"/>
        <a:buChar char="»"/>
        <a:defRPr kumimoji="1" sz="1600">
          <a:solidFill>
            <a:schemeClr val="tx1"/>
          </a:solidFill>
          <a:latin typeface="Arial" charset="0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lr>
          <a:schemeClr val="bg2"/>
        </a:buClr>
        <a:buFont typeface="Arial" charset="0"/>
        <a:buChar char="»"/>
        <a:defRPr kumimoji="1" sz="1600">
          <a:solidFill>
            <a:schemeClr val="tx1"/>
          </a:solidFill>
          <a:latin typeface="Arial" charset="0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lr>
          <a:schemeClr val="bg2"/>
        </a:buClr>
        <a:buFont typeface="Arial" charset="0"/>
        <a:buChar char="»"/>
        <a:defRPr kumimoji="1" sz="1600">
          <a:solidFill>
            <a:schemeClr val="tx1"/>
          </a:solidFill>
          <a:latin typeface="Arial" charset="0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916" name="Rectangle 4"/>
          <p:cNvSpPr>
            <a:spLocks noGrp="1" noChangeArrowheads="1"/>
          </p:cNvSpPr>
          <p:nvPr>
            <p:ph type="ctrTitle"/>
          </p:nvPr>
        </p:nvSpPr>
        <p:spPr>
          <a:xfrm>
            <a:off x="684213" y="2674938"/>
            <a:ext cx="6551612" cy="1023937"/>
          </a:xfrm>
        </p:spPr>
        <p:txBody>
          <a:bodyPr/>
          <a:lstStyle/>
          <a:p>
            <a:r>
              <a:rPr lang="en-US" altLang="ko-KR" dirty="0"/>
              <a:t>Key Input &amp; Interrupt</a:t>
            </a:r>
          </a:p>
        </p:txBody>
      </p:sp>
      <p:sp>
        <p:nvSpPr>
          <p:cNvPr id="678917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827088" y="3860800"/>
            <a:ext cx="6257925" cy="1211274"/>
          </a:xfrm>
        </p:spPr>
        <p:txBody>
          <a:bodyPr/>
          <a:lstStyle/>
          <a:p>
            <a:r>
              <a:rPr lang="en-US" altLang="ko-KR" dirty="0"/>
              <a:t>2026.01.19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Key Button</a:t>
            </a:r>
            <a:endParaRPr lang="ko-KR" altLang="en-US" dirty="0"/>
          </a:p>
        </p:txBody>
      </p:sp>
      <p:sp>
        <p:nvSpPr>
          <p:cNvPr id="6" name="내용 개체 틀 5"/>
          <p:cNvSpPr>
            <a:spLocks noGrp="1"/>
          </p:cNvSpPr>
          <p:nvPr>
            <p:ph idx="1"/>
          </p:nvPr>
        </p:nvSpPr>
        <p:spPr>
          <a:xfrm>
            <a:off x="177800" y="5143512"/>
            <a:ext cx="8858250" cy="1285884"/>
          </a:xfrm>
        </p:spPr>
        <p:txBody>
          <a:bodyPr/>
          <a:lstStyle/>
          <a:p>
            <a:r>
              <a:rPr lang="en-US" altLang="ko-KR" dirty="0"/>
              <a:t>PF9 –</a:t>
            </a:r>
            <a:r>
              <a:rPr lang="ko-KR" altLang="en-US" dirty="0"/>
              <a:t> </a:t>
            </a:r>
            <a:r>
              <a:rPr lang="en-US" altLang="ko-KR" dirty="0"/>
              <a:t>SW1 KEY1</a:t>
            </a:r>
            <a:r>
              <a:rPr lang="ko-KR" altLang="en-US" dirty="0"/>
              <a:t>에 할당</a:t>
            </a:r>
            <a:endParaRPr lang="en-US" altLang="ko-KR" dirty="0"/>
          </a:p>
          <a:p>
            <a:r>
              <a:rPr lang="en-US" altLang="ko-KR" dirty="0"/>
              <a:t>PF10 –</a:t>
            </a:r>
            <a:r>
              <a:rPr lang="ko-KR" altLang="en-US" dirty="0"/>
              <a:t> </a:t>
            </a:r>
            <a:r>
              <a:rPr lang="en-US" altLang="ko-KR" dirty="0"/>
              <a:t>SW2 KEY2</a:t>
            </a:r>
            <a:r>
              <a:rPr lang="ko-KR" altLang="en-US" dirty="0"/>
              <a:t>에 할당</a:t>
            </a:r>
            <a:endParaRPr lang="en-US" altLang="ko-KR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ACAFF5D4-771F-0126-C19C-6352B95B4B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552" y="836712"/>
            <a:ext cx="5360862" cy="3144017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17CA1BCE-0581-BC98-B167-E2F4B7CBA1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95936" y="2132856"/>
            <a:ext cx="4437868" cy="283970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Key Button</a:t>
            </a:r>
            <a:endParaRPr lang="ko-KR" altLang="en-US" dirty="0"/>
          </a:p>
        </p:txBody>
      </p:sp>
      <p:sp>
        <p:nvSpPr>
          <p:cNvPr id="6" name="내용 개체 틀 5"/>
          <p:cNvSpPr>
            <a:spLocks noGrp="1"/>
          </p:cNvSpPr>
          <p:nvPr>
            <p:ph idx="1"/>
          </p:nvPr>
        </p:nvSpPr>
        <p:spPr>
          <a:xfrm>
            <a:off x="177800" y="5373216"/>
            <a:ext cx="8858250" cy="1224136"/>
          </a:xfrm>
        </p:spPr>
        <p:txBody>
          <a:bodyPr/>
          <a:lstStyle/>
          <a:p>
            <a:r>
              <a:rPr lang="en-US" altLang="ko-KR" dirty="0"/>
              <a:t>PF9, </a:t>
            </a:r>
            <a:r>
              <a:rPr lang="en-US" altLang="ko-KR" dirty="0" err="1"/>
              <a:t>GPIO_Input</a:t>
            </a:r>
            <a:r>
              <a:rPr lang="en-US" altLang="ko-KR" dirty="0"/>
              <a:t> </a:t>
            </a:r>
            <a:r>
              <a:rPr lang="ko-KR" altLang="en-US" dirty="0"/>
              <a:t>설정 후</a:t>
            </a:r>
            <a:r>
              <a:rPr lang="en-US" altLang="ko-KR" dirty="0"/>
              <a:t> –</a:t>
            </a:r>
            <a:r>
              <a:rPr lang="ko-KR" altLang="en-US" dirty="0"/>
              <a:t> </a:t>
            </a:r>
            <a:r>
              <a:rPr lang="en-US" altLang="ko-KR" dirty="0"/>
              <a:t>KEY1</a:t>
            </a:r>
            <a:r>
              <a:rPr lang="ko-KR" altLang="en-US" dirty="0"/>
              <a:t>으로 이름 변경</a:t>
            </a:r>
            <a:endParaRPr lang="en-US" altLang="ko-KR" dirty="0"/>
          </a:p>
          <a:p>
            <a:r>
              <a:rPr lang="en-US" altLang="ko-KR" dirty="0"/>
              <a:t>PF10, </a:t>
            </a:r>
            <a:r>
              <a:rPr lang="en-US" altLang="ko-KR" dirty="0" err="1"/>
              <a:t>GPIO_Input</a:t>
            </a:r>
            <a:r>
              <a:rPr lang="en-US" altLang="ko-KR" dirty="0"/>
              <a:t> </a:t>
            </a:r>
            <a:r>
              <a:rPr lang="ko-KR" altLang="en-US" dirty="0"/>
              <a:t>설정 후</a:t>
            </a:r>
            <a:r>
              <a:rPr lang="en-US" altLang="ko-KR" dirty="0"/>
              <a:t> –</a:t>
            </a:r>
            <a:r>
              <a:rPr lang="ko-KR" altLang="en-US" dirty="0"/>
              <a:t> </a:t>
            </a:r>
            <a:r>
              <a:rPr lang="en-US" altLang="ko-KR" dirty="0"/>
              <a:t>KEY2</a:t>
            </a:r>
            <a:r>
              <a:rPr lang="ko-KR" altLang="en-US" dirty="0"/>
              <a:t>로 이름 변경</a:t>
            </a:r>
            <a:endParaRPr lang="en-US" altLang="ko-KR" dirty="0"/>
          </a:p>
          <a:p>
            <a:r>
              <a:rPr lang="ko-KR" altLang="en-US" dirty="0"/>
              <a:t>두 핀 모두 </a:t>
            </a:r>
            <a:r>
              <a:rPr lang="en-US" altLang="ko-KR" b="1" dirty="0">
                <a:solidFill>
                  <a:srgbClr val="0000FF"/>
                </a:solidFill>
              </a:rPr>
              <a:t>Pull-up</a:t>
            </a:r>
            <a:r>
              <a:rPr lang="ko-KR" altLang="en-US" dirty="0"/>
              <a:t>으로 설정한다</a:t>
            </a:r>
            <a:r>
              <a:rPr lang="en-US" altLang="ko-KR" dirty="0"/>
              <a:t>.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3EF78533-CFC8-C691-F38A-FAEED4DFDD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544" y="802917"/>
            <a:ext cx="2361905" cy="3019048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86BD84D2-1280-6B1B-B8D0-8802584A53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9792" y="1994974"/>
            <a:ext cx="6238095" cy="3142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50755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No Interrupt Key Test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177800" y="785793"/>
            <a:ext cx="8858250" cy="5643603"/>
          </a:xfrm>
        </p:spPr>
        <p:txBody>
          <a:bodyPr/>
          <a:lstStyle/>
          <a:p>
            <a:pPr>
              <a:buNone/>
            </a:pPr>
            <a:r>
              <a:rPr lang="en-US" altLang="ko-KR" sz="1600" dirty="0"/>
              <a:t>void </a:t>
            </a:r>
            <a:r>
              <a:rPr lang="en-US" altLang="ko-KR" sz="1600" dirty="0" err="1"/>
              <a:t>KEY_Test</a:t>
            </a:r>
            <a:r>
              <a:rPr lang="en-US" altLang="ko-KR" sz="1600" dirty="0"/>
              <a:t>(void) {</a:t>
            </a:r>
          </a:p>
          <a:p>
            <a:pPr>
              <a:buNone/>
            </a:pPr>
            <a:r>
              <a:rPr lang="en-US" altLang="ko-KR" sz="1600" dirty="0"/>
              <a:t>    </a:t>
            </a:r>
            <a:r>
              <a:rPr lang="en-US" altLang="ko-KR" sz="1600" dirty="0" err="1"/>
              <a:t>HAL_GPIO_WritePin</a:t>
            </a:r>
            <a:r>
              <a:rPr lang="en-US" altLang="ko-KR" sz="1600" dirty="0"/>
              <a:t>(GPIOF, LED1_Pin|LED2_Pin|LED3_Pin, GPIO_PIN_SET);</a:t>
            </a:r>
          </a:p>
          <a:p>
            <a:pPr>
              <a:buNone/>
            </a:pPr>
            <a:endParaRPr lang="en-US" altLang="ko-KR" sz="1600" dirty="0"/>
          </a:p>
          <a:p>
            <a:pPr>
              <a:buNone/>
            </a:pPr>
            <a:r>
              <a:rPr lang="en-US" altLang="ko-KR" sz="1600" dirty="0"/>
              <a:t>    while(1) {</a:t>
            </a:r>
          </a:p>
          <a:p>
            <a:pPr>
              <a:buNone/>
            </a:pPr>
            <a:r>
              <a:rPr lang="en-US" altLang="ko-KR" sz="1600" dirty="0"/>
              <a:t>        if(</a:t>
            </a:r>
            <a:r>
              <a:rPr lang="en-US" altLang="ko-KR" sz="1600" dirty="0" err="1"/>
              <a:t>HAL_GPIO_ReadPin</a:t>
            </a:r>
            <a:r>
              <a:rPr lang="en-US" altLang="ko-KR" sz="1600" dirty="0"/>
              <a:t>(KEY1_GPIO_Port, KEY1_Pin) == GPIO_PIN_RESET) {</a:t>
            </a:r>
          </a:p>
          <a:p>
            <a:pPr>
              <a:buNone/>
            </a:pPr>
            <a:r>
              <a:rPr lang="en-US" altLang="ko-KR" sz="1600" dirty="0"/>
              <a:t>            </a:t>
            </a:r>
            <a:r>
              <a:rPr lang="en-US" altLang="ko-KR" sz="1600" dirty="0" err="1"/>
              <a:t>HAL_GPIO_WritePin</a:t>
            </a:r>
            <a:r>
              <a:rPr lang="en-US" altLang="ko-KR" sz="1600" dirty="0"/>
              <a:t>(LED1_GPIO_Port, LED1_Pin, GPIO_PIN_RESET);</a:t>
            </a:r>
          </a:p>
          <a:p>
            <a:pPr>
              <a:buNone/>
            </a:pPr>
            <a:r>
              <a:rPr lang="en-US" altLang="ko-KR" sz="1600" dirty="0"/>
              <a:t>        } else {</a:t>
            </a:r>
          </a:p>
          <a:p>
            <a:pPr>
              <a:buNone/>
            </a:pPr>
            <a:r>
              <a:rPr lang="en-US" altLang="ko-KR" sz="1600" dirty="0"/>
              <a:t>            </a:t>
            </a:r>
            <a:r>
              <a:rPr lang="en-US" altLang="ko-KR" sz="1600" dirty="0" err="1"/>
              <a:t>HAL_GPIO_WritePin</a:t>
            </a:r>
            <a:r>
              <a:rPr lang="en-US" altLang="ko-KR" sz="1600" dirty="0"/>
              <a:t>(LED1_GPIO_Port, LED1_Pin, GPIO_PIN_SET);</a:t>
            </a:r>
          </a:p>
          <a:p>
            <a:pPr>
              <a:buNone/>
            </a:pPr>
            <a:r>
              <a:rPr lang="en-US" altLang="ko-KR" sz="1600" dirty="0"/>
              <a:t>        }</a:t>
            </a:r>
          </a:p>
          <a:p>
            <a:pPr>
              <a:buNone/>
            </a:pPr>
            <a:endParaRPr lang="en-US" altLang="ko-KR" sz="1600" dirty="0"/>
          </a:p>
          <a:p>
            <a:pPr>
              <a:buNone/>
            </a:pPr>
            <a:r>
              <a:rPr lang="en-US" altLang="ko-KR" sz="1600" b="1" dirty="0">
                <a:solidFill>
                  <a:srgbClr val="0000FF"/>
                </a:solidFill>
              </a:rPr>
              <a:t>	   /* Key</a:t>
            </a:r>
            <a:r>
              <a:rPr lang="ko-KR" altLang="en-US" sz="1600" b="1" dirty="0">
                <a:solidFill>
                  <a:srgbClr val="0000FF"/>
                </a:solidFill>
              </a:rPr>
              <a:t>가 눌리면 </a:t>
            </a:r>
            <a:r>
              <a:rPr lang="en-US" altLang="ko-KR" sz="1600" b="1" dirty="0">
                <a:solidFill>
                  <a:srgbClr val="0000FF"/>
                </a:solidFill>
              </a:rPr>
              <a:t>GPIO </a:t>
            </a:r>
            <a:r>
              <a:rPr lang="ko-KR" altLang="en-US" sz="1600" b="1" dirty="0">
                <a:solidFill>
                  <a:srgbClr val="0000FF"/>
                </a:solidFill>
              </a:rPr>
              <a:t>값이 </a:t>
            </a:r>
            <a:r>
              <a:rPr lang="en-US" altLang="ko-KR" sz="1600" b="1" dirty="0">
                <a:solidFill>
                  <a:srgbClr val="0000FF"/>
                </a:solidFill>
              </a:rPr>
              <a:t>Low</a:t>
            </a:r>
            <a:r>
              <a:rPr lang="ko-KR" altLang="en-US" sz="1600" b="1" dirty="0">
                <a:solidFill>
                  <a:srgbClr val="0000FF"/>
                </a:solidFill>
              </a:rPr>
              <a:t>가 된다 </a:t>
            </a:r>
            <a:r>
              <a:rPr lang="en-US" altLang="ko-KR" sz="1600" b="1" dirty="0">
                <a:solidFill>
                  <a:srgbClr val="0000FF"/>
                </a:solidFill>
              </a:rPr>
              <a:t>*/</a:t>
            </a:r>
          </a:p>
          <a:p>
            <a:pPr>
              <a:buNone/>
            </a:pPr>
            <a:r>
              <a:rPr lang="en-US" altLang="ko-KR" sz="1600" dirty="0"/>
              <a:t>        if(</a:t>
            </a:r>
            <a:r>
              <a:rPr lang="en-US" altLang="ko-KR" sz="1600" b="1" dirty="0" err="1"/>
              <a:t>HAL_GPIO_ReadPin</a:t>
            </a:r>
            <a:r>
              <a:rPr lang="en-US" altLang="ko-KR" sz="1600" b="1" dirty="0"/>
              <a:t>(KEY2_GPIO_Port, KEY2_Pin) == GPIO_PIN_RESET</a:t>
            </a:r>
            <a:r>
              <a:rPr lang="en-US" altLang="ko-KR" sz="1600" dirty="0"/>
              <a:t>) {</a:t>
            </a:r>
          </a:p>
          <a:p>
            <a:pPr>
              <a:buNone/>
            </a:pPr>
            <a:r>
              <a:rPr lang="en-US" altLang="ko-KR" sz="1600" dirty="0"/>
              <a:t>            </a:t>
            </a:r>
            <a:r>
              <a:rPr lang="en-US" altLang="ko-KR" sz="1600" dirty="0" err="1"/>
              <a:t>HAL_GPIO_WritePin</a:t>
            </a:r>
            <a:r>
              <a:rPr lang="en-US" altLang="ko-KR" sz="1600" dirty="0"/>
              <a:t>(LED2_GPIO_Port, LED2_Pin, GPIO_PIN_RESET);</a:t>
            </a:r>
          </a:p>
          <a:p>
            <a:pPr>
              <a:buNone/>
            </a:pPr>
            <a:r>
              <a:rPr lang="en-US" altLang="ko-KR" sz="1600" dirty="0"/>
              <a:t>        } else {</a:t>
            </a:r>
          </a:p>
          <a:p>
            <a:pPr>
              <a:buNone/>
            </a:pPr>
            <a:r>
              <a:rPr lang="en-US" altLang="ko-KR" sz="1600" dirty="0"/>
              <a:t>            </a:t>
            </a:r>
            <a:r>
              <a:rPr lang="en-US" altLang="ko-KR" sz="1600" dirty="0" err="1"/>
              <a:t>HAL_GPIO_WritePin</a:t>
            </a:r>
            <a:r>
              <a:rPr lang="en-US" altLang="ko-KR" sz="1600" dirty="0"/>
              <a:t>(LED2_GPIO_Port, LED2_Pin, GPIO_PIN_SET);</a:t>
            </a:r>
          </a:p>
          <a:p>
            <a:pPr>
              <a:buNone/>
            </a:pPr>
            <a:r>
              <a:rPr lang="en-US" altLang="ko-KR" sz="1600" dirty="0"/>
              <a:t>        }</a:t>
            </a:r>
          </a:p>
          <a:p>
            <a:pPr>
              <a:buNone/>
            </a:pPr>
            <a:r>
              <a:rPr lang="en-US" altLang="ko-KR" sz="1600" dirty="0"/>
              <a:t>    }</a:t>
            </a:r>
          </a:p>
          <a:p>
            <a:pPr>
              <a:buNone/>
            </a:pPr>
            <a:r>
              <a:rPr lang="en-US" altLang="ko-KR" sz="1600" dirty="0"/>
              <a:t>}</a:t>
            </a:r>
          </a:p>
          <a:p>
            <a:pPr>
              <a:buNone/>
            </a:pPr>
            <a:endParaRPr lang="en-US" altLang="ko-KR" sz="1600" dirty="0"/>
          </a:p>
        </p:txBody>
      </p:sp>
    </p:spTree>
    <p:extLst>
      <p:ext uri="{BB962C8B-B14F-4D97-AF65-F5344CB8AC3E}">
        <p14:creationId xmlns:p14="http://schemas.microsoft.com/office/powerpoint/2010/main" val="15507158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No Interrupt Key Test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177800" y="785793"/>
            <a:ext cx="8858250" cy="5643603"/>
          </a:xfrm>
        </p:spPr>
        <p:txBody>
          <a:bodyPr/>
          <a:lstStyle/>
          <a:p>
            <a:r>
              <a:rPr lang="ko-KR" altLang="en-US" dirty="0"/>
              <a:t>처음에 모든 </a:t>
            </a:r>
            <a:r>
              <a:rPr lang="en-US" altLang="ko-KR" dirty="0"/>
              <a:t>LED Off</a:t>
            </a:r>
          </a:p>
          <a:p>
            <a:r>
              <a:rPr lang="en-US" altLang="ko-KR" dirty="0"/>
              <a:t>Key1</a:t>
            </a:r>
            <a:r>
              <a:rPr lang="ko-KR" altLang="en-US" dirty="0"/>
              <a:t>을 누르면 </a:t>
            </a:r>
            <a:r>
              <a:rPr lang="en-US" altLang="ko-KR" dirty="0"/>
              <a:t>LED1 On</a:t>
            </a:r>
          </a:p>
          <a:p>
            <a:r>
              <a:rPr lang="en-US" altLang="ko-KR" dirty="0"/>
              <a:t>Key2</a:t>
            </a:r>
            <a:r>
              <a:rPr lang="ko-KR" altLang="en-US" dirty="0"/>
              <a:t>을 누르면 </a:t>
            </a:r>
            <a:r>
              <a:rPr lang="en-US" altLang="ko-KR" dirty="0"/>
              <a:t>LED2 On</a:t>
            </a:r>
          </a:p>
          <a:p>
            <a:endParaRPr lang="en-US" altLang="ko-KR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FDBD20E3-4A2A-CEE3-3128-C08C2096C4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7944" y="715110"/>
            <a:ext cx="4685714" cy="571428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Exception </a:t>
            </a:r>
            <a:r>
              <a:rPr lang="ko-KR" altLang="en-US" dirty="0"/>
              <a:t>종류</a:t>
            </a:r>
          </a:p>
        </p:txBody>
      </p:sp>
      <p:graphicFrame>
        <p:nvGraphicFramePr>
          <p:cNvPr id="4" name="내용 개체 틀 3"/>
          <p:cNvGraphicFramePr>
            <a:graphicFrameLocks noGrp="1"/>
          </p:cNvGraphicFramePr>
          <p:nvPr>
            <p:ph idx="1"/>
          </p:nvPr>
        </p:nvGraphicFramePr>
        <p:xfrm>
          <a:off x="198904" y="785794"/>
          <a:ext cx="8751918" cy="5554368"/>
        </p:xfrm>
        <a:graphic>
          <a:graphicData uri="http://schemas.openxmlformats.org/drawingml/2006/table">
            <a:tbl>
              <a:tblPr/>
              <a:tblGrid>
                <a:gridCol w="7297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146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0019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0731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2559"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sz="1800" b="1" kern="100" dirty="0">
                          <a:latin typeface="+mj-lt"/>
                          <a:ea typeface="맑은 고딕"/>
                          <a:cs typeface="Times New Roman"/>
                        </a:rPr>
                        <a:t>위치</a:t>
                      </a:r>
                      <a:endParaRPr lang="ko-KR" sz="1800" kern="100" dirty="0">
                        <a:latin typeface="+mj-lt"/>
                        <a:ea typeface="맑은 고딕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BC9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latin typeface="+mj-lt"/>
                          <a:ea typeface="맑은 고딕"/>
                          <a:cs typeface="Times New Roman"/>
                        </a:rPr>
                        <a:t>Exception type</a:t>
                      </a:r>
                      <a:endParaRPr lang="ko-KR" sz="1800" kern="100" dirty="0">
                        <a:latin typeface="+mj-lt"/>
                        <a:ea typeface="맑은 고딕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BC9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latin typeface="+mj-lt"/>
                          <a:ea typeface="맑은 고딕"/>
                          <a:cs typeface="Times New Roman"/>
                        </a:rPr>
                        <a:t>Priority</a:t>
                      </a:r>
                      <a:endParaRPr lang="ko-KR" sz="1800" kern="100" dirty="0">
                        <a:latin typeface="+mj-lt"/>
                        <a:ea typeface="맑은 고딕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BC9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sz="1800" b="1" kern="100" dirty="0">
                          <a:latin typeface="+mj-lt"/>
                          <a:ea typeface="맑은 고딕"/>
                          <a:cs typeface="Times New Roman"/>
                        </a:rPr>
                        <a:t>설명</a:t>
                      </a:r>
                      <a:endParaRPr lang="ko-KR" sz="1800" kern="100" dirty="0">
                        <a:latin typeface="+mj-lt"/>
                        <a:ea typeface="맑은 고딕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BC9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1878">
                <a:tc>
                  <a:txBody>
                    <a:bodyPr/>
                    <a:lstStyle/>
                    <a:p>
                      <a:pPr algn="l" latinLnBrk="1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latin typeface="+mj-lt"/>
                          <a:ea typeface="맑은 고딕"/>
                          <a:cs typeface="Times New Roman"/>
                        </a:rPr>
                        <a:t>0</a:t>
                      </a:r>
                      <a:endParaRPr lang="ko-KR" sz="1800" kern="100" dirty="0">
                        <a:latin typeface="+mj-lt"/>
                        <a:ea typeface="맑은 고딕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4B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latin typeface="+mj-lt"/>
                          <a:ea typeface="맑은 고딕"/>
                          <a:cs typeface="Times New Roman"/>
                        </a:rPr>
                        <a:t>-</a:t>
                      </a:r>
                      <a:endParaRPr lang="ko-KR" sz="1800" kern="100" dirty="0">
                        <a:latin typeface="+mj-lt"/>
                        <a:ea typeface="맑은 고딕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4B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Aft>
                          <a:spcPts val="0"/>
                        </a:spcAft>
                      </a:pPr>
                      <a:r>
                        <a:rPr lang="en-US" sz="1800" kern="100">
                          <a:latin typeface="+mj-lt"/>
                          <a:ea typeface="맑은 고딕"/>
                          <a:cs typeface="Times New Roman"/>
                        </a:rPr>
                        <a:t>-</a:t>
                      </a:r>
                      <a:endParaRPr lang="ko-KR" sz="1800" kern="100">
                        <a:latin typeface="+mj-lt"/>
                        <a:ea typeface="맑은 고딕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4B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Aft>
                          <a:spcPts val="0"/>
                        </a:spcAft>
                      </a:pPr>
                      <a:r>
                        <a:rPr lang="ko-KR" sz="1800" kern="100">
                          <a:latin typeface="+mj-lt"/>
                          <a:ea typeface="맑은 고딕"/>
                          <a:cs typeface="Times New Roman"/>
                        </a:rPr>
                        <a:t>리셋 시 </a:t>
                      </a:r>
                      <a:r>
                        <a:rPr lang="en-US" sz="1800" kern="100">
                          <a:latin typeface="+mj-lt"/>
                          <a:ea typeface="맑은 고딕"/>
                          <a:cs typeface="Times New Roman"/>
                        </a:rPr>
                        <a:t>vector table</a:t>
                      </a:r>
                      <a:r>
                        <a:rPr lang="ko-KR" sz="1800" kern="100">
                          <a:latin typeface="+mj-lt"/>
                          <a:ea typeface="맑은 고딕"/>
                          <a:cs typeface="Times New Roman"/>
                        </a:rPr>
                        <a:t>의 첫</a:t>
                      </a:r>
                      <a:r>
                        <a:rPr lang="en-US" sz="1800" kern="100">
                          <a:latin typeface="+mj-lt"/>
                          <a:ea typeface="맑은 고딕"/>
                          <a:cs typeface="Times New Roman"/>
                        </a:rPr>
                        <a:t> entry</a:t>
                      </a:r>
                      <a:endParaRPr lang="ko-KR" sz="1800" kern="100">
                        <a:latin typeface="+mj-lt"/>
                        <a:ea typeface="맑은 고딕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4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1878">
                <a:tc>
                  <a:txBody>
                    <a:bodyPr/>
                    <a:lstStyle/>
                    <a:p>
                      <a:pPr algn="l" latinLnBrk="1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latin typeface="+mj-lt"/>
                          <a:ea typeface="맑은 고딕"/>
                          <a:cs typeface="Times New Roman"/>
                        </a:rPr>
                        <a:t>1</a:t>
                      </a:r>
                      <a:endParaRPr lang="ko-KR" sz="1800" kern="100" dirty="0">
                        <a:latin typeface="+mj-lt"/>
                        <a:ea typeface="맑은 고딕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4B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latin typeface="+mj-lt"/>
                          <a:ea typeface="맑은 고딕"/>
                          <a:cs typeface="Times New Roman"/>
                        </a:rPr>
                        <a:t>Reset</a:t>
                      </a:r>
                      <a:endParaRPr lang="ko-KR" sz="1800" kern="100" dirty="0">
                        <a:latin typeface="+mj-lt"/>
                        <a:ea typeface="맑은 고딕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4B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Aft>
                          <a:spcPts val="0"/>
                        </a:spcAft>
                      </a:pPr>
                      <a:r>
                        <a:rPr lang="ko-KR" sz="1800" kern="100">
                          <a:latin typeface="+mj-lt"/>
                          <a:ea typeface="맑은 고딕"/>
                          <a:cs typeface="Times New Roman"/>
                        </a:rPr>
                        <a:t>–</a:t>
                      </a:r>
                      <a:r>
                        <a:rPr lang="en-US" sz="1800" kern="100">
                          <a:latin typeface="+mj-lt"/>
                          <a:ea typeface="맑은 고딕"/>
                          <a:cs typeface="Times New Roman"/>
                        </a:rPr>
                        <a:t>3 (highest)</a:t>
                      </a:r>
                      <a:endParaRPr lang="ko-KR" sz="1800" kern="100">
                        <a:latin typeface="+mj-lt"/>
                        <a:ea typeface="맑은 고딕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4B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Aft>
                          <a:spcPts val="0"/>
                        </a:spcAft>
                      </a:pPr>
                      <a:r>
                        <a:rPr lang="en-US" sz="1800" kern="100">
                          <a:latin typeface="+mj-lt"/>
                          <a:ea typeface="맑은 고딕"/>
                          <a:cs typeface="Times New Roman"/>
                        </a:rPr>
                        <a:t>Power up</a:t>
                      </a:r>
                      <a:r>
                        <a:rPr lang="ko-KR" sz="1800" kern="100">
                          <a:latin typeface="+mj-lt"/>
                          <a:ea typeface="맑은 고딕"/>
                          <a:cs typeface="Times New Roman"/>
                        </a:rPr>
                        <a:t>과</a:t>
                      </a:r>
                      <a:r>
                        <a:rPr lang="en-US" sz="1800" kern="100">
                          <a:latin typeface="+mj-lt"/>
                          <a:ea typeface="맑은 고딕"/>
                          <a:cs typeface="Times New Roman"/>
                        </a:rPr>
                        <a:t> Warm reset</a:t>
                      </a:r>
                      <a:r>
                        <a:rPr lang="ko-KR" sz="1800" kern="100">
                          <a:latin typeface="+mj-lt"/>
                          <a:ea typeface="맑은 고딕"/>
                          <a:cs typeface="Times New Roman"/>
                        </a:rPr>
                        <a:t>시</a:t>
                      </a:r>
                      <a:r>
                        <a:rPr lang="en-US" sz="1800" kern="100">
                          <a:latin typeface="+mj-lt"/>
                          <a:ea typeface="맑은 고딕"/>
                          <a:cs typeface="Times New Roman"/>
                        </a:rPr>
                        <a:t>.</a:t>
                      </a:r>
                      <a:endParaRPr lang="ko-KR" sz="1800" kern="100">
                        <a:latin typeface="+mj-lt"/>
                        <a:ea typeface="맑은 고딕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4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1878">
                <a:tc>
                  <a:txBody>
                    <a:bodyPr/>
                    <a:lstStyle/>
                    <a:p>
                      <a:pPr algn="l" latinLnBrk="1">
                        <a:spcAft>
                          <a:spcPts val="0"/>
                        </a:spcAft>
                      </a:pPr>
                      <a:r>
                        <a:rPr lang="en-US" sz="1800" kern="100">
                          <a:latin typeface="+mj-lt"/>
                          <a:ea typeface="맑은 고딕"/>
                          <a:cs typeface="Times New Roman"/>
                        </a:rPr>
                        <a:t>2</a:t>
                      </a:r>
                      <a:endParaRPr lang="ko-KR" sz="1800" kern="100">
                        <a:latin typeface="+mj-lt"/>
                        <a:ea typeface="맑은 고딕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4B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latin typeface="+mj-lt"/>
                          <a:ea typeface="맑은 고딕"/>
                          <a:cs typeface="Times New Roman"/>
                        </a:rPr>
                        <a:t>Non-maskable</a:t>
                      </a:r>
                    </a:p>
                    <a:p>
                      <a:pPr algn="l" latinLnBrk="1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latin typeface="+mj-lt"/>
                          <a:ea typeface="맑은 고딕"/>
                          <a:cs typeface="Times New Roman"/>
                        </a:rPr>
                        <a:t>Interrupt (NMI)</a:t>
                      </a:r>
                      <a:endParaRPr lang="ko-KR" sz="1800" kern="100" dirty="0">
                        <a:latin typeface="+mj-lt"/>
                        <a:ea typeface="맑은 고딕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4B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latin typeface="+mj-lt"/>
                          <a:ea typeface="맑은 고딕"/>
                          <a:cs typeface="Times New Roman"/>
                        </a:rPr>
                        <a:t>-2</a:t>
                      </a:r>
                      <a:endParaRPr lang="ko-KR" sz="1800" kern="100" dirty="0">
                        <a:latin typeface="+mj-lt"/>
                        <a:ea typeface="맑은 고딕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4B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Aft>
                          <a:spcPts val="0"/>
                        </a:spcAft>
                      </a:pPr>
                      <a:r>
                        <a:rPr lang="en-US" sz="1800" kern="100">
                          <a:latin typeface="+mj-lt"/>
                          <a:ea typeface="맑은 고딕"/>
                          <a:cs typeface="Times New Roman"/>
                        </a:rPr>
                        <a:t>pre-empted</a:t>
                      </a:r>
                      <a:r>
                        <a:rPr lang="ko-KR" sz="1800" kern="100">
                          <a:latin typeface="+mj-lt"/>
                          <a:ea typeface="맑은 고딕"/>
                          <a:cs typeface="Times New Roman"/>
                        </a:rPr>
                        <a:t>되지 않는다</a:t>
                      </a:r>
                      <a:r>
                        <a:rPr lang="en-US" sz="1800" kern="100">
                          <a:latin typeface="+mj-lt"/>
                          <a:ea typeface="맑은 고딕"/>
                          <a:cs typeface="Times New Roman"/>
                        </a:rPr>
                        <a:t>.</a:t>
                      </a:r>
                      <a:endParaRPr lang="ko-KR" sz="1800" kern="100">
                        <a:latin typeface="+mj-lt"/>
                        <a:ea typeface="맑은 고딕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4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3871">
                <a:tc>
                  <a:txBody>
                    <a:bodyPr/>
                    <a:lstStyle/>
                    <a:p>
                      <a:pPr algn="l" latinLnBrk="1">
                        <a:spcAft>
                          <a:spcPts val="0"/>
                        </a:spcAft>
                      </a:pPr>
                      <a:r>
                        <a:rPr lang="en-US" sz="1800" kern="100">
                          <a:latin typeface="+mj-lt"/>
                          <a:ea typeface="맑은 고딕"/>
                          <a:cs typeface="Times New Roman"/>
                        </a:rPr>
                        <a:t>3</a:t>
                      </a:r>
                      <a:endParaRPr lang="ko-KR" sz="1800" kern="100">
                        <a:latin typeface="+mj-lt"/>
                        <a:ea typeface="맑은 고딕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4B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latin typeface="+mj-lt"/>
                          <a:ea typeface="맑은 고딕"/>
                          <a:cs typeface="Times New Roman"/>
                        </a:rPr>
                        <a:t>Hard Fault</a:t>
                      </a:r>
                      <a:endParaRPr lang="ko-KR" sz="1800" kern="100" dirty="0">
                        <a:latin typeface="+mj-lt"/>
                        <a:ea typeface="맑은 고딕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4B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latin typeface="+mj-lt"/>
                          <a:ea typeface="맑은 고딕"/>
                          <a:cs typeface="Times New Roman"/>
                        </a:rPr>
                        <a:t>-1</a:t>
                      </a:r>
                      <a:endParaRPr lang="ko-KR" sz="1800" kern="100" dirty="0">
                        <a:latin typeface="+mj-lt"/>
                        <a:ea typeface="맑은 고딕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4B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Aft>
                          <a:spcPts val="0"/>
                        </a:spcAft>
                      </a:pPr>
                      <a:r>
                        <a:rPr lang="ko-KR" sz="1800" kern="100">
                          <a:latin typeface="+mj-lt"/>
                          <a:ea typeface="맑은 고딕"/>
                          <a:cs typeface="Times New Roman"/>
                        </a:rPr>
                        <a:t>모든 종류의</a:t>
                      </a:r>
                      <a:r>
                        <a:rPr lang="en-US" sz="1800" kern="100">
                          <a:latin typeface="+mj-lt"/>
                          <a:ea typeface="맑은 고딕"/>
                          <a:cs typeface="Times New Roman"/>
                        </a:rPr>
                        <a:t> Fault</a:t>
                      </a:r>
                      <a:endParaRPr lang="ko-KR" sz="1800" kern="100">
                        <a:latin typeface="+mj-lt"/>
                        <a:ea typeface="맑은 고딕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4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1878">
                <a:tc>
                  <a:txBody>
                    <a:bodyPr/>
                    <a:lstStyle/>
                    <a:p>
                      <a:pPr algn="l" latinLnBrk="1">
                        <a:spcAft>
                          <a:spcPts val="0"/>
                        </a:spcAft>
                      </a:pPr>
                      <a:r>
                        <a:rPr lang="en-US" sz="1800" kern="100">
                          <a:latin typeface="+mj-lt"/>
                          <a:ea typeface="맑은 고딕"/>
                          <a:cs typeface="Times New Roman"/>
                        </a:rPr>
                        <a:t>4</a:t>
                      </a:r>
                      <a:endParaRPr lang="ko-KR" sz="1800" kern="100">
                        <a:latin typeface="+mj-lt"/>
                        <a:ea typeface="맑은 고딕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4B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Aft>
                          <a:spcPts val="0"/>
                        </a:spcAft>
                      </a:pPr>
                      <a:r>
                        <a:rPr lang="en-US" sz="1800" b="1" kern="100">
                          <a:latin typeface="+mj-lt"/>
                          <a:ea typeface="맑은 고딕"/>
                          <a:cs typeface="Times New Roman"/>
                        </a:rPr>
                        <a:t>Memory Management</a:t>
                      </a:r>
                      <a:endParaRPr lang="ko-KR" sz="1800" kern="100">
                        <a:latin typeface="+mj-lt"/>
                        <a:ea typeface="맑은 고딕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4B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latin typeface="+mj-lt"/>
                          <a:ea typeface="맑은 고딕"/>
                          <a:cs typeface="Times New Roman"/>
                        </a:rPr>
                        <a:t>Configurable</a:t>
                      </a:r>
                      <a:endParaRPr lang="ko-KR" sz="1800" kern="100" dirty="0">
                        <a:latin typeface="+mj-lt"/>
                        <a:ea typeface="맑은 고딕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4B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latin typeface="+mj-lt"/>
                          <a:ea typeface="맑은 고딕"/>
                          <a:cs typeface="Times New Roman"/>
                        </a:rPr>
                        <a:t>MPU mismatch</a:t>
                      </a:r>
                      <a:endParaRPr lang="ko-KR" sz="1800" kern="100" dirty="0">
                        <a:latin typeface="+mj-lt"/>
                        <a:ea typeface="맑은 고딕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4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1878">
                <a:tc>
                  <a:txBody>
                    <a:bodyPr/>
                    <a:lstStyle/>
                    <a:p>
                      <a:pPr algn="l" latinLnBrk="1">
                        <a:spcAft>
                          <a:spcPts val="0"/>
                        </a:spcAft>
                      </a:pPr>
                      <a:r>
                        <a:rPr lang="en-US" sz="1800" kern="100">
                          <a:latin typeface="+mj-lt"/>
                          <a:ea typeface="맑은 고딕"/>
                          <a:cs typeface="Times New Roman"/>
                        </a:rPr>
                        <a:t>5</a:t>
                      </a:r>
                      <a:endParaRPr lang="ko-KR" sz="1800" kern="100">
                        <a:latin typeface="+mj-lt"/>
                        <a:ea typeface="맑은 고딕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4B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Aft>
                          <a:spcPts val="0"/>
                        </a:spcAft>
                      </a:pPr>
                      <a:r>
                        <a:rPr lang="en-US" sz="1800" b="1" kern="100">
                          <a:latin typeface="+mj-lt"/>
                          <a:ea typeface="맑은 고딕"/>
                          <a:cs typeface="Times New Roman"/>
                        </a:rPr>
                        <a:t>Bus Fault</a:t>
                      </a:r>
                      <a:endParaRPr lang="ko-KR" sz="1800" kern="100">
                        <a:latin typeface="+mj-lt"/>
                        <a:ea typeface="맑은 고딕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4B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Aft>
                          <a:spcPts val="0"/>
                        </a:spcAft>
                      </a:pPr>
                      <a:r>
                        <a:rPr lang="en-US" sz="1800" kern="100">
                          <a:latin typeface="+mj-lt"/>
                          <a:ea typeface="맑은 고딕"/>
                          <a:cs typeface="Times New Roman"/>
                        </a:rPr>
                        <a:t>Configurable</a:t>
                      </a:r>
                      <a:endParaRPr lang="ko-KR" sz="1800" kern="100">
                        <a:latin typeface="+mj-lt"/>
                        <a:ea typeface="맑은 고딕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4B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latin typeface="+mj-lt"/>
                          <a:ea typeface="맑은 고딕"/>
                          <a:cs typeface="Times New Roman"/>
                        </a:rPr>
                        <a:t>Pre-fetch, memory fault</a:t>
                      </a:r>
                      <a:endParaRPr lang="ko-KR" sz="1800" kern="100" dirty="0">
                        <a:latin typeface="+mj-lt"/>
                        <a:ea typeface="맑은 고딕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4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1878">
                <a:tc>
                  <a:txBody>
                    <a:bodyPr/>
                    <a:lstStyle/>
                    <a:p>
                      <a:pPr algn="l" latinLnBrk="1">
                        <a:spcAft>
                          <a:spcPts val="0"/>
                        </a:spcAft>
                      </a:pPr>
                      <a:r>
                        <a:rPr lang="en-US" sz="1800" kern="100">
                          <a:latin typeface="+mj-lt"/>
                          <a:ea typeface="맑은 고딕"/>
                          <a:cs typeface="Times New Roman"/>
                        </a:rPr>
                        <a:t>6</a:t>
                      </a:r>
                      <a:endParaRPr lang="ko-KR" sz="1800" kern="100">
                        <a:latin typeface="+mj-lt"/>
                        <a:ea typeface="맑은 고딕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4B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Aft>
                          <a:spcPts val="0"/>
                        </a:spcAft>
                      </a:pPr>
                      <a:r>
                        <a:rPr lang="en-US" sz="1800" b="1" kern="100">
                          <a:latin typeface="+mj-lt"/>
                          <a:ea typeface="맑은 고딕"/>
                          <a:cs typeface="Times New Roman"/>
                        </a:rPr>
                        <a:t>Usage Fault</a:t>
                      </a:r>
                      <a:endParaRPr lang="ko-KR" sz="1800" kern="100">
                        <a:latin typeface="+mj-lt"/>
                        <a:ea typeface="맑은 고딕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4B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Aft>
                          <a:spcPts val="0"/>
                        </a:spcAft>
                      </a:pPr>
                      <a:r>
                        <a:rPr lang="en-US" sz="1800" kern="100">
                          <a:latin typeface="+mj-lt"/>
                          <a:ea typeface="맑은 고딕"/>
                          <a:cs typeface="Times New Roman"/>
                        </a:rPr>
                        <a:t>Configurable</a:t>
                      </a:r>
                      <a:endParaRPr lang="ko-KR" sz="1800" kern="100">
                        <a:latin typeface="+mj-lt"/>
                        <a:ea typeface="맑은 고딕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4B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latin typeface="+mj-lt"/>
                          <a:ea typeface="맑은 고딕"/>
                          <a:cs typeface="Times New Roman"/>
                        </a:rPr>
                        <a:t>Undefined instruction</a:t>
                      </a:r>
                      <a:endParaRPr lang="ko-KR" sz="1800" kern="100" dirty="0">
                        <a:latin typeface="+mj-lt"/>
                        <a:ea typeface="맑은 고딕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4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1878">
                <a:tc>
                  <a:txBody>
                    <a:bodyPr/>
                    <a:lstStyle/>
                    <a:p>
                      <a:pPr algn="l" latinLnBrk="1">
                        <a:spcAft>
                          <a:spcPts val="0"/>
                        </a:spcAft>
                      </a:pPr>
                      <a:r>
                        <a:rPr lang="en-US" sz="1800" kern="100">
                          <a:latin typeface="+mj-lt"/>
                          <a:ea typeface="맑은 고딕"/>
                          <a:cs typeface="Times New Roman"/>
                        </a:rPr>
                        <a:t>7~10</a:t>
                      </a:r>
                      <a:endParaRPr lang="ko-KR" sz="1800" kern="100">
                        <a:latin typeface="+mj-lt"/>
                        <a:ea typeface="맑은 고딕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4B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Aft>
                          <a:spcPts val="0"/>
                        </a:spcAft>
                      </a:pPr>
                      <a:r>
                        <a:rPr lang="en-US" sz="1800" b="1" kern="100">
                          <a:latin typeface="+mj-lt"/>
                          <a:ea typeface="맑은 고딕"/>
                          <a:cs typeface="Times New Roman"/>
                        </a:rPr>
                        <a:t>-</a:t>
                      </a:r>
                      <a:endParaRPr lang="ko-KR" sz="1800" kern="100">
                        <a:latin typeface="+mj-lt"/>
                        <a:ea typeface="맑은 고딕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4B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Aft>
                          <a:spcPts val="0"/>
                        </a:spcAft>
                      </a:pPr>
                      <a:r>
                        <a:rPr lang="en-US" sz="1800" kern="100">
                          <a:latin typeface="+mj-lt"/>
                          <a:ea typeface="맑은 고딕"/>
                          <a:cs typeface="Times New Roman"/>
                        </a:rPr>
                        <a:t>-</a:t>
                      </a:r>
                      <a:endParaRPr lang="ko-KR" sz="1800" kern="100">
                        <a:latin typeface="+mj-lt"/>
                        <a:ea typeface="맑은 고딕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4B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latin typeface="+mj-lt"/>
                          <a:ea typeface="맑은 고딕"/>
                          <a:cs typeface="Times New Roman"/>
                        </a:rPr>
                        <a:t>Reserved</a:t>
                      </a:r>
                      <a:endParaRPr lang="ko-KR" sz="1800" kern="100" dirty="0">
                        <a:latin typeface="+mj-lt"/>
                        <a:ea typeface="맑은 고딕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4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1878">
                <a:tc>
                  <a:txBody>
                    <a:bodyPr/>
                    <a:lstStyle/>
                    <a:p>
                      <a:pPr algn="l" latinLnBrk="1">
                        <a:spcAft>
                          <a:spcPts val="0"/>
                        </a:spcAft>
                      </a:pPr>
                      <a:r>
                        <a:rPr lang="en-US" sz="1800" kern="100">
                          <a:latin typeface="+mj-lt"/>
                          <a:ea typeface="맑은 고딕"/>
                          <a:cs typeface="Times New Roman"/>
                        </a:rPr>
                        <a:t>11</a:t>
                      </a:r>
                      <a:endParaRPr lang="ko-KR" sz="1800" kern="100">
                        <a:latin typeface="+mj-lt"/>
                        <a:ea typeface="맑은 고딕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4B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Aft>
                          <a:spcPts val="0"/>
                        </a:spcAft>
                      </a:pPr>
                      <a:r>
                        <a:rPr lang="en-US" sz="1800" b="1" kern="100">
                          <a:latin typeface="+mj-lt"/>
                          <a:ea typeface="맑은 고딕"/>
                          <a:cs typeface="Times New Roman"/>
                        </a:rPr>
                        <a:t>SVCall</a:t>
                      </a:r>
                      <a:endParaRPr lang="ko-KR" sz="1800" kern="100">
                        <a:latin typeface="+mj-lt"/>
                        <a:ea typeface="맑은 고딕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4B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Aft>
                          <a:spcPts val="0"/>
                        </a:spcAft>
                      </a:pPr>
                      <a:r>
                        <a:rPr lang="en-US" sz="1800" kern="100">
                          <a:latin typeface="+mj-lt"/>
                          <a:ea typeface="맑은 고딕"/>
                          <a:cs typeface="Times New Roman"/>
                        </a:rPr>
                        <a:t>Configurable</a:t>
                      </a:r>
                      <a:endParaRPr lang="ko-KR" sz="1800" kern="100">
                        <a:latin typeface="+mj-lt"/>
                        <a:ea typeface="맑은 고딕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4B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latin typeface="+mj-lt"/>
                          <a:ea typeface="맑은 고딕"/>
                          <a:cs typeface="Times New Roman"/>
                        </a:rPr>
                        <a:t>System service </a:t>
                      </a:r>
                      <a:r>
                        <a:rPr lang="ko-KR" sz="1800" kern="100" dirty="0">
                          <a:latin typeface="+mj-lt"/>
                          <a:ea typeface="맑은 고딕"/>
                          <a:cs typeface="Times New Roman"/>
                        </a:rPr>
                        <a:t>호출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4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41878">
                <a:tc>
                  <a:txBody>
                    <a:bodyPr/>
                    <a:lstStyle/>
                    <a:p>
                      <a:pPr algn="l" latinLnBrk="1">
                        <a:spcAft>
                          <a:spcPts val="0"/>
                        </a:spcAft>
                      </a:pPr>
                      <a:r>
                        <a:rPr lang="en-US" sz="1800" kern="100">
                          <a:latin typeface="+mj-lt"/>
                          <a:ea typeface="맑은 고딕"/>
                          <a:cs typeface="Times New Roman"/>
                        </a:rPr>
                        <a:t>12</a:t>
                      </a:r>
                      <a:endParaRPr lang="ko-KR" sz="1800" kern="100">
                        <a:latin typeface="+mj-lt"/>
                        <a:ea typeface="맑은 고딕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4B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Aft>
                          <a:spcPts val="0"/>
                        </a:spcAft>
                      </a:pPr>
                      <a:r>
                        <a:rPr lang="en-US" sz="1800" b="1" kern="100">
                          <a:latin typeface="+mj-lt"/>
                          <a:ea typeface="맑은 고딕"/>
                          <a:cs typeface="Times New Roman"/>
                        </a:rPr>
                        <a:t>Debug Monitor</a:t>
                      </a:r>
                      <a:endParaRPr lang="ko-KR" sz="1800" kern="100">
                        <a:latin typeface="+mj-lt"/>
                        <a:ea typeface="맑은 고딕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4B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Aft>
                          <a:spcPts val="0"/>
                        </a:spcAft>
                      </a:pPr>
                      <a:r>
                        <a:rPr lang="en-US" sz="1800" kern="100">
                          <a:latin typeface="+mj-lt"/>
                          <a:ea typeface="맑은 고딕"/>
                          <a:cs typeface="Times New Roman"/>
                        </a:rPr>
                        <a:t>Configurable</a:t>
                      </a:r>
                      <a:endParaRPr lang="ko-KR" sz="1800" kern="100">
                        <a:latin typeface="+mj-lt"/>
                        <a:ea typeface="맑은 고딕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4B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latin typeface="+mj-lt"/>
                          <a:ea typeface="맑은 고딕"/>
                          <a:cs typeface="Times New Roman"/>
                        </a:rPr>
                        <a:t>not halting Debug monitor</a:t>
                      </a:r>
                      <a:endParaRPr lang="ko-KR" sz="1800" kern="100" dirty="0">
                        <a:latin typeface="+mj-lt"/>
                        <a:ea typeface="맑은 고딕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4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41878">
                <a:tc>
                  <a:txBody>
                    <a:bodyPr/>
                    <a:lstStyle/>
                    <a:p>
                      <a:pPr algn="l" latinLnBrk="1">
                        <a:spcAft>
                          <a:spcPts val="0"/>
                        </a:spcAft>
                      </a:pPr>
                      <a:r>
                        <a:rPr lang="en-US" sz="1800" kern="100">
                          <a:latin typeface="+mj-lt"/>
                          <a:ea typeface="맑은 고딕"/>
                          <a:cs typeface="Times New Roman"/>
                        </a:rPr>
                        <a:t>13</a:t>
                      </a:r>
                      <a:endParaRPr lang="ko-KR" sz="1800" kern="100">
                        <a:latin typeface="+mj-lt"/>
                        <a:ea typeface="맑은 고딕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4B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Aft>
                          <a:spcPts val="0"/>
                        </a:spcAft>
                      </a:pPr>
                      <a:r>
                        <a:rPr lang="en-US" sz="1800" b="1" kern="100">
                          <a:latin typeface="+mj-lt"/>
                          <a:ea typeface="맑은 고딕"/>
                          <a:cs typeface="Times New Roman"/>
                        </a:rPr>
                        <a:t>-</a:t>
                      </a:r>
                      <a:endParaRPr lang="ko-KR" sz="1800" kern="100">
                        <a:latin typeface="+mj-lt"/>
                        <a:ea typeface="맑은 고딕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4B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Aft>
                          <a:spcPts val="0"/>
                        </a:spcAft>
                      </a:pPr>
                      <a:r>
                        <a:rPr lang="en-US" sz="1800" kern="100">
                          <a:latin typeface="+mj-lt"/>
                          <a:ea typeface="맑은 고딕"/>
                          <a:cs typeface="Times New Roman"/>
                        </a:rPr>
                        <a:t>-</a:t>
                      </a:r>
                      <a:endParaRPr lang="ko-KR" sz="1800" kern="100">
                        <a:latin typeface="+mj-lt"/>
                        <a:ea typeface="맑은 고딕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4B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latin typeface="+mj-lt"/>
                          <a:ea typeface="맑은 고딕"/>
                          <a:cs typeface="Times New Roman"/>
                        </a:rPr>
                        <a:t>Reserved</a:t>
                      </a:r>
                      <a:endParaRPr lang="ko-KR" sz="1800" kern="100" dirty="0">
                        <a:latin typeface="+mj-lt"/>
                        <a:ea typeface="맑은 고딕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4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41878">
                <a:tc>
                  <a:txBody>
                    <a:bodyPr/>
                    <a:lstStyle/>
                    <a:p>
                      <a:pPr algn="l" latinLnBrk="1">
                        <a:spcAft>
                          <a:spcPts val="0"/>
                        </a:spcAft>
                      </a:pPr>
                      <a:r>
                        <a:rPr lang="en-US" sz="1800" kern="100">
                          <a:latin typeface="+mj-lt"/>
                          <a:ea typeface="맑은 고딕"/>
                          <a:cs typeface="Times New Roman"/>
                        </a:rPr>
                        <a:t>14</a:t>
                      </a:r>
                      <a:endParaRPr lang="ko-KR" sz="1800" kern="100">
                        <a:latin typeface="+mj-lt"/>
                        <a:ea typeface="맑은 고딕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4B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Aft>
                          <a:spcPts val="0"/>
                        </a:spcAft>
                      </a:pPr>
                      <a:r>
                        <a:rPr lang="en-US" sz="1800" b="1" kern="100">
                          <a:latin typeface="+mj-lt"/>
                          <a:ea typeface="맑은 고딕"/>
                          <a:cs typeface="Times New Roman"/>
                        </a:rPr>
                        <a:t>PendSV</a:t>
                      </a:r>
                      <a:endParaRPr lang="ko-KR" sz="1800" kern="100">
                        <a:latin typeface="+mj-lt"/>
                        <a:ea typeface="맑은 고딕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4B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Aft>
                          <a:spcPts val="0"/>
                        </a:spcAft>
                      </a:pPr>
                      <a:r>
                        <a:rPr lang="en-US" sz="1800" kern="100">
                          <a:latin typeface="+mj-lt"/>
                          <a:ea typeface="맑은 고딕"/>
                          <a:cs typeface="Times New Roman"/>
                        </a:rPr>
                        <a:t>Configurable</a:t>
                      </a:r>
                      <a:endParaRPr lang="ko-KR" sz="1800" kern="100">
                        <a:latin typeface="+mj-lt"/>
                        <a:ea typeface="맑은 고딕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4B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latin typeface="+mj-lt"/>
                          <a:ea typeface="맑은 고딕"/>
                          <a:cs typeface="Times New Roman"/>
                        </a:rPr>
                        <a:t>Pendable request</a:t>
                      </a:r>
                      <a:endParaRPr lang="ko-KR" sz="1800" kern="100" dirty="0">
                        <a:latin typeface="+mj-lt"/>
                        <a:ea typeface="맑은 고딕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4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41878">
                <a:tc>
                  <a:txBody>
                    <a:bodyPr/>
                    <a:lstStyle/>
                    <a:p>
                      <a:pPr algn="l" latinLnBrk="1">
                        <a:spcAft>
                          <a:spcPts val="0"/>
                        </a:spcAft>
                      </a:pPr>
                      <a:r>
                        <a:rPr lang="en-US" sz="1800" kern="100">
                          <a:latin typeface="+mj-lt"/>
                          <a:ea typeface="맑은 고딕"/>
                          <a:cs typeface="Times New Roman"/>
                        </a:rPr>
                        <a:t>15</a:t>
                      </a:r>
                      <a:endParaRPr lang="ko-KR" sz="1800" kern="100">
                        <a:latin typeface="+mj-lt"/>
                        <a:ea typeface="맑은 고딕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4B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Aft>
                          <a:spcPts val="0"/>
                        </a:spcAft>
                      </a:pPr>
                      <a:r>
                        <a:rPr lang="en-US" sz="1800" b="1" kern="100">
                          <a:latin typeface="+mj-lt"/>
                          <a:ea typeface="맑은 고딕"/>
                          <a:cs typeface="Times New Roman"/>
                        </a:rPr>
                        <a:t>SysTick</a:t>
                      </a:r>
                      <a:endParaRPr lang="ko-KR" sz="1800" kern="100">
                        <a:latin typeface="+mj-lt"/>
                        <a:ea typeface="맑은 고딕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4B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Aft>
                          <a:spcPts val="0"/>
                        </a:spcAft>
                      </a:pPr>
                      <a:r>
                        <a:rPr lang="en-US" sz="1800" kern="100">
                          <a:latin typeface="+mj-lt"/>
                          <a:ea typeface="맑은 고딕"/>
                          <a:cs typeface="Times New Roman"/>
                        </a:rPr>
                        <a:t>Configurable</a:t>
                      </a:r>
                      <a:endParaRPr lang="ko-KR" sz="1800" kern="100">
                        <a:latin typeface="+mj-lt"/>
                        <a:ea typeface="맑은 고딕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4B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latin typeface="+mj-lt"/>
                          <a:ea typeface="맑은 고딕"/>
                          <a:cs typeface="Times New Roman"/>
                        </a:rPr>
                        <a:t>System tick timer.</a:t>
                      </a:r>
                      <a:endParaRPr lang="ko-KR" sz="1800" kern="100" dirty="0">
                        <a:latin typeface="+mj-lt"/>
                        <a:ea typeface="맑은 고딕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4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41878">
                <a:tc>
                  <a:txBody>
                    <a:bodyPr/>
                    <a:lstStyle/>
                    <a:p>
                      <a:pPr algn="l" latinLnBrk="1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latin typeface="+mj-lt"/>
                          <a:ea typeface="맑은 고딕"/>
                          <a:cs typeface="Times New Roman"/>
                        </a:rPr>
                        <a:t>16~</a:t>
                      </a:r>
                    </a:p>
                    <a:p>
                      <a:pPr algn="l" latinLnBrk="1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latin typeface="+mj-lt"/>
                          <a:ea typeface="맑은 고딕"/>
                          <a:cs typeface="Times New Roman"/>
                        </a:rPr>
                        <a:t>255</a:t>
                      </a:r>
                      <a:endParaRPr lang="ko-KR" sz="1800" kern="100" dirty="0">
                        <a:latin typeface="+mj-lt"/>
                        <a:ea typeface="맑은 고딕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4B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Aft>
                          <a:spcPts val="0"/>
                        </a:spcAft>
                      </a:pPr>
                      <a:r>
                        <a:rPr lang="en-US" sz="1800" b="1" kern="100">
                          <a:latin typeface="+mj-lt"/>
                          <a:ea typeface="맑은 고딕"/>
                          <a:cs typeface="Times New Roman"/>
                        </a:rPr>
                        <a:t>External Interrupt</a:t>
                      </a:r>
                      <a:endParaRPr lang="ko-KR" sz="1800" kern="100">
                        <a:latin typeface="+mj-lt"/>
                        <a:ea typeface="맑은 고딕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4B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Aft>
                          <a:spcPts val="0"/>
                        </a:spcAft>
                      </a:pPr>
                      <a:r>
                        <a:rPr lang="en-US" sz="1800" kern="100">
                          <a:latin typeface="+mj-lt"/>
                          <a:ea typeface="맑은 고딕"/>
                          <a:cs typeface="Times New Roman"/>
                        </a:rPr>
                        <a:t>Configurable</a:t>
                      </a:r>
                      <a:endParaRPr lang="ko-KR" sz="1800" kern="100">
                        <a:latin typeface="+mj-lt"/>
                        <a:ea typeface="맑은 고딕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4B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latin typeface="+mj-lt"/>
                          <a:ea typeface="맑은 고딕"/>
                          <a:cs typeface="Times New Roman"/>
                        </a:rPr>
                        <a:t>core </a:t>
                      </a:r>
                      <a:r>
                        <a:rPr lang="ko-KR" sz="1800" kern="100" dirty="0">
                          <a:latin typeface="+mj-lt"/>
                          <a:ea typeface="맑은 고딕"/>
                          <a:cs typeface="Times New Roman"/>
                        </a:rPr>
                        <a:t>밖 외부</a:t>
                      </a:r>
                      <a:r>
                        <a:rPr lang="en-US" sz="1800" kern="100" dirty="0">
                          <a:latin typeface="+mj-lt"/>
                          <a:ea typeface="맑은 고딕"/>
                          <a:cs typeface="Times New Roman"/>
                        </a:rPr>
                        <a:t> interrupt (0~239)</a:t>
                      </a:r>
                      <a:endParaRPr lang="ko-KR" sz="1800" kern="100" dirty="0">
                        <a:latin typeface="+mj-lt"/>
                        <a:ea typeface="맑은 고딕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4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pre-emption</a:t>
            </a:r>
            <a:r>
              <a:rPr lang="ko-KR" altLang="en-US" dirty="0"/>
              <a:t> 상태 </a:t>
            </a:r>
            <a:r>
              <a:rPr lang="en-US" altLang="ko-KR" dirty="0"/>
              <a:t>stack</a:t>
            </a:r>
            <a:r>
              <a:rPr lang="ko-KR" altLang="en-US" dirty="0"/>
              <a:t> 변화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177800" y="3286124"/>
            <a:ext cx="8858250" cy="3143272"/>
          </a:xfrm>
        </p:spPr>
        <p:txBody>
          <a:bodyPr/>
          <a:lstStyle/>
          <a:p>
            <a:r>
              <a:rPr lang="en-US" altLang="ko-KR" dirty="0"/>
              <a:t>interrupt</a:t>
            </a:r>
            <a:r>
              <a:rPr lang="ko-KR" altLang="en-US" dirty="0"/>
              <a:t> 발생시 </a:t>
            </a:r>
            <a:r>
              <a:rPr lang="en-US" altLang="ko-KR" dirty="0"/>
              <a:t>CPU</a:t>
            </a:r>
            <a:r>
              <a:rPr lang="ko-KR" altLang="en-US" dirty="0"/>
              <a:t>는 </a:t>
            </a:r>
            <a:r>
              <a:rPr lang="ko-KR" altLang="en-US" b="1" u="sng" dirty="0">
                <a:solidFill>
                  <a:srgbClr val="0000FF"/>
                </a:solidFill>
              </a:rPr>
              <a:t>자동으로 </a:t>
            </a:r>
            <a:r>
              <a:rPr lang="en-US" altLang="ko-KR" b="1" u="sng" dirty="0">
                <a:solidFill>
                  <a:srgbClr val="0000FF"/>
                </a:solidFill>
              </a:rPr>
              <a:t>processor</a:t>
            </a:r>
            <a:r>
              <a:rPr lang="ko-KR" altLang="en-US" b="1" u="sng" dirty="0">
                <a:solidFill>
                  <a:srgbClr val="0000FF"/>
                </a:solidFill>
              </a:rPr>
              <a:t>의 상태를 </a:t>
            </a:r>
            <a:r>
              <a:rPr lang="en-US" altLang="ko-KR" b="1" u="sng" dirty="0">
                <a:solidFill>
                  <a:srgbClr val="0000FF"/>
                </a:solidFill>
              </a:rPr>
              <a:t>exception</a:t>
            </a:r>
            <a:r>
              <a:rPr lang="ko-KR" altLang="en-US" b="1" u="sng" dirty="0">
                <a:solidFill>
                  <a:srgbClr val="0000FF"/>
                </a:solidFill>
              </a:rPr>
              <a:t>의 </a:t>
            </a:r>
            <a:r>
              <a:rPr lang="en-US" altLang="ko-KR" b="1" u="sng" dirty="0">
                <a:solidFill>
                  <a:srgbClr val="0000FF"/>
                </a:solidFill>
              </a:rPr>
              <a:t>stack</a:t>
            </a:r>
            <a:r>
              <a:rPr lang="ko-KR" altLang="en-US" b="1" u="sng" dirty="0">
                <a:solidFill>
                  <a:srgbClr val="0000FF"/>
                </a:solidFill>
              </a:rPr>
              <a:t>에 저장</a:t>
            </a:r>
            <a:r>
              <a:rPr lang="ko-KR" altLang="en-US" dirty="0"/>
              <a:t>하고 빠져 나올 때 </a:t>
            </a:r>
            <a:r>
              <a:rPr lang="en-US" altLang="ko-KR" dirty="0"/>
              <a:t>Interrupt Service Routine (ISR)</a:t>
            </a:r>
            <a:r>
              <a:rPr lang="ko-KR" altLang="en-US" dirty="0"/>
              <a:t>의 끝에서 복구를 시켜준다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여기에 저장되는 레지스터들은 </a:t>
            </a:r>
            <a:r>
              <a:rPr lang="en-US" altLang="ko-KR" b="1" u="sng" dirty="0">
                <a:solidFill>
                  <a:srgbClr val="C00000"/>
                </a:solidFill>
              </a:rPr>
              <a:t>R0-3, R12, LR, PSR, PC </a:t>
            </a:r>
            <a:r>
              <a:rPr lang="ko-KR" altLang="en-US" dirty="0"/>
              <a:t>등이다</a:t>
            </a:r>
            <a:r>
              <a:rPr lang="en-US" altLang="ko-KR" dirty="0"/>
              <a:t>.</a:t>
            </a:r>
          </a:p>
          <a:p>
            <a:r>
              <a:rPr lang="ko-KR" altLang="en-US" b="1" u="sng" dirty="0"/>
              <a:t>자동 처리</a:t>
            </a:r>
            <a:r>
              <a:rPr lang="ko-KR" altLang="en-US" dirty="0"/>
              <a:t>로 인해서 </a:t>
            </a:r>
            <a:r>
              <a:rPr lang="en-US" altLang="ko-KR" dirty="0"/>
              <a:t>general</a:t>
            </a:r>
            <a:r>
              <a:rPr lang="ko-KR" altLang="en-US" dirty="0"/>
              <a:t>한 </a:t>
            </a:r>
            <a:r>
              <a:rPr lang="en-US" altLang="ko-KR" dirty="0"/>
              <a:t>C </a:t>
            </a:r>
            <a:r>
              <a:rPr lang="ko-KR" altLang="en-US" dirty="0"/>
              <a:t>함수를 </a:t>
            </a:r>
            <a:r>
              <a:rPr lang="en-US" altLang="ko-KR" dirty="0"/>
              <a:t>interrupt handler</a:t>
            </a:r>
            <a:r>
              <a:rPr lang="ko-KR" altLang="en-US" dirty="0"/>
              <a:t>로 쉽게 </a:t>
            </a:r>
            <a:r>
              <a:rPr lang="ko-KR" altLang="en-US" dirty="0" err="1"/>
              <a:t>사용할수</a:t>
            </a:r>
            <a:r>
              <a:rPr lang="ko-KR" altLang="en-US" dirty="0"/>
              <a:t> 있고</a:t>
            </a:r>
            <a:r>
              <a:rPr lang="en-US" altLang="ko-KR" dirty="0"/>
              <a:t>,</a:t>
            </a:r>
            <a:r>
              <a:rPr lang="ko-KR" altLang="en-US" dirty="0"/>
              <a:t> </a:t>
            </a:r>
            <a:r>
              <a:rPr lang="en-US" altLang="ko-KR" dirty="0"/>
              <a:t>IRQ </a:t>
            </a:r>
            <a:r>
              <a:rPr lang="ko-KR" altLang="en-US" dirty="0"/>
              <a:t>지연 시간도 줄어든다</a:t>
            </a:r>
            <a:r>
              <a:rPr lang="en-US" altLang="ko-KR" dirty="0"/>
              <a:t>. (</a:t>
            </a:r>
            <a:r>
              <a:rPr lang="ko-KR" altLang="en-US" dirty="0"/>
              <a:t>특별한 어셈블리 분기 </a:t>
            </a:r>
            <a:r>
              <a:rPr lang="en-US" altLang="ko-KR" dirty="0"/>
              <a:t>stub</a:t>
            </a:r>
            <a:r>
              <a:rPr lang="ko-KR" altLang="en-US" dirty="0"/>
              <a:t>을 만들 필요가 적고</a:t>
            </a:r>
            <a:r>
              <a:rPr lang="en-US" altLang="ko-KR" dirty="0"/>
              <a:t>, C</a:t>
            </a:r>
            <a:r>
              <a:rPr lang="ko-KR" altLang="en-US" dirty="0"/>
              <a:t>로 정의한 함수 심볼 주소를 그대로 사용하기 편하다</a:t>
            </a:r>
            <a:r>
              <a:rPr lang="en-US" altLang="ko-KR" dirty="0"/>
              <a:t>)</a:t>
            </a:r>
          </a:p>
          <a:p>
            <a:r>
              <a:rPr lang="en-US" altLang="ko-KR" dirty="0"/>
              <a:t>pre-emption</a:t>
            </a:r>
            <a:r>
              <a:rPr lang="ko-KR" altLang="en-US" dirty="0"/>
              <a:t>이 일어난 상태에서의 </a:t>
            </a:r>
            <a:r>
              <a:rPr lang="en-US" altLang="ko-KR" dirty="0"/>
              <a:t>stack</a:t>
            </a:r>
            <a:r>
              <a:rPr lang="ko-KR" altLang="en-US" dirty="0"/>
              <a:t>의 변화 모양은 위 그림</a:t>
            </a:r>
            <a:r>
              <a:rPr lang="en-US" altLang="ko-KR" dirty="0"/>
              <a:t>. xPSR</a:t>
            </a:r>
            <a:r>
              <a:rPr lang="ko-KR" altLang="en-US" dirty="0"/>
              <a:t>부터 시작해서 </a:t>
            </a:r>
            <a:r>
              <a:rPr lang="en-US" altLang="ko-KR" dirty="0"/>
              <a:t>8</a:t>
            </a:r>
            <a:r>
              <a:rPr lang="ko-KR" altLang="en-US" dirty="0"/>
              <a:t>개의 레지스터가 차례로 저장되어 있는 모습</a:t>
            </a:r>
          </a:p>
        </p:txBody>
      </p:sp>
      <p:pic>
        <p:nvPicPr>
          <p:cNvPr id="4" name="그림 3" descr="Snap2.jp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28662" y="828676"/>
            <a:ext cx="3286148" cy="238601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STM32</a:t>
            </a:r>
            <a:r>
              <a:rPr lang="ko-KR" altLang="en-US" dirty="0"/>
              <a:t> </a:t>
            </a:r>
            <a:r>
              <a:rPr lang="en-US" altLang="ko-KR" dirty="0"/>
              <a:t>Vector table</a:t>
            </a:r>
            <a:endParaRPr lang="ko-KR" altLang="en-US" dirty="0"/>
          </a:p>
        </p:txBody>
      </p:sp>
      <p:pic>
        <p:nvPicPr>
          <p:cNvPr id="4" name="그림 3" descr="Snap1.jp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28662" y="757214"/>
            <a:ext cx="5786478" cy="569871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EXTI </a:t>
            </a:r>
            <a:r>
              <a:rPr lang="ko-KR" altLang="en-US" dirty="0"/>
              <a:t>설정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F73618DF-1252-1E51-1D39-A4C2B53EF3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800" y="727819"/>
            <a:ext cx="1873920" cy="1977642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64D562F9-8E35-1A4B-4DED-87ACA5EBB3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5696" y="1716640"/>
            <a:ext cx="7130504" cy="4543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30181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EXTI </a:t>
            </a:r>
            <a:r>
              <a:rPr lang="ko-KR" altLang="en-US" dirty="0"/>
              <a:t>설정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9DE1DD08-724B-F5E4-C87A-7452052C4C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536" y="1340768"/>
            <a:ext cx="7761905" cy="3047619"/>
          </a:xfrm>
          <a:prstGeom prst="rect">
            <a:avLst/>
          </a:prstGeom>
        </p:spPr>
      </p:pic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317EE9C4-C769-5CF5-6B69-DCAFDB5A64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7800" y="785793"/>
            <a:ext cx="8858250" cy="5643603"/>
          </a:xfrm>
        </p:spPr>
        <p:txBody>
          <a:bodyPr/>
          <a:lstStyle/>
          <a:p>
            <a:r>
              <a:rPr lang="en-US" altLang="ko-KR" dirty="0"/>
              <a:t>NVIC interrupts enable</a:t>
            </a:r>
          </a:p>
        </p:txBody>
      </p:sp>
    </p:spTree>
    <p:extLst>
      <p:ext uri="{BB962C8B-B14F-4D97-AF65-F5344CB8AC3E}">
        <p14:creationId xmlns:p14="http://schemas.microsoft.com/office/powerpoint/2010/main" val="14870769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EXTI </a:t>
            </a:r>
            <a:r>
              <a:rPr lang="ko-KR" altLang="en-US" dirty="0"/>
              <a:t>설정</a:t>
            </a:r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317EE9C4-C769-5CF5-6B69-DCAFDB5A64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7800" y="785793"/>
            <a:ext cx="8858250" cy="5643603"/>
          </a:xfrm>
        </p:spPr>
        <p:txBody>
          <a:bodyPr/>
          <a:lstStyle/>
          <a:p>
            <a:r>
              <a:rPr lang="en-US" altLang="ko-KR" dirty="0"/>
              <a:t>NVIC interrupts code generation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EB17F36C-6862-A9DD-6AD5-47881C2DF3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353" y="1245689"/>
            <a:ext cx="8257143" cy="4723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16087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External interrupt GPIO mapping</a:t>
            </a:r>
            <a:endParaRPr lang="ko-KR" altLang="en-US" dirty="0"/>
          </a:p>
        </p:txBody>
      </p:sp>
      <p:sp>
        <p:nvSpPr>
          <p:cNvPr id="23555" name="Rectangle 3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812055F-119E-3EDA-F017-F3AD7349D1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608" y="699888"/>
            <a:ext cx="5827413" cy="6004001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External interrupt</a:t>
            </a:r>
            <a:endParaRPr lang="ko-KR" altLang="en-US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1C49698E-EB86-E7F9-EB8F-98AC2CB358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800" y="1014420"/>
            <a:ext cx="8858250" cy="1678580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3D555A8E-1576-2FAA-CD53-10BD54239B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800" y="2780928"/>
            <a:ext cx="8858250" cy="390195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7D4974E5-6357-C62A-1260-849F986DCD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6592" y="3241854"/>
            <a:ext cx="8839458" cy="37349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External interrupt/event controller block diagram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93D4AC3-38C9-B5CE-C2ED-F89DB53AA8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4429" y="764704"/>
            <a:ext cx="7224841" cy="568863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NVIC_Configuration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177800" y="620688"/>
            <a:ext cx="8858250" cy="5643603"/>
          </a:xfrm>
        </p:spPr>
        <p:txBody>
          <a:bodyPr/>
          <a:lstStyle/>
          <a:p>
            <a:pPr>
              <a:buNone/>
            </a:pPr>
            <a:r>
              <a:rPr lang="en-US" altLang="ko-KR" sz="1600" dirty="0"/>
              <a:t>#define KEY1_EXTI_IRQn </a:t>
            </a:r>
            <a:r>
              <a:rPr lang="en-US" altLang="ko-KR" sz="1600" b="1" dirty="0"/>
              <a:t>EXTI9_5_IRQn</a:t>
            </a:r>
          </a:p>
          <a:p>
            <a:pPr>
              <a:buNone/>
            </a:pPr>
            <a:r>
              <a:rPr lang="en-US" altLang="ko-KR" sz="1600" dirty="0"/>
              <a:t>#define KEY2_EXTI_IRQn </a:t>
            </a:r>
            <a:r>
              <a:rPr lang="en-US" altLang="ko-KR" sz="1600" b="1" dirty="0"/>
              <a:t>EXTI15_10_IRQn</a:t>
            </a:r>
          </a:p>
          <a:p>
            <a:pPr>
              <a:buNone/>
            </a:pPr>
            <a:endParaRPr lang="en-US" altLang="ko-KR" sz="1600" dirty="0"/>
          </a:p>
          <a:p>
            <a:pPr>
              <a:buNone/>
            </a:pPr>
            <a:r>
              <a:rPr lang="en-US" altLang="ko-KR" sz="1600" dirty="0"/>
              <a:t>static void </a:t>
            </a:r>
            <a:r>
              <a:rPr lang="en-US" altLang="ko-KR" sz="1600" dirty="0" err="1"/>
              <a:t>MX_GPIO_Init</a:t>
            </a:r>
            <a:r>
              <a:rPr lang="en-US" altLang="ko-KR" sz="1600" dirty="0"/>
              <a:t>(void) {</a:t>
            </a:r>
          </a:p>
          <a:p>
            <a:pPr>
              <a:buNone/>
            </a:pPr>
            <a:r>
              <a:rPr lang="en-US" altLang="ko-KR" sz="1600" dirty="0"/>
              <a:t>… … … … … …</a:t>
            </a:r>
          </a:p>
          <a:p>
            <a:pPr>
              <a:buNone/>
            </a:pPr>
            <a:r>
              <a:rPr lang="en-US" altLang="ko-KR" sz="1600" dirty="0"/>
              <a:t>  /*Configure GPIO pins : KEY1_Pin KEY2_Pin */</a:t>
            </a:r>
          </a:p>
          <a:p>
            <a:pPr>
              <a:buNone/>
            </a:pPr>
            <a:r>
              <a:rPr lang="en-US" altLang="ko-KR" sz="1600" dirty="0"/>
              <a:t>  </a:t>
            </a:r>
            <a:r>
              <a:rPr lang="en-US" altLang="ko-KR" sz="1600" dirty="0" err="1"/>
              <a:t>GPIO_InitStruct.Pin</a:t>
            </a:r>
            <a:r>
              <a:rPr lang="en-US" altLang="ko-KR" sz="1600" dirty="0"/>
              <a:t> = KEY1_Pin|KEY2_Pin;</a:t>
            </a:r>
          </a:p>
          <a:p>
            <a:pPr>
              <a:buNone/>
            </a:pPr>
            <a:r>
              <a:rPr lang="en-US" altLang="ko-KR" sz="1600" dirty="0"/>
              <a:t>  </a:t>
            </a:r>
            <a:r>
              <a:rPr lang="en-US" altLang="ko-KR" sz="1600" dirty="0" err="1"/>
              <a:t>GPIO_InitStruct.Mode</a:t>
            </a:r>
            <a:r>
              <a:rPr lang="en-US" altLang="ko-KR" sz="1600" dirty="0"/>
              <a:t> = </a:t>
            </a:r>
            <a:r>
              <a:rPr lang="en-US" altLang="ko-KR" sz="1600" b="1" dirty="0">
                <a:solidFill>
                  <a:srgbClr val="0000FF"/>
                </a:solidFill>
              </a:rPr>
              <a:t>GPIO_MODE_IT_FALLING</a:t>
            </a:r>
            <a:r>
              <a:rPr lang="en-US" altLang="ko-KR" sz="1600" dirty="0"/>
              <a:t>;</a:t>
            </a:r>
          </a:p>
          <a:p>
            <a:pPr>
              <a:buNone/>
            </a:pPr>
            <a:r>
              <a:rPr lang="en-US" altLang="ko-KR" sz="1600" dirty="0"/>
              <a:t>  </a:t>
            </a:r>
            <a:r>
              <a:rPr lang="en-US" altLang="ko-KR" sz="1600" dirty="0" err="1"/>
              <a:t>GPIO_InitStruct.Pull</a:t>
            </a:r>
            <a:r>
              <a:rPr lang="en-US" altLang="ko-KR" sz="1600" dirty="0"/>
              <a:t> = GPIO_PULLUP;</a:t>
            </a:r>
          </a:p>
          <a:p>
            <a:pPr>
              <a:buNone/>
            </a:pPr>
            <a:r>
              <a:rPr lang="en-US" altLang="ko-KR" sz="1600" dirty="0"/>
              <a:t>  </a:t>
            </a:r>
            <a:r>
              <a:rPr lang="en-US" altLang="ko-KR" sz="1600" dirty="0" err="1"/>
              <a:t>HAL_GPIO_Init</a:t>
            </a:r>
            <a:r>
              <a:rPr lang="en-US" altLang="ko-KR" sz="1600" dirty="0"/>
              <a:t>(GPIOF, &amp;</a:t>
            </a:r>
            <a:r>
              <a:rPr lang="en-US" altLang="ko-KR" sz="1600" dirty="0" err="1"/>
              <a:t>GPIO_InitStruct</a:t>
            </a:r>
            <a:r>
              <a:rPr lang="en-US" altLang="ko-KR" sz="1600" dirty="0"/>
              <a:t>);</a:t>
            </a:r>
          </a:p>
          <a:p>
            <a:pPr>
              <a:buNone/>
            </a:pPr>
            <a:r>
              <a:rPr lang="en-US" altLang="ko-KR" sz="1600" dirty="0"/>
              <a:t>…</a:t>
            </a:r>
          </a:p>
          <a:p>
            <a:pPr>
              <a:buNone/>
            </a:pPr>
            <a:r>
              <a:rPr lang="en-US" altLang="ko-KR" sz="1600" dirty="0"/>
              <a:t>}</a:t>
            </a:r>
          </a:p>
          <a:p>
            <a:pPr>
              <a:buNone/>
            </a:pPr>
            <a:endParaRPr lang="en-US" altLang="ko-KR" sz="1600" dirty="0"/>
          </a:p>
          <a:p>
            <a:pPr>
              <a:buNone/>
            </a:pPr>
            <a:r>
              <a:rPr lang="en-US" altLang="ko-KR" sz="1600" dirty="0"/>
              <a:t>static void </a:t>
            </a:r>
            <a:r>
              <a:rPr lang="en-US" altLang="ko-KR" sz="1600" dirty="0" err="1"/>
              <a:t>MX_NVIC_Init</a:t>
            </a:r>
            <a:r>
              <a:rPr lang="en-US" altLang="ko-KR" sz="1600" dirty="0"/>
              <a:t>(void) {</a:t>
            </a:r>
          </a:p>
          <a:p>
            <a:pPr>
              <a:buNone/>
            </a:pPr>
            <a:r>
              <a:rPr lang="en-US" altLang="ko-KR" sz="1600" dirty="0"/>
              <a:t>  /* EXTI9_5_IRQn interrupt configuration */</a:t>
            </a:r>
          </a:p>
          <a:p>
            <a:pPr>
              <a:buNone/>
            </a:pPr>
            <a:r>
              <a:rPr lang="en-US" altLang="ko-KR" sz="1600" dirty="0"/>
              <a:t>  </a:t>
            </a:r>
            <a:r>
              <a:rPr lang="en-US" altLang="ko-KR" sz="1600" dirty="0" err="1"/>
              <a:t>HAL_NVIC_</a:t>
            </a:r>
            <a:r>
              <a:rPr lang="en-US" altLang="ko-KR" sz="1600" b="1" dirty="0" err="1"/>
              <a:t>SetPriority</a:t>
            </a:r>
            <a:r>
              <a:rPr lang="en-US" altLang="ko-KR" sz="1600" dirty="0"/>
              <a:t>(EXTI9_5_IRQn, 0, 0);</a:t>
            </a:r>
          </a:p>
          <a:p>
            <a:pPr>
              <a:buNone/>
            </a:pPr>
            <a:r>
              <a:rPr lang="en-US" altLang="ko-KR" sz="1600" dirty="0"/>
              <a:t>  </a:t>
            </a:r>
            <a:r>
              <a:rPr lang="en-US" altLang="ko-KR" sz="1600" dirty="0" err="1"/>
              <a:t>HAL_NVIC_</a:t>
            </a:r>
            <a:r>
              <a:rPr lang="en-US" altLang="ko-KR" sz="1600" b="1" dirty="0" err="1">
                <a:solidFill>
                  <a:srgbClr val="0000FF"/>
                </a:solidFill>
              </a:rPr>
              <a:t>EnableIRQ</a:t>
            </a:r>
            <a:r>
              <a:rPr lang="en-US" altLang="ko-KR" sz="1600" b="1" dirty="0">
                <a:solidFill>
                  <a:srgbClr val="0000FF"/>
                </a:solidFill>
              </a:rPr>
              <a:t>(EXTI9_5_IRQn</a:t>
            </a:r>
            <a:r>
              <a:rPr lang="en-US" altLang="ko-KR" sz="1600" dirty="0"/>
              <a:t>);</a:t>
            </a:r>
          </a:p>
          <a:p>
            <a:pPr>
              <a:buNone/>
            </a:pPr>
            <a:r>
              <a:rPr lang="en-US" altLang="ko-KR" sz="1600" dirty="0"/>
              <a:t>  /* EXTI15_10_IRQn interrupt configuration */</a:t>
            </a:r>
          </a:p>
          <a:p>
            <a:pPr>
              <a:buNone/>
            </a:pPr>
            <a:r>
              <a:rPr lang="en-US" altLang="ko-KR" sz="1600" dirty="0"/>
              <a:t>  </a:t>
            </a:r>
            <a:r>
              <a:rPr lang="en-US" altLang="ko-KR" sz="1600" dirty="0" err="1"/>
              <a:t>HAL_NVIC_</a:t>
            </a:r>
            <a:r>
              <a:rPr lang="en-US" altLang="ko-KR" sz="1600" b="1" dirty="0" err="1"/>
              <a:t>SetPriority</a:t>
            </a:r>
            <a:r>
              <a:rPr lang="en-US" altLang="ko-KR" sz="1600" dirty="0"/>
              <a:t>(EXTI15_10_IRQn, 0, 0);</a:t>
            </a:r>
          </a:p>
          <a:p>
            <a:pPr>
              <a:buNone/>
            </a:pPr>
            <a:r>
              <a:rPr lang="en-US" altLang="ko-KR" sz="1600" dirty="0"/>
              <a:t>  </a:t>
            </a:r>
            <a:r>
              <a:rPr lang="en-US" altLang="ko-KR" sz="1600" dirty="0" err="1"/>
              <a:t>HAL_NVIC_</a:t>
            </a:r>
            <a:r>
              <a:rPr lang="en-US" altLang="ko-KR" sz="1600" b="1" dirty="0" err="1">
                <a:solidFill>
                  <a:srgbClr val="0000FF"/>
                </a:solidFill>
              </a:rPr>
              <a:t>EnableIRQ</a:t>
            </a:r>
            <a:r>
              <a:rPr lang="en-US" altLang="ko-KR" sz="1600" b="1" dirty="0">
                <a:solidFill>
                  <a:srgbClr val="0000FF"/>
                </a:solidFill>
              </a:rPr>
              <a:t>(EXTI15_10_IRQn</a:t>
            </a:r>
            <a:r>
              <a:rPr lang="en-US" altLang="ko-KR" sz="1600" dirty="0"/>
              <a:t>);</a:t>
            </a:r>
          </a:p>
          <a:p>
            <a:pPr>
              <a:buNone/>
            </a:pPr>
            <a:r>
              <a:rPr lang="en-US" altLang="ko-KR" sz="1600" dirty="0"/>
              <a:t>}</a:t>
            </a:r>
          </a:p>
          <a:p>
            <a:pPr>
              <a:buNone/>
            </a:pPr>
            <a:endParaRPr lang="ko-KR" alt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EXTI </a:t>
            </a:r>
            <a:r>
              <a:rPr lang="en-US" altLang="ko-KR" dirty="0" err="1"/>
              <a:t>IRQHandler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altLang="ko-KR" sz="1800" dirty="0"/>
              <a:t>void EXTI9_5_IRQHandler(void)</a:t>
            </a:r>
          </a:p>
          <a:p>
            <a:pPr>
              <a:buNone/>
            </a:pPr>
            <a:r>
              <a:rPr lang="en-US" altLang="ko-KR" sz="1800" dirty="0"/>
              <a:t>{</a:t>
            </a:r>
          </a:p>
          <a:p>
            <a:pPr>
              <a:buNone/>
            </a:pPr>
            <a:r>
              <a:rPr lang="en-US" altLang="ko-KR" sz="1800" dirty="0"/>
              <a:t>  </a:t>
            </a:r>
            <a:r>
              <a:rPr lang="en-US" altLang="ko-KR" sz="1800" b="1" dirty="0" err="1"/>
              <a:t>HAL_GPIO_</a:t>
            </a:r>
            <a:r>
              <a:rPr lang="en-US" altLang="ko-KR" sz="1800" b="1" dirty="0" err="1">
                <a:solidFill>
                  <a:srgbClr val="0000FF"/>
                </a:solidFill>
              </a:rPr>
              <a:t>TogglePin</a:t>
            </a:r>
            <a:r>
              <a:rPr lang="en-US" altLang="ko-KR" sz="1800" b="1" dirty="0"/>
              <a:t>(LED1_GPIO_Port, LED1_Pin);</a:t>
            </a:r>
          </a:p>
          <a:p>
            <a:pPr>
              <a:buNone/>
            </a:pPr>
            <a:r>
              <a:rPr lang="en-US" altLang="ko-KR" sz="1800" dirty="0"/>
              <a:t>  </a:t>
            </a:r>
            <a:r>
              <a:rPr lang="en-US" altLang="ko-KR" sz="1800" dirty="0" err="1"/>
              <a:t>HAL_GPIO_EXTI_IRQHandler</a:t>
            </a:r>
            <a:r>
              <a:rPr lang="en-US" altLang="ko-KR" sz="1800" dirty="0"/>
              <a:t>(KEY1_Pin);</a:t>
            </a:r>
          </a:p>
          <a:p>
            <a:pPr>
              <a:buNone/>
            </a:pPr>
            <a:r>
              <a:rPr lang="en-US" altLang="ko-KR" sz="1800" dirty="0"/>
              <a:t>}</a:t>
            </a:r>
          </a:p>
          <a:p>
            <a:pPr>
              <a:buNone/>
            </a:pPr>
            <a:endParaRPr lang="en-US" altLang="ko-KR" sz="1800" dirty="0"/>
          </a:p>
          <a:p>
            <a:pPr>
              <a:buNone/>
            </a:pPr>
            <a:r>
              <a:rPr lang="en-US" altLang="ko-KR" sz="1800" dirty="0"/>
              <a:t>void EXTI15_10_IRQHandler(void)</a:t>
            </a:r>
          </a:p>
          <a:p>
            <a:pPr>
              <a:buNone/>
            </a:pPr>
            <a:r>
              <a:rPr lang="en-US" altLang="ko-KR" sz="1800" dirty="0"/>
              <a:t>{</a:t>
            </a:r>
          </a:p>
          <a:p>
            <a:pPr>
              <a:buNone/>
            </a:pPr>
            <a:r>
              <a:rPr lang="en-US" altLang="ko-KR" sz="1800" dirty="0"/>
              <a:t>  </a:t>
            </a:r>
            <a:r>
              <a:rPr lang="en-US" altLang="ko-KR" sz="1800" b="1" dirty="0" err="1"/>
              <a:t>HAL_GPIO_</a:t>
            </a:r>
            <a:r>
              <a:rPr lang="en-US" altLang="ko-KR" sz="1800" b="1" dirty="0" err="1">
                <a:solidFill>
                  <a:srgbClr val="0000FF"/>
                </a:solidFill>
              </a:rPr>
              <a:t>TogglePin</a:t>
            </a:r>
            <a:r>
              <a:rPr lang="en-US" altLang="ko-KR" sz="1800" b="1" dirty="0"/>
              <a:t>(LED2_GPIO_Port, LED2_Pin);</a:t>
            </a:r>
          </a:p>
          <a:p>
            <a:pPr>
              <a:buNone/>
            </a:pPr>
            <a:r>
              <a:rPr lang="en-US" altLang="ko-KR" sz="1800" dirty="0"/>
              <a:t>  </a:t>
            </a:r>
            <a:r>
              <a:rPr lang="en-US" altLang="ko-KR" sz="1800" dirty="0" err="1"/>
              <a:t>HAL_GPIO_EXTI_IRQHandler</a:t>
            </a:r>
            <a:r>
              <a:rPr lang="en-US" altLang="ko-KR" sz="1800" dirty="0"/>
              <a:t>(KEY2_Pin);</a:t>
            </a:r>
          </a:p>
          <a:p>
            <a:pPr>
              <a:buNone/>
            </a:pPr>
            <a:r>
              <a:rPr lang="en-US" altLang="ko-KR" sz="1800" dirty="0"/>
              <a:t>}</a:t>
            </a:r>
          </a:p>
          <a:p>
            <a:pPr>
              <a:buNone/>
            </a:pPr>
            <a:endParaRPr lang="ko-KR" altLang="en-US" sz="1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Interrupt Key Test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177800" y="785793"/>
            <a:ext cx="8858250" cy="5643603"/>
          </a:xfrm>
        </p:spPr>
        <p:txBody>
          <a:bodyPr/>
          <a:lstStyle/>
          <a:p>
            <a:r>
              <a:rPr lang="ko-KR" altLang="en-US" dirty="0"/>
              <a:t>처음에 모든 </a:t>
            </a:r>
            <a:r>
              <a:rPr lang="en-US" altLang="ko-KR" dirty="0"/>
              <a:t>LED On</a:t>
            </a:r>
          </a:p>
          <a:p>
            <a:r>
              <a:rPr lang="ko-KR" altLang="en-US" dirty="0"/>
              <a:t>화면에 계속 문자열 출력</a:t>
            </a:r>
            <a:endParaRPr lang="en-US" altLang="ko-KR" dirty="0"/>
          </a:p>
          <a:p>
            <a:r>
              <a:rPr lang="en-US" altLang="ko-KR" dirty="0"/>
              <a:t>Key1</a:t>
            </a:r>
            <a:r>
              <a:rPr lang="ko-KR" altLang="en-US" dirty="0"/>
              <a:t>을 누르면 </a:t>
            </a:r>
            <a:r>
              <a:rPr lang="en-US" altLang="ko-KR" dirty="0"/>
              <a:t>LED1 Toggle</a:t>
            </a:r>
          </a:p>
          <a:p>
            <a:r>
              <a:rPr lang="en-US" altLang="ko-KR" dirty="0"/>
              <a:t>Key2</a:t>
            </a:r>
            <a:r>
              <a:rPr lang="ko-KR" altLang="en-US" dirty="0"/>
              <a:t>을 누르면 </a:t>
            </a:r>
            <a:r>
              <a:rPr lang="en-US" altLang="ko-KR" dirty="0"/>
              <a:t>LED2 Toggle</a:t>
            </a:r>
          </a:p>
          <a:p>
            <a:endParaRPr lang="en-US" altLang="ko-KR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FDBD20E3-4A2A-CEE3-3128-C08C2096C4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576" y="2708920"/>
            <a:ext cx="2880320" cy="3512586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7A6AD06A-E442-7FC1-B00A-74781DE416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7632" y="785792"/>
            <a:ext cx="4049836" cy="5523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6146693"/>
      </p:ext>
    </p:extLst>
  </p:cSld>
  <p:clrMapOvr>
    <a:masterClrMapping/>
  </p:clrMapOvr>
</p:sld>
</file>

<file path=ppt/theme/theme1.xml><?xml version="1.0" encoding="utf-8"?>
<a:theme xmlns:a="http://schemas.openxmlformats.org/drawingml/2006/main" name="디자인 사용자 지정">
  <a:themeElements>
    <a:clrScheme name="디자인 사용자 지정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디자인 사용자 지정">
      <a:majorFont>
        <a:latin typeface="Tahoma"/>
        <a:ea typeface="굴림"/>
        <a:cs typeface=""/>
      </a:majorFont>
      <a:minorFont>
        <a:latin typeface="Tahoma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800" b="1" i="1" u="none" strike="noStrike" cap="none" normalizeH="0" baseline="0" smtClean="0">
            <a:ln>
              <a:noFill/>
            </a:ln>
            <a:solidFill>
              <a:srgbClr val="C0C0C0"/>
            </a:solidFill>
            <a:effectLst/>
            <a:latin typeface="Tahoma" pitchFamily="34" charset="0"/>
            <a:ea typeface="굴림" pitchFamily="50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800" b="1" i="1" u="none" strike="noStrike" cap="none" normalizeH="0" baseline="0" smtClean="0">
            <a:ln>
              <a:noFill/>
            </a:ln>
            <a:solidFill>
              <a:srgbClr val="C0C0C0"/>
            </a:solidFill>
            <a:effectLst/>
            <a:latin typeface="Tahoma" pitchFamily="34" charset="0"/>
            <a:ea typeface="굴림" pitchFamily="50" charset="-127"/>
          </a:defRPr>
        </a:defPPr>
      </a:lstStyle>
    </a:lnDef>
  </a:objectDefaults>
  <a:extraClrSchemeLst>
    <a:extraClrScheme>
      <a:clrScheme name="디자인 사용자 지정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17617</TotalTime>
  <Words>832</Words>
  <Application>Microsoft Office PowerPoint</Application>
  <PresentationFormat>화면 슬라이드 쇼(4:3)</PresentationFormat>
  <Paragraphs>149</Paragraphs>
  <Slides>17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17</vt:i4>
      </vt:variant>
    </vt:vector>
  </HeadingPairs>
  <TitlesOfParts>
    <vt:vector size="25" baseType="lpstr">
      <vt:lpstr>굴림</vt:lpstr>
      <vt:lpstr>Arial</vt:lpstr>
      <vt:lpstr>Century Gothic</vt:lpstr>
      <vt:lpstr>Tahoma</vt:lpstr>
      <vt:lpstr>Verdana</vt:lpstr>
      <vt:lpstr>Wingdings</vt:lpstr>
      <vt:lpstr>Wingdings 2</vt:lpstr>
      <vt:lpstr>디자인 사용자 지정</vt:lpstr>
      <vt:lpstr>Key Input &amp; Interrupt</vt:lpstr>
      <vt:lpstr>Key Button</vt:lpstr>
      <vt:lpstr>Key Button</vt:lpstr>
      <vt:lpstr>No Interrupt Key Test</vt:lpstr>
      <vt:lpstr>No Interrupt Key Test</vt:lpstr>
      <vt:lpstr>Exception 종류</vt:lpstr>
      <vt:lpstr>pre-emption 상태 stack 변화</vt:lpstr>
      <vt:lpstr>STM32 Vector table</vt:lpstr>
      <vt:lpstr>EXTI 설정</vt:lpstr>
      <vt:lpstr>EXTI 설정</vt:lpstr>
      <vt:lpstr>EXTI 설정</vt:lpstr>
      <vt:lpstr>External interrupt GPIO mapping</vt:lpstr>
      <vt:lpstr>External interrupt</vt:lpstr>
      <vt:lpstr>External interrupt/event controller block diagram</vt:lpstr>
      <vt:lpstr>NVIC_Configuration</vt:lpstr>
      <vt:lpstr>EXTI IRQHandler</vt:lpstr>
      <vt:lpstr>Interrupt Key Test</vt:lpstr>
    </vt:vector>
  </TitlesOfParts>
  <Company>마케팅팀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김정남</dc:creator>
  <cp:lastModifiedBy>Oh Younghwan</cp:lastModifiedBy>
  <cp:revision>593</cp:revision>
  <dcterms:created xsi:type="dcterms:W3CDTF">2006-02-08T03:00:46Z</dcterms:created>
  <dcterms:modified xsi:type="dcterms:W3CDTF">2026-01-19T04:05:46Z</dcterms:modified>
</cp:coreProperties>
</file>